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560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3D Human Pose/Motion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Local tracking (camera coordinates)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079"/>
              </a:lnSpc>
              <a:spcAft>
                <a:spcPts val="400"/>
              </a:spcAft>
              <a:defRPr sz="2200" b="0">
                <a:solidFill>
                  <a:srgbClr val="999999"/>
                </a:solidFill>
                <a:latin typeface="Calibri"/>
              </a:defRPr>
            </a:pPr>
            <a:r>
              <a:t>Global tracking (world coordinates)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640"/>
              </a:lnSpc>
              <a:spcAft>
                <a:spcPts val="400"/>
              </a:spcAft>
              <a:defRPr sz="2600" b="1">
                <a:solidFill>
                  <a:srgbClr val="1A1A1A"/>
                </a:solidFill>
                <a:latin typeface="Calibri"/>
              </a:defRPr>
            </a:pPr>
            <a:r>
              <a:t>Joint Human-Scene Tracking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Track the person and the scene together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Make it physically realistic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→  This is our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0">
                <a:solidFill>
                  <a:srgbClr val="1A1A1A"/>
                </a:solidFill>
                <a:latin typeface="Calibri"/>
              </a:defRPr>
            </a:pPr>
            <a:r>
              <a:t>Current methods track people well,</a:t>
            </a:r>
          </a:p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but the results aren't physical.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Feet slide on the ground</a:t>
            </a:r>
          </a:p>
          <a:p>
            <a:pPr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Bodies go through floors</a:t>
            </a:r>
          </a:p>
          <a:p>
            <a:pPr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Motion looks jittery</a:t>
            </a:r>
          </a:p>
          <a:p>
            <a:pPr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Can't use it in a physics simulator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7B1E1E"/>
                </a:solidFill>
                <a:latin typeface="Calibri"/>
              </a:defRPr>
            </a:pPr>
            <a:r>
              <a:t>Fix: add physics constraints</a:t>
            </a:r>
          </a:p>
        </p:txBody>
      </p:sp>
      <p:pic>
        <p:nvPicPr>
          <p:cNvPr id="5" name="Picture 4" descr="multiphys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80160"/>
            <a:ext cx="5303520" cy="19991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MultiPhys (CVPR'24) — adding physics fixes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Recent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Body trackers (video → 3D body):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GVHMR (SigAsia'24) — best accuracy, fast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Human3R (arxiv'25) — real-time, multi-person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Scene reconstruction (video → 3D scene):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Depth Anything 3 — depth + geometry from video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CUT3R — underlies Human3R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Physics-aware methods: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MultiPhys (CVPR'24) — physics simulator loop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  PhysHMR (SigAsia'25) — end-to-end physics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Nobody combines all three yet.</a:t>
            </a:r>
          </a:p>
        </p:txBody>
      </p:sp>
      <p:pic>
        <p:nvPicPr>
          <p:cNvPr id="5" name="Picture 4" descr="pdf_gvhmr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59436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GVHMR, MultiPhys, CRISP — recent physics-aware trackers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Key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GVHMR (SigAsia'24)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Video in → 3D body in world coordinates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Very fast, very accurate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Single-person only</a:t>
            </a:r>
          </a:p>
        </p:txBody>
      </p:sp>
      <p:pic>
        <p:nvPicPr>
          <p:cNvPr id="5" name="Picture 4" descr="gvhmr_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0"/>
            <a:ext cx="5029200" cy="37403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Human3R (arxiv'25)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Video in → 3D people + scene, real-time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Multi-person, MIT license</a:t>
            </a:r>
          </a:p>
          <a:p>
            <a:pPr>
              <a:lnSpc>
                <a:spcPts val="2240"/>
              </a:lnSpc>
              <a:spcAft>
                <a:spcPts val="400"/>
              </a:spcAft>
              <a:defRPr sz="1600" b="0">
                <a:solidFill>
                  <a:srgbClr val="999999"/>
                </a:solidFill>
                <a:latin typeface="Calibri"/>
              </a:defRPr>
            </a:pPr>
            <a:r>
              <a:t>Known issues: penetration, no physics</a:t>
            </a:r>
          </a:p>
        </p:txBody>
      </p:sp>
      <p:pic>
        <p:nvPicPr>
          <p:cNvPr id="7" name="Picture 6" descr="human3r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00400"/>
            <a:ext cx="5303520" cy="139296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Physics Helps —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Multiple papers show: adding physics improves results</a:t>
            </a:r>
          </a:p>
          <a:p>
            <a:pPr>
              <a:lnSpc>
                <a:spcPts val="1679"/>
              </a:lnSpc>
              <a:spcAft>
                <a:spcPts val="4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MultiPhys: 7x less body-ground penetration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CRISP: 8x lower failure rate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PhysDiff: 86% less physical error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LEMO: eliminates foot skating</a:t>
            </a:r>
          </a:p>
          <a:p>
            <a:pPr>
              <a:lnSpc>
                <a:spcPts val="1679"/>
              </a:lnSpc>
              <a:spcAft>
                <a:spcPts val="400"/>
              </a:spcAft>
              <a:defRPr sz="12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800"/>
              </a:lnSpc>
              <a:spcAft>
                <a:spcPts val="400"/>
              </a:spcAft>
              <a:defRPr sz="2000" b="1">
                <a:solidFill>
                  <a:srgbClr val="7B1E1E"/>
                </a:solidFill>
                <a:latin typeface="Calibri"/>
              </a:defRPr>
            </a:pPr>
            <a:r>
              <a:t>Physics doesn't just look better — it improves accuracy too.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Proposed Approach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188720"/>
            <a:ext cx="3657600" cy="64008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0" y="12801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Input: Video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920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4572000" cy="109728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Body 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GVHMR or Human3R → 3D body poses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468880"/>
            <a:ext cx="4572000" cy="1097280"/>
          </a:xfrm>
          <a:prstGeom prst="roundRect">
            <a:avLst/>
          </a:prstGeom>
          <a:solidFill>
            <a:srgbClr val="F0E6D3"/>
          </a:solidFill>
          <a:ln w="190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56032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Scene Reconstruction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803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99999"/>
                </a:solidFill>
                <a:latin typeface="Calibri"/>
              </a:defRPr>
            </a:pPr>
            <a:r>
              <a:t>Depth Anything 3 → 3D geometry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06240"/>
            <a:ext cx="10424160" cy="1371600"/>
          </a:xfrm>
          <a:prstGeom prst="roundRect">
            <a:avLst/>
          </a:prstGeom>
          <a:solidFill>
            <a:srgbClr val="F0E6D3"/>
          </a:solidFill>
          <a:ln w="25400">
            <a:solidFill>
              <a:srgbClr val="7B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1E1E"/>
                </a:solidFill>
                <a:latin typeface="Calibri"/>
              </a:defRPr>
            </a:pPr>
            <a:r>
              <a:t>Physics Refinement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spcAft>
                <a:spcPts val="40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Keep feet on ground  •  No body-floor penetration  •  Smooth motion  •  Stable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5669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99999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5943600"/>
            <a:ext cx="5486400" cy="548640"/>
          </a:xfrm>
          <a:prstGeom prst="rect">
            <a:avLst/>
          </a:prstGeom>
          <a:solidFill>
            <a:srgbClr val="F0E6D3"/>
          </a:solidFill>
          <a:ln w="6350">
            <a:solidFill>
              <a:srgbClr val="D4C4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989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7B1E1E"/>
                </a:solidFill>
                <a:latin typeface="Calibri"/>
              </a:defRPr>
            </a:pPr>
            <a:r>
              <a:t>Output: Physically realistic 3D motion + scene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Why This Is Feasible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359"/>
              </a:lnSpc>
              <a:spcAft>
                <a:spcPts val="400"/>
              </a:spcAft>
              <a:defRPr sz="2400" b="1">
                <a:solidFill>
                  <a:srgbClr val="1A1A1A"/>
                </a:solidFill>
                <a:latin typeface="Calibri"/>
              </a:defRPr>
            </a:pPr>
            <a:r>
              <a:t>No training needed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Use existing pretrained models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Just add physics on top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359"/>
              </a:lnSpc>
              <a:spcAft>
                <a:spcPts val="400"/>
              </a:spcAft>
              <a:defRPr sz="2400" b="1">
                <a:solidFill>
                  <a:srgbClr val="1A1A1A"/>
                </a:solidFill>
                <a:latin typeface="Calibri"/>
              </a:defRPr>
            </a:pPr>
            <a:r>
              <a:t>Runs on 1 GPU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&lt; 16 GB VRAM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359"/>
              </a:lnSpc>
              <a:spcAft>
                <a:spcPts val="400"/>
              </a:spcAft>
              <a:defRPr sz="2400" b="1">
                <a:solidFill>
                  <a:srgbClr val="1A1A1A"/>
                </a:solidFill>
                <a:latin typeface="Calibri"/>
              </a:defRPr>
            </a:pPr>
            <a:r>
              <a:t>Fully open-source stack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Human3R (MIT), DA3 (Apache-2.0)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MuJoCo (Apache-2.0)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359"/>
              </a:lnSpc>
              <a:spcAft>
                <a:spcPts val="400"/>
              </a:spcAft>
              <a:defRPr sz="2400" b="1">
                <a:solidFill>
                  <a:srgbClr val="1A1A1A"/>
                </a:solidFill>
                <a:latin typeface="Calibri"/>
              </a:defRPr>
            </a:pPr>
            <a:r>
              <a:t>7+ papers prove the approach works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    We're combining, not inventing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8-week plan:</a:t>
            </a:r>
          </a:p>
          <a:p>
            <a:pPr>
              <a:lnSpc>
                <a:spcPts val="1400"/>
              </a:lnSpc>
              <a:spcAft>
                <a:spcPts val="400"/>
              </a:spcAft>
              <a:defRPr sz="10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1–2  Setup + run existing models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1">
                <a:solidFill>
                  <a:srgbClr val="7B1E1E"/>
                </a:solidFill>
                <a:latin typeface="Calibri"/>
              </a:defRPr>
            </a:pPr>
            <a:r>
              <a:t>3–4  Add physics constraints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999999"/>
                </a:solidFill>
                <a:latin typeface="Calibri"/>
              </a:defRPr>
            </a:pPr>
            <a:r>
              <a:t>5     Human-object interaction (stretch)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6–7  Evaluate on benchmarks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8     Demo + writeup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1A"/>
                </a:solidFill>
                <a:latin typeface="Calibri"/>
              </a:defRPr>
            </a:pPr>
            <a:r>
              <a:t>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A1A1A"/>
                </a:solidFill>
                <a:latin typeface="Calibri"/>
              </a:defRPr>
            </a:pPr>
            <a:r>
              <a:t>Possible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Physics-aware tracking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Terrain-aware ground contact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Body non-penetration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Contact estimation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Human-object interaction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Rigid objects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Deformable objects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999999"/>
                </a:solidFill>
                <a:latin typeface="Calibri"/>
              </a:defRPr>
            </a:pPr>
          </a:p>
          <a:p>
            <a:pPr>
              <a:lnSpc>
                <a:spcPts val="3079"/>
              </a:lnSpc>
              <a:spcAft>
                <a:spcPts val="400"/>
              </a:spcAft>
              <a:defRPr sz="2200" b="1">
                <a:solidFill>
                  <a:srgbClr val="1A1A1A"/>
                </a:solidFill>
                <a:latin typeface="Calibri"/>
              </a:defRPr>
            </a:pPr>
            <a:r>
              <a:t>Simulation-ready output</a:t>
            </a:r>
          </a:p>
          <a:p>
            <a:pPr>
              <a:lnSpc>
                <a:spcPts val="2520"/>
              </a:lnSpc>
              <a:spcAft>
                <a:spcPts val="4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    Direct use in physics engines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80160"/>
          <a:ext cx="5029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188720"/>
                <a:gridCol w="2468880"/>
              </a:tblGrid>
              <a:tr h="3429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Venue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JOSH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ICLR'26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offline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Human3R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Real-time, multi-person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Scene geometry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MultiPhys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CVPR'24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simulator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CRISP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arxiv'25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Physics + scene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PhysHMR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SigAsia'25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End-to-end physics</a:t>
                      </a:r>
                    </a:p>
                  </a:txBody>
                  <a:tcPr marL="54864" marR="54864" marT="27432" marB="27432">
                    <a:solidFill>
                      <a:srgbClr val="FAF7F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GVHMR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SigAsia'24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Best single-person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8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919"/>
              </a:lnSpc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Track people in 3D from video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3919"/>
              </a:lnSpc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Reconstruct the scene around them</a:t>
            </a:r>
          </a:p>
          <a:p>
            <a:pPr>
              <a:lnSpc>
                <a:spcPts val="1959"/>
              </a:lnSpc>
              <a:spcAft>
                <a:spcPts val="4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3919"/>
              </a:lnSpc>
              <a:spcAft>
                <a:spcPts val="400"/>
              </a:spcAft>
              <a:defRPr sz="2800" b="1">
                <a:solidFill>
                  <a:srgbClr val="FFFFFF"/>
                </a:solidFill>
                <a:latin typeface="Calibri"/>
              </a:defRPr>
            </a:pPr>
            <a:r>
              <a:t>Add physics so it looks and acts real</a:t>
            </a:r>
          </a:p>
          <a:p>
            <a:pPr>
              <a:lnSpc>
                <a:spcPts val="2800"/>
              </a:lnSpc>
              <a:spcAft>
                <a:spcPts val="400"/>
              </a:spcAft>
              <a:defRPr sz="2000" b="0">
                <a:solidFill>
                  <a:srgbClr val="FFFFFF"/>
                </a:solidFill>
                <a:latin typeface="Calibri"/>
              </a:defRPr>
            </a:pPr>
          </a:p>
          <a:p>
            <a:pPr>
              <a:lnSpc>
                <a:spcPts val="3359"/>
              </a:lnSpc>
              <a:spcAft>
                <a:spcPts val="400"/>
              </a:spcAft>
              <a:defRPr sz="2400" b="0">
                <a:solidFill>
                  <a:srgbClr val="FFFFFF"/>
                </a:solidFill>
                <a:latin typeface="Calibri"/>
              </a:defRPr>
            </a:pPr>
            <a:r>
              <a:t>No training. One GPU. Open-source.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1688775" y="6355080"/>
            <a:ext cx="365760" cy="365760"/>
          </a:xfrm>
          <a:prstGeom prst="rect">
            <a:avLst/>
          </a:prstGeom>
          <a:solidFill>
            <a:srgbClr val="7B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