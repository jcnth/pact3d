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2011680"/>
            <a:ext cx="9966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6400" b="1">
                <a:solidFill>
                  <a:srgbClr val="F5F5F5"/>
                </a:solidFill>
                <a:latin typeface="Calibri"/>
              </a:defRPr>
            </a:pPr>
            <a:r>
              <a:t>Pact3D</a:t>
            </a:r>
          </a:p>
        </p:txBody>
      </p:sp>
      <p:sp>
        <p:nvSpPr>
          <p:cNvPr id="3" name="Rectangle 2"/>
          <p:cNvSpPr/>
          <p:nvPr/>
        </p:nvSpPr>
        <p:spPr>
          <a:xfrm>
            <a:off x="1097280" y="3017520"/>
            <a:ext cx="2743200" cy="254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3291840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0">
                <a:solidFill>
                  <a:srgbClr val="6B6B6B"/>
                </a:solidFill>
                <a:latin typeface="Calibri"/>
              </a:defRPr>
            </a:pPr>
            <a:r>
              <a:t>Physics-Aware Contact Tracking in 3D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4114800"/>
            <a:ext cx="9966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6B6B6B"/>
                </a:solidFill>
                <a:latin typeface="Calibri"/>
              </a:defRPr>
            </a:pPr>
            <a:r>
              <a:t>Take a strong body tracker. Add a lightweight physics layer.</a:t>
            </a:r>
            <a:br/>
            <a:r>
              <a:t>Get simulation-ready human motion from monocular video.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5303520"/>
            <a:ext cx="9966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3A3A3A"/>
                </a:solidFill>
                <a:latin typeface="Calibri"/>
              </a:defRPr>
            </a:pPr>
            <a:r>
              <a:t>No training  ·  Single GPU  ·  8 weeks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0" y="649224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3A3A3A"/>
                </a:solidFill>
                <a:latin typeface="Calibri"/>
              </a:defRPr>
            </a:pPr>
            <a: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548640"/>
            <a:ext cx="9966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6B6B6B"/>
                </a:solidFill>
                <a:latin typeface="Calibri"/>
              </a:defRPr>
            </a:pPr>
            <a:r>
              <a:t>THE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1005840"/>
            <a:ext cx="9966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600" b="1">
                <a:solidFill>
                  <a:srgbClr val="F5F5F5"/>
                </a:solidFill>
                <a:latin typeface="Calibri"/>
              </a:defRPr>
            </a:pPr>
            <a:r>
              <a:t>Current trackers are good — but not physical</a:t>
            </a:r>
          </a:p>
        </p:txBody>
      </p:sp>
      <p:sp>
        <p:nvSpPr>
          <p:cNvPr id="4" name="Rectangle 3"/>
          <p:cNvSpPr/>
          <p:nvPr/>
        </p:nvSpPr>
        <p:spPr>
          <a:xfrm>
            <a:off x="1097280" y="1691640"/>
            <a:ext cx="1828800" cy="12700"/>
          </a:xfrm>
          <a:prstGeom prst="rect">
            <a:avLst/>
          </a:prstGeom>
          <a:solidFill>
            <a:srgbClr val="3A3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2103120"/>
            <a:ext cx="99669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400"/>
              </a:lnSpc>
              <a:spcAft>
                <a:spcPts val="200"/>
              </a:spcAft>
              <a:defRPr sz="2000" b="1">
                <a:solidFill>
                  <a:srgbClr val="F5F5F5"/>
                </a:solidFill>
                <a:latin typeface="Calibri"/>
              </a:defRPr>
            </a:pPr>
            <a:r>
              <a:t>Foot skating</a:t>
            </a:r>
          </a:p>
          <a:p>
            <a:pPr>
              <a:lnSpc>
                <a:spcPts val="1800"/>
              </a:lnSpc>
              <a:spcAft>
                <a:spcPts val="200"/>
              </a:spcAft>
              <a:defRPr sz="1500" b="0">
                <a:solidFill>
                  <a:srgbClr val="6B6B6B"/>
                </a:solidFill>
                <a:latin typeface="Calibri"/>
              </a:defRPr>
            </a:pPr>
            <a:r>
              <a:t>3.0–4.4mm sliding — bodies glide across the ground during contact</a:t>
            </a:r>
          </a:p>
          <a:p>
            <a:pPr>
              <a:lnSpc>
                <a:spcPts val="1200"/>
              </a:lnSpc>
              <a:spcAft>
                <a:spcPts val="200"/>
              </a:spcAft>
              <a:defRPr sz="1000" b="0">
                <a:solidFill>
                  <a:srgbClr val="6B6B6B"/>
                </a:solidFill>
                <a:latin typeface="Calibri"/>
              </a:defRPr>
            </a:pPr>
          </a:p>
          <a:p>
            <a:pPr>
              <a:lnSpc>
                <a:spcPts val="2400"/>
              </a:lnSpc>
              <a:spcAft>
                <a:spcPts val="200"/>
              </a:spcAft>
              <a:defRPr sz="2000" b="1">
                <a:solidFill>
                  <a:srgbClr val="F5F5F5"/>
                </a:solidFill>
                <a:latin typeface="Calibri"/>
              </a:defRPr>
            </a:pPr>
            <a:r>
              <a:t>Ground penetration</a:t>
            </a:r>
          </a:p>
          <a:p>
            <a:pPr>
              <a:lnSpc>
                <a:spcPts val="1800"/>
              </a:lnSpc>
              <a:spcAft>
                <a:spcPts val="200"/>
              </a:spcAft>
              <a:defRPr sz="1500" b="0">
                <a:solidFill>
                  <a:srgbClr val="6B6B6B"/>
                </a:solidFill>
                <a:latin typeface="Calibri"/>
              </a:defRPr>
            </a:pPr>
            <a:r>
              <a:t>Bodies clip through floors, chairs, and objects</a:t>
            </a:r>
          </a:p>
          <a:p>
            <a:pPr>
              <a:lnSpc>
                <a:spcPts val="1200"/>
              </a:lnSpc>
              <a:spcAft>
                <a:spcPts val="200"/>
              </a:spcAft>
              <a:defRPr sz="1000" b="0">
                <a:solidFill>
                  <a:srgbClr val="6B6B6B"/>
                </a:solidFill>
                <a:latin typeface="Calibri"/>
              </a:defRPr>
            </a:pPr>
          </a:p>
          <a:p>
            <a:pPr>
              <a:lnSpc>
                <a:spcPts val="2400"/>
              </a:lnSpc>
              <a:spcAft>
                <a:spcPts val="200"/>
              </a:spcAft>
              <a:defRPr sz="2000" b="1">
                <a:solidFill>
                  <a:srgbClr val="F5F5F5"/>
                </a:solidFill>
                <a:latin typeface="Calibri"/>
              </a:defRPr>
            </a:pPr>
            <a:r>
              <a:t>Temporal jitter</a:t>
            </a:r>
          </a:p>
          <a:p>
            <a:pPr>
              <a:lnSpc>
                <a:spcPts val="1800"/>
              </a:lnSpc>
              <a:spcAft>
                <a:spcPts val="200"/>
              </a:spcAft>
              <a:defRPr sz="1500" b="0">
                <a:solidFill>
                  <a:srgbClr val="6B6B6B"/>
                </a:solidFill>
                <a:latin typeface="Calibri"/>
              </a:defRPr>
            </a:pPr>
            <a:r>
              <a:t>12.8–22.5 units — twitchy, unstable motion output</a:t>
            </a:r>
          </a:p>
          <a:p>
            <a:pPr>
              <a:lnSpc>
                <a:spcPts val="1200"/>
              </a:lnSpc>
              <a:spcAft>
                <a:spcPts val="200"/>
              </a:spcAft>
              <a:defRPr sz="1000" b="0">
                <a:solidFill>
                  <a:srgbClr val="6B6B6B"/>
                </a:solidFill>
                <a:latin typeface="Calibri"/>
              </a:defRPr>
            </a:pPr>
          </a:p>
          <a:p>
            <a:pPr>
              <a:lnSpc>
                <a:spcPts val="2400"/>
              </a:lnSpc>
              <a:spcAft>
                <a:spcPts val="200"/>
              </a:spcAft>
              <a:defRPr sz="2000" b="1">
                <a:solidFill>
                  <a:srgbClr val="F5F5F5"/>
                </a:solidFill>
                <a:latin typeface="Calibri"/>
              </a:defRPr>
            </a:pPr>
            <a:r>
              <a:t>No simulation readiness</a:t>
            </a:r>
          </a:p>
          <a:p>
            <a:pPr>
              <a:lnSpc>
                <a:spcPts val="1800"/>
              </a:lnSpc>
              <a:spcAft>
                <a:spcPts val="200"/>
              </a:spcAft>
              <a:defRPr sz="1500" b="0">
                <a:solidFill>
                  <a:srgbClr val="6B6B6B"/>
                </a:solidFill>
                <a:latin typeface="Calibri"/>
              </a:defRPr>
            </a:pPr>
            <a:r>
              <a:t>Raw SMPL parameters can't be loaded into physics engines</a:t>
            </a:r>
          </a:p>
        </p:txBody>
      </p:sp>
      <p:sp>
        <p:nvSpPr>
          <p:cNvPr id="6" name="Rectangle 5"/>
          <p:cNvSpPr/>
          <p:nvPr/>
        </p:nvSpPr>
        <p:spPr>
          <a:xfrm>
            <a:off x="1097280" y="5669280"/>
            <a:ext cx="9966960" cy="12700"/>
          </a:xfrm>
          <a:prstGeom prst="rect">
            <a:avLst/>
          </a:prstGeom>
          <a:solidFill>
            <a:srgbClr val="3A3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5943600"/>
            <a:ext cx="9966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F5F5F5"/>
                </a:solidFill>
                <a:latin typeface="Calibri"/>
              </a:defRPr>
            </a:pPr>
            <a:r>
              <a:t>The missing piece: physics constraints.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0" y="649224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3A3A3A"/>
                </a:solidFill>
                <a:latin typeface="Calibri"/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548640"/>
            <a:ext cx="9966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6B6B6B"/>
                </a:solidFill>
                <a:latin typeface="Calibri"/>
              </a:defRPr>
            </a:pPr>
            <a:r>
              <a:t>EVIDENCE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1005840"/>
            <a:ext cx="9966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600" b="1">
                <a:solidFill>
                  <a:srgbClr val="F5F5F5"/>
                </a:solidFill>
                <a:latin typeface="Calibri"/>
              </a:defRPr>
            </a:pPr>
            <a:r>
              <a:t>Physics consistently improves results</a:t>
            </a:r>
          </a:p>
        </p:txBody>
      </p:sp>
      <p:sp>
        <p:nvSpPr>
          <p:cNvPr id="4" name="Rectangle 3"/>
          <p:cNvSpPr/>
          <p:nvPr/>
        </p:nvSpPr>
        <p:spPr>
          <a:xfrm>
            <a:off x="1097280" y="1691640"/>
            <a:ext cx="1828800" cy="12700"/>
          </a:xfrm>
          <a:prstGeom prst="rect">
            <a:avLst/>
          </a:prstGeom>
          <a:solidFill>
            <a:srgbClr val="3A3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1097280" y="2011680"/>
          <a:ext cx="9966960" cy="26334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0320"/>
                <a:gridCol w="3840480"/>
                <a:gridCol w="3566160"/>
              </a:tblGrid>
              <a:tr h="329184"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F5F5F5"/>
                          </a:solidFill>
                          <a:latin typeface="Calibri"/>
                        </a:defRPr>
                      </a:pPr>
                      <a:r>
                        <a:t>Study</a:t>
                      </a:r>
                    </a:p>
                  </a:txBody>
                  <a:tcPr marL="73152" marR="73152" marT="36576" marB="36576">
                    <a:solidFill>
                      <a:srgbClr val="18181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5F5F5"/>
                          </a:solidFill>
                          <a:latin typeface="Calibri"/>
                        </a:defRPr>
                      </a:pPr>
                      <a:r>
                        <a:t>Method</a:t>
                      </a:r>
                    </a:p>
                  </a:txBody>
                  <a:tcPr marL="73152" marR="73152" marT="36576" marB="36576">
                    <a:solidFill>
                      <a:srgbClr val="18181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5F5F5"/>
                          </a:solidFill>
                          <a:latin typeface="Calibri"/>
                        </a:defRPr>
                      </a:pPr>
                      <a:r>
                        <a:t>Key Result</a:t>
                      </a:r>
                    </a:p>
                  </a:txBody>
                  <a:tcPr marL="73152" marR="73152" marT="36576" marB="36576">
                    <a:solidFill>
                      <a:srgbClr val="181818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6B6B6B"/>
                          </a:solidFill>
                          <a:latin typeface="Calibri"/>
                        </a:defRPr>
                      </a:pPr>
                      <a:r>
                        <a:t>MultiPhys (CVPR'24)</a:t>
                      </a:r>
                    </a:p>
                  </a:txBody>
                  <a:tcPr marL="73152" marR="73152" marT="36576" marB="36576">
                    <a:solidFill>
                      <a:srgbClr val="0F0F0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6B6B6B"/>
                          </a:solidFill>
                          <a:latin typeface="Calibri"/>
                        </a:defRPr>
                      </a:pPr>
                      <a:r>
                        <a:t>MuJoCo simulation loop</a:t>
                      </a:r>
                    </a:p>
                  </a:txBody>
                  <a:tcPr marL="73152" marR="73152" marT="36576" marB="36576">
                    <a:solidFill>
                      <a:srgbClr val="0F0F0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6B6B6B"/>
                          </a:solidFill>
                          <a:latin typeface="Calibri"/>
                        </a:defRPr>
                      </a:pPr>
                      <a:r>
                        <a:t>7x less penetration</a:t>
                      </a:r>
                    </a:p>
                  </a:txBody>
                  <a:tcPr marL="73152" marR="73152" marT="36576" marB="36576">
                    <a:solidFill>
                      <a:srgbClr val="0F0F0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6B6B6B"/>
                          </a:solidFill>
                          <a:latin typeface="Calibri"/>
                        </a:defRPr>
                      </a:pPr>
                      <a:r>
                        <a:t>MultiPhys</a:t>
                      </a:r>
                    </a:p>
                  </a:txBody>
                  <a:tcPr marL="73152" marR="73152" marT="36576" marB="36576">
                    <a:solidFill>
                      <a:srgbClr val="14141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6B6B6B"/>
                          </a:solidFill>
                          <a:latin typeface="Calibri"/>
                        </a:defRPr>
                      </a:pPr>
                      <a:r>
                        <a:t>Ground plane contact</a:t>
                      </a:r>
                    </a:p>
                  </a:txBody>
                  <a:tcPr marL="73152" marR="73152" marT="36576" marB="36576">
                    <a:solidFill>
                      <a:srgbClr val="14141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6B6B6B"/>
                          </a:solidFill>
                          <a:latin typeface="Calibri"/>
                        </a:defRPr>
                      </a:pPr>
                      <a:r>
                        <a:t>5x less ground penetration</a:t>
                      </a:r>
                    </a:p>
                  </a:txBody>
                  <a:tcPr marL="73152" marR="73152" marT="36576" marB="36576">
                    <a:solidFill>
                      <a:srgbClr val="141414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6B6B6B"/>
                          </a:solidFill>
                          <a:latin typeface="Calibri"/>
                        </a:defRPr>
                      </a:pPr>
                      <a:r>
                        <a:t>CRISP (arXiv'25)</a:t>
                      </a:r>
                    </a:p>
                  </a:txBody>
                  <a:tcPr marL="73152" marR="73152" marT="36576" marB="36576">
                    <a:solidFill>
                      <a:srgbClr val="0F0F0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6B6B6B"/>
                          </a:solidFill>
                          <a:latin typeface="Calibri"/>
                        </a:defRPr>
                      </a:pPr>
                      <a:r>
                        <a:t>Planar scene + RL tracking</a:t>
                      </a:r>
                    </a:p>
                  </a:txBody>
                  <a:tcPr marL="73152" marR="73152" marT="36576" marB="36576">
                    <a:solidFill>
                      <a:srgbClr val="0F0F0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6B6B6B"/>
                          </a:solidFill>
                          <a:latin typeface="Calibri"/>
                        </a:defRPr>
                      </a:pPr>
                      <a:r>
                        <a:t>8x lower failure rate</a:t>
                      </a:r>
                    </a:p>
                  </a:txBody>
                  <a:tcPr marL="73152" marR="73152" marT="36576" marB="36576">
                    <a:solidFill>
                      <a:srgbClr val="0F0F0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6B6B6B"/>
                          </a:solidFill>
                          <a:latin typeface="Calibri"/>
                        </a:defRPr>
                      </a:pPr>
                      <a:r>
                        <a:t>PhysDiff (ICCV'23)</a:t>
                      </a:r>
                    </a:p>
                  </a:txBody>
                  <a:tcPr marL="73152" marR="73152" marT="36576" marB="36576">
                    <a:solidFill>
                      <a:srgbClr val="14141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6B6B6B"/>
                          </a:solidFill>
                          <a:latin typeface="Calibri"/>
                        </a:defRPr>
                      </a:pPr>
                      <a:r>
                        <a:t>Physics in diffusion denoising</a:t>
                      </a:r>
                    </a:p>
                  </a:txBody>
                  <a:tcPr marL="73152" marR="73152" marT="36576" marB="36576">
                    <a:solidFill>
                      <a:srgbClr val="14141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6B6B6B"/>
                          </a:solidFill>
                          <a:latin typeface="Calibri"/>
                        </a:defRPr>
                      </a:pPr>
                      <a:r>
                        <a:t>86% less physical error</a:t>
                      </a:r>
                    </a:p>
                  </a:txBody>
                  <a:tcPr marL="73152" marR="73152" marT="36576" marB="36576">
                    <a:solidFill>
                      <a:srgbClr val="141414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6B6B6B"/>
                          </a:solidFill>
                          <a:latin typeface="Calibri"/>
                        </a:defRPr>
                      </a:pPr>
                      <a:r>
                        <a:t>PROX (ICCV'19)</a:t>
                      </a:r>
                    </a:p>
                  </a:txBody>
                  <a:tcPr marL="73152" marR="73152" marT="36576" marB="36576">
                    <a:solidFill>
                      <a:srgbClr val="0F0F0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6B6B6B"/>
                          </a:solidFill>
                          <a:latin typeface="Calibri"/>
                        </a:defRPr>
                      </a:pPr>
                      <a:r>
                        <a:t>SDF + contact energy terms</a:t>
                      </a:r>
                    </a:p>
                  </a:txBody>
                  <a:tcPr marL="73152" marR="73152" marT="36576" marB="36576">
                    <a:solidFill>
                      <a:srgbClr val="0F0F0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6B6B6B"/>
                          </a:solidFill>
                          <a:latin typeface="Calibri"/>
                        </a:defRPr>
                      </a:pPr>
                      <a:r>
                        <a:t>24% better V2V error</a:t>
                      </a:r>
                    </a:p>
                  </a:txBody>
                  <a:tcPr marL="73152" marR="73152" marT="36576" marB="36576">
                    <a:solidFill>
                      <a:srgbClr val="0F0F0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6B6B6B"/>
                          </a:solidFill>
                          <a:latin typeface="Calibri"/>
                        </a:defRPr>
                      </a:pPr>
                      <a:r>
                        <a:t>LEMO (ICCV'21)</a:t>
                      </a:r>
                    </a:p>
                  </a:txBody>
                  <a:tcPr marL="73152" marR="73152" marT="36576" marB="36576">
                    <a:solidFill>
                      <a:srgbClr val="14141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6B6B6B"/>
                          </a:solidFill>
                          <a:latin typeface="Calibri"/>
                        </a:defRPr>
                      </a:pPr>
                      <a:r>
                        <a:t>Friction + smoothness prior</a:t>
                      </a:r>
                    </a:p>
                  </a:txBody>
                  <a:tcPr marL="73152" marR="73152" marT="36576" marB="36576">
                    <a:solidFill>
                      <a:srgbClr val="14141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6B6B6B"/>
                          </a:solidFill>
                          <a:latin typeface="Calibri"/>
                        </a:defRPr>
                      </a:pPr>
                      <a:r>
                        <a:t>Eliminates skating + jitter</a:t>
                      </a:r>
                    </a:p>
                  </a:txBody>
                  <a:tcPr marL="73152" marR="73152" marT="36576" marB="36576">
                    <a:solidFill>
                      <a:srgbClr val="141414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6B6B6B"/>
                          </a:solidFill>
                          <a:latin typeface="Calibri"/>
                        </a:defRPr>
                      </a:pPr>
                      <a:r>
                        <a:t>SimPoE (CVPR'21)</a:t>
                      </a:r>
                    </a:p>
                  </a:txBody>
                  <a:tcPr marL="73152" marR="73152" marT="36576" marB="36576">
                    <a:solidFill>
                      <a:srgbClr val="0F0F0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6B6B6B"/>
                          </a:solidFill>
                          <a:latin typeface="Calibri"/>
                        </a:defRPr>
                      </a:pPr>
                      <a:r>
                        <a:t>Sim-based pose estimation</a:t>
                      </a:r>
                    </a:p>
                  </a:txBody>
                  <a:tcPr marL="73152" marR="73152" marT="36576" marB="36576">
                    <a:solidFill>
                      <a:srgbClr val="0F0F0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6B6B6B"/>
                          </a:solidFill>
                          <a:latin typeface="Calibri"/>
                        </a:defRPr>
                      </a:pPr>
                      <a:r>
                        <a:t>SOTA accuracy + physics jointly</a:t>
                      </a:r>
                    </a:p>
                  </a:txBody>
                  <a:tcPr marL="73152" marR="73152" marT="36576" marB="36576">
                    <a:solidFill>
                      <a:srgbClr val="0F0F0F"/>
                    </a:solidFill>
                  </a:tcPr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1097280" y="5303520"/>
            <a:ext cx="9966960" cy="12700"/>
          </a:xfrm>
          <a:prstGeom prst="rect">
            <a:avLst/>
          </a:prstGeom>
          <a:solidFill>
            <a:srgbClr val="3A3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5486400"/>
            <a:ext cx="9966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920"/>
              </a:lnSpc>
              <a:spcAft>
                <a:spcPts val="200"/>
              </a:spcAft>
              <a:defRPr sz="1600" b="1">
                <a:solidFill>
                  <a:srgbClr val="F5F5F5"/>
                </a:solidFill>
                <a:latin typeface="Calibri"/>
              </a:defRPr>
            </a:pPr>
            <a:r>
              <a:t>Physics doesn't just look better — it improves reconstruction accuracy.</a:t>
            </a:r>
          </a:p>
          <a:p>
            <a:pPr>
              <a:lnSpc>
                <a:spcPts val="1680"/>
              </a:lnSpc>
              <a:spcAft>
                <a:spcPts val="200"/>
              </a:spcAft>
              <a:defRPr sz="1400" b="0">
                <a:solidFill>
                  <a:srgbClr val="6B6B6B"/>
                </a:solidFill>
                <a:latin typeface="Calibri"/>
              </a:defRPr>
            </a:pPr>
            <a:r>
              <a:t>MultiPhys: W-MPJPE 177.1 → 174.7mm after physics correction.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0" y="649224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3A3A3A"/>
                </a:solidFill>
                <a:latin typeface="Calibri"/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548640"/>
            <a:ext cx="9966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6B6B6B"/>
                </a:solidFill>
                <a:latin typeface="Calibri"/>
              </a:defRPr>
            </a:pPr>
            <a:r>
              <a:t>DESIGN LESSON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1005840"/>
            <a:ext cx="9966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600" b="1">
                <a:solidFill>
                  <a:srgbClr val="F5F5F5"/>
                </a:solidFill>
                <a:latin typeface="Calibri"/>
              </a:defRPr>
            </a:pPr>
            <a:r>
              <a:t>Two-stage RL post-correction can hurt</a:t>
            </a:r>
          </a:p>
        </p:txBody>
      </p:sp>
      <p:sp>
        <p:nvSpPr>
          <p:cNvPr id="4" name="Rectangle 3"/>
          <p:cNvSpPr/>
          <p:nvPr/>
        </p:nvSpPr>
        <p:spPr>
          <a:xfrm>
            <a:off x="1097280" y="1691640"/>
            <a:ext cx="1828800" cy="12700"/>
          </a:xfrm>
          <a:prstGeom prst="rect">
            <a:avLst/>
          </a:prstGeom>
          <a:solidFill>
            <a:srgbClr val="3A3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2011680"/>
            <a:ext cx="9966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6B6B6B"/>
                </a:solidFill>
                <a:latin typeface="Calibri"/>
              </a:defRPr>
            </a:pPr>
            <a:r>
              <a:t>PhysHMR (SIGGRAPH Asia 2025) found a critical negative result: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743200"/>
            <a:ext cx="29260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4800"/>
              </a:lnSpc>
              <a:spcAft>
                <a:spcPts val="200"/>
              </a:spcAft>
              <a:defRPr sz="4000" b="1">
                <a:solidFill>
                  <a:srgbClr val="F5F5F5"/>
                </a:solidFill>
                <a:latin typeface="Calibri"/>
              </a:defRPr>
            </a:pPr>
            <a:r>
              <a:t>5.65mm</a:t>
            </a:r>
          </a:p>
          <a:p>
            <a:pPr>
              <a:lnSpc>
                <a:spcPts val="1560"/>
              </a:lnSpc>
              <a:spcAft>
                <a:spcPts val="200"/>
              </a:spcAft>
              <a:defRPr sz="1300" b="0">
                <a:solidFill>
                  <a:srgbClr val="6B6B6B"/>
                </a:solidFill>
                <a:latin typeface="Calibri"/>
              </a:defRPr>
            </a:pPr>
            <a:r>
              <a:t>GVHMR alone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0" y="2743200"/>
            <a:ext cx="29260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4800"/>
              </a:lnSpc>
              <a:spcAft>
                <a:spcPts val="200"/>
              </a:spcAft>
              <a:defRPr sz="4000" b="1">
                <a:solidFill>
                  <a:srgbClr val="F5F5F5"/>
                </a:solidFill>
                <a:latin typeface="Calibri"/>
              </a:defRPr>
            </a:pPr>
            <a:r>
              <a:t>12.71mm</a:t>
            </a:r>
          </a:p>
          <a:p>
            <a:pPr>
              <a:lnSpc>
                <a:spcPts val="1560"/>
              </a:lnSpc>
              <a:spcAft>
                <a:spcPts val="200"/>
              </a:spcAft>
              <a:defRPr sz="1300" b="0">
                <a:solidFill>
                  <a:srgbClr val="6B6B6B"/>
                </a:solidFill>
                <a:latin typeface="Calibri"/>
              </a:defRPr>
            </a:pPr>
            <a:r>
              <a:t>+ RL post-correction</a:t>
            </a:r>
          </a:p>
          <a:p>
            <a:pPr>
              <a:lnSpc>
                <a:spcPts val="1560"/>
              </a:lnSpc>
              <a:spcAft>
                <a:spcPts val="200"/>
              </a:spcAft>
              <a:defRPr sz="1300" b="1">
                <a:solidFill>
                  <a:srgbClr val="F5F5F5"/>
                </a:solidFill>
                <a:latin typeface="Calibri"/>
              </a:defRPr>
            </a:pPr>
            <a:r>
              <a:t>2.2x worse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63840" y="2743200"/>
            <a:ext cx="29260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4800"/>
              </a:lnSpc>
              <a:spcAft>
                <a:spcPts val="200"/>
              </a:spcAft>
              <a:defRPr sz="4000" b="1">
                <a:solidFill>
                  <a:srgbClr val="F5F5F5"/>
                </a:solidFill>
                <a:latin typeface="Calibri"/>
              </a:defRPr>
            </a:pPr>
            <a:r>
              <a:t>&lt; 1mm</a:t>
            </a:r>
          </a:p>
          <a:p>
            <a:pPr>
              <a:lnSpc>
                <a:spcPts val="1560"/>
              </a:lnSpc>
              <a:spcAft>
                <a:spcPts val="200"/>
              </a:spcAft>
              <a:defRPr sz="1300" b="0">
                <a:solidFill>
                  <a:srgbClr val="6B6B6B"/>
                </a:solidFill>
                <a:latin typeface="Calibri"/>
              </a:defRPr>
            </a:pPr>
            <a:r>
              <a:t>our target</a:t>
            </a:r>
          </a:p>
          <a:p>
            <a:pPr>
              <a:lnSpc>
                <a:spcPts val="1560"/>
              </a:lnSpc>
              <a:spcAft>
                <a:spcPts val="200"/>
              </a:spcAft>
              <a:defRPr sz="1300" b="1">
                <a:solidFill>
                  <a:srgbClr val="F5F5F5"/>
                </a:solidFill>
                <a:latin typeface="Calibri"/>
              </a:defRPr>
            </a:pPr>
            <a:r>
              <a:t>optimization-based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566160" y="2834640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2800" b="0">
                <a:solidFill>
                  <a:srgbClr val="3A3A3A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040880" y="2834640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2800" b="0">
                <a:solidFill>
                  <a:srgbClr val="3A3A3A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97280" y="4572000"/>
            <a:ext cx="9966960" cy="12700"/>
          </a:xfrm>
          <a:prstGeom prst="rect">
            <a:avLst/>
          </a:prstGeom>
          <a:solidFill>
            <a:srgbClr val="3A3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97280" y="4846320"/>
            <a:ext cx="99669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800"/>
              </a:lnSpc>
              <a:spcAft>
                <a:spcPts val="200"/>
              </a:spcAft>
              <a:defRPr sz="1500" b="0">
                <a:solidFill>
                  <a:srgbClr val="6B6B6B"/>
                </a:solidFill>
                <a:latin typeface="Calibri"/>
              </a:defRPr>
            </a:pPr>
            <a:r>
              <a:t>Why RL fails: balance-recovery actions create new limb artifacts.</a:t>
            </a:r>
          </a:p>
          <a:p>
            <a:pPr>
              <a:lnSpc>
                <a:spcPts val="960"/>
              </a:lnSpc>
              <a:spcAft>
                <a:spcPts val="200"/>
              </a:spcAft>
              <a:defRPr sz="800" b="0">
                <a:solidFill>
                  <a:srgbClr val="6B6B6B"/>
                </a:solidFill>
                <a:latin typeface="Calibri"/>
              </a:defRPr>
            </a:pPr>
          </a:p>
          <a:p>
            <a:pPr>
              <a:lnSpc>
                <a:spcPts val="1920"/>
              </a:lnSpc>
              <a:spcAft>
                <a:spcPts val="200"/>
              </a:spcAft>
              <a:defRPr sz="1600" b="1">
                <a:solidFill>
                  <a:srgbClr val="F5F5F5"/>
                </a:solidFill>
                <a:latin typeface="Calibri"/>
              </a:defRPr>
            </a:pPr>
            <a:r>
              <a:t>Our approach: optimization-based energy minimization (PROX/LEMO style).</a:t>
            </a:r>
          </a:p>
          <a:p>
            <a:pPr>
              <a:lnSpc>
                <a:spcPts val="1800"/>
              </a:lnSpc>
              <a:spcAft>
                <a:spcPts val="200"/>
              </a:spcAft>
              <a:defRPr sz="1500" b="0">
                <a:solidFill>
                  <a:srgbClr val="6B6B6B"/>
                </a:solidFill>
                <a:latin typeface="Calibri"/>
              </a:defRPr>
            </a:pPr>
            <a:r>
              <a:t>Directly minimize contact, penetration, friction, smoothness energies. No balance artifacts.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30000" y="649224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3A3A3A"/>
                </a:solidFill>
                <a:latin typeface="Calibri"/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548640"/>
            <a:ext cx="9966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6B6B6B"/>
                </a:solidFill>
                <a:latin typeface="Calibri"/>
              </a:defRPr>
            </a:pPr>
            <a:r>
              <a:t>BODY TRACKER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1005840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F5F5F5"/>
                </a:solidFill>
                <a:latin typeface="Calibri"/>
              </a:defRPr>
            </a:pPr>
            <a:r>
              <a:t>Camera-space accuracy (3DPW, mm ↓)</a:t>
            </a:r>
          </a:p>
        </p:txBody>
      </p:sp>
      <p:sp>
        <p:nvSpPr>
          <p:cNvPr id="4" name="Rectangle 3"/>
          <p:cNvSpPr/>
          <p:nvPr/>
        </p:nvSpPr>
        <p:spPr>
          <a:xfrm>
            <a:off x="1097280" y="1554480"/>
            <a:ext cx="1828800" cy="12700"/>
          </a:xfrm>
          <a:prstGeom prst="rect">
            <a:avLst/>
          </a:prstGeom>
          <a:solidFill>
            <a:srgbClr val="3A3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1097280" y="1828800"/>
          <a:ext cx="9966960" cy="296265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63040"/>
                <a:gridCol w="640080"/>
                <a:gridCol w="1371600"/>
                <a:gridCol w="1097280"/>
                <a:gridCol w="914400"/>
                <a:gridCol w="914400"/>
                <a:gridCol w="914400"/>
                <a:gridCol w="2651760"/>
              </a:tblGrid>
              <a:tr h="329184"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F5F5F5"/>
                          </a:solidFill>
                          <a:latin typeface="Calibri"/>
                        </a:defRPr>
                      </a:pPr>
                      <a:r>
                        <a:t>Method</a:t>
                      </a:r>
                    </a:p>
                  </a:txBody>
                  <a:tcPr marL="73152" marR="73152" marT="36576" marB="36576">
                    <a:solidFill>
                      <a:srgbClr val="18181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5F5F5"/>
                          </a:solidFill>
                          <a:latin typeface="Calibri"/>
                        </a:defRPr>
                      </a:pPr>
                      <a:r>
                        <a:t>Year</a:t>
                      </a:r>
                    </a:p>
                  </a:txBody>
                  <a:tcPr marL="73152" marR="73152" marT="36576" marB="36576">
                    <a:solidFill>
                      <a:srgbClr val="18181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5F5F5"/>
                          </a:solidFill>
                          <a:latin typeface="Calibri"/>
                        </a:defRPr>
                      </a:pPr>
                      <a:r>
                        <a:t>PA-MPJPE</a:t>
                      </a:r>
                    </a:p>
                  </a:txBody>
                  <a:tcPr marL="73152" marR="73152" marT="36576" marB="36576">
                    <a:solidFill>
                      <a:srgbClr val="18181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5F5F5"/>
                          </a:solidFill>
                          <a:latin typeface="Calibri"/>
                        </a:defRPr>
                      </a:pPr>
                      <a:r>
                        <a:t>MPJPE</a:t>
                      </a:r>
                    </a:p>
                  </a:txBody>
                  <a:tcPr marL="73152" marR="73152" marT="36576" marB="36576">
                    <a:solidFill>
                      <a:srgbClr val="18181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5F5F5"/>
                          </a:solidFill>
                          <a:latin typeface="Calibri"/>
                        </a:defRPr>
                      </a:pPr>
                      <a:r>
                        <a:t>PVE</a:t>
                      </a:r>
                    </a:p>
                  </a:txBody>
                  <a:tcPr marL="73152" marR="73152" marT="36576" marB="36576">
                    <a:solidFill>
                      <a:srgbClr val="18181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5F5F5"/>
                          </a:solidFill>
                          <a:latin typeface="Calibri"/>
                        </a:defRPr>
                      </a:pPr>
                      <a:r>
                        <a:t>World?</a:t>
                      </a:r>
                    </a:p>
                  </a:txBody>
                  <a:tcPr marL="73152" marR="73152" marT="36576" marB="36576">
                    <a:solidFill>
                      <a:srgbClr val="18181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5F5F5"/>
                          </a:solidFill>
                          <a:latin typeface="Calibri"/>
                        </a:defRPr>
                      </a:pPr>
                      <a:r>
                        <a:t>Multi?</a:t>
                      </a:r>
                    </a:p>
                  </a:txBody>
                  <a:tcPr marL="73152" marR="73152" marT="36576" marB="36576">
                    <a:solidFill>
                      <a:srgbClr val="18181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5F5F5"/>
                          </a:solidFill>
                          <a:latin typeface="Calibri"/>
                        </a:defRPr>
                      </a:pPr>
                      <a:r>
                        <a:t>License</a:t>
                      </a:r>
                    </a:p>
                  </a:txBody>
                  <a:tcPr marL="73152" marR="73152" marT="36576" marB="36576">
                    <a:solidFill>
                      <a:srgbClr val="181818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6B6B6B"/>
                          </a:solidFill>
                          <a:latin typeface="Calibri"/>
                        </a:defRPr>
                      </a:pPr>
                      <a:r>
                        <a:t>GLAMR</a:t>
                      </a:r>
                    </a:p>
                  </a:txBody>
                  <a:tcPr marL="73152" marR="73152" marT="36576" marB="36576">
                    <a:solidFill>
                      <a:srgbClr val="0F0F0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6B6B6B"/>
                          </a:solidFill>
                          <a:latin typeface="Calibri"/>
                        </a:defRPr>
                      </a:pPr>
                      <a:r>
                        <a:t>2022</a:t>
                      </a:r>
                    </a:p>
                  </a:txBody>
                  <a:tcPr marL="73152" marR="73152" marT="36576" marB="36576">
                    <a:solidFill>
                      <a:srgbClr val="0F0F0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6B6B6B"/>
                          </a:solidFill>
                          <a:latin typeface="Calibri"/>
                        </a:defRPr>
                      </a:pPr>
                      <a:r>
                        <a:t>51.1</a:t>
                      </a:r>
                    </a:p>
                  </a:txBody>
                  <a:tcPr marL="73152" marR="73152" marT="36576" marB="36576">
                    <a:solidFill>
                      <a:srgbClr val="0F0F0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6B6B6B"/>
                          </a:solidFill>
                          <a:latin typeface="Calibri"/>
                        </a:defRPr>
                      </a:pPr>
                      <a:r>
                        <a:t>—</a:t>
                      </a:r>
                    </a:p>
                  </a:txBody>
                  <a:tcPr marL="73152" marR="73152" marT="36576" marB="36576">
                    <a:solidFill>
                      <a:srgbClr val="0F0F0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6B6B6B"/>
                          </a:solidFill>
                          <a:latin typeface="Calibri"/>
                        </a:defRPr>
                      </a:pPr>
                      <a:r>
                        <a:t>—</a:t>
                      </a:r>
                    </a:p>
                  </a:txBody>
                  <a:tcPr marL="73152" marR="73152" marT="36576" marB="36576">
                    <a:solidFill>
                      <a:srgbClr val="0F0F0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6B6B6B"/>
                          </a:solidFill>
                          <a:latin typeface="Calibri"/>
                        </a:defRPr>
                      </a:pPr>
                      <a:r>
                        <a:t>Yes</a:t>
                      </a:r>
                    </a:p>
                  </a:txBody>
                  <a:tcPr marL="73152" marR="73152" marT="36576" marB="36576">
                    <a:solidFill>
                      <a:srgbClr val="0F0F0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6B6B6B"/>
                          </a:solidFill>
                          <a:latin typeface="Calibri"/>
                        </a:defRPr>
                      </a:pPr>
                      <a:r>
                        <a:t>No</a:t>
                      </a:r>
                    </a:p>
                  </a:txBody>
                  <a:tcPr marL="73152" marR="73152" marT="36576" marB="36576">
                    <a:solidFill>
                      <a:srgbClr val="0F0F0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6B6B6B"/>
                          </a:solidFill>
                          <a:latin typeface="Calibri"/>
                        </a:defRPr>
                      </a:pPr>
                      <a:r>
                        <a:t>NVIDIA NC</a:t>
                      </a:r>
                    </a:p>
                  </a:txBody>
                  <a:tcPr marL="73152" marR="73152" marT="36576" marB="36576">
                    <a:solidFill>
                      <a:srgbClr val="0F0F0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6B6B6B"/>
                          </a:solidFill>
                          <a:latin typeface="Calibri"/>
                        </a:defRPr>
                      </a:pPr>
                      <a:r>
                        <a:t>SLAHMR</a:t>
                      </a:r>
                    </a:p>
                  </a:txBody>
                  <a:tcPr marL="73152" marR="73152" marT="36576" marB="36576">
                    <a:solidFill>
                      <a:srgbClr val="14141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6B6B6B"/>
                          </a:solidFill>
                          <a:latin typeface="Calibri"/>
                        </a:defRPr>
                      </a:pPr>
                      <a:r>
                        <a:t>2023</a:t>
                      </a:r>
                    </a:p>
                  </a:txBody>
                  <a:tcPr marL="73152" marR="73152" marT="36576" marB="36576">
                    <a:solidFill>
                      <a:srgbClr val="14141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6B6B6B"/>
                          </a:solidFill>
                          <a:latin typeface="Calibri"/>
                        </a:defRPr>
                      </a:pPr>
                      <a:r>
                        <a:t>55.9</a:t>
                      </a:r>
                    </a:p>
                  </a:txBody>
                  <a:tcPr marL="73152" marR="73152" marT="36576" marB="36576">
                    <a:solidFill>
                      <a:srgbClr val="14141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6B6B6B"/>
                          </a:solidFill>
                          <a:latin typeface="Calibri"/>
                        </a:defRPr>
                      </a:pPr>
                      <a:r>
                        <a:t>—</a:t>
                      </a:r>
                    </a:p>
                  </a:txBody>
                  <a:tcPr marL="73152" marR="73152" marT="36576" marB="36576">
                    <a:solidFill>
                      <a:srgbClr val="14141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6B6B6B"/>
                          </a:solidFill>
                          <a:latin typeface="Calibri"/>
                        </a:defRPr>
                      </a:pPr>
                      <a:r>
                        <a:t>—</a:t>
                      </a:r>
                    </a:p>
                  </a:txBody>
                  <a:tcPr marL="73152" marR="73152" marT="36576" marB="36576">
                    <a:solidFill>
                      <a:srgbClr val="14141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6B6B6B"/>
                          </a:solidFill>
                          <a:latin typeface="Calibri"/>
                        </a:defRPr>
                      </a:pPr>
                      <a:r>
                        <a:t>Yes</a:t>
                      </a:r>
                    </a:p>
                  </a:txBody>
                  <a:tcPr marL="73152" marR="73152" marT="36576" marB="36576">
                    <a:solidFill>
                      <a:srgbClr val="14141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6B6B6B"/>
                          </a:solidFill>
                          <a:latin typeface="Calibri"/>
                        </a:defRPr>
                      </a:pPr>
                      <a:r>
                        <a:t>Yes</a:t>
                      </a:r>
                    </a:p>
                  </a:txBody>
                  <a:tcPr marL="73152" marR="73152" marT="36576" marB="36576">
                    <a:solidFill>
                      <a:srgbClr val="14141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6B6B6B"/>
                          </a:solidFill>
                          <a:latin typeface="Calibri"/>
                        </a:defRPr>
                      </a:pPr>
                      <a:r>
                        <a:t>MIT</a:t>
                      </a:r>
                    </a:p>
                  </a:txBody>
                  <a:tcPr marL="73152" marR="73152" marT="36576" marB="36576">
                    <a:solidFill>
                      <a:srgbClr val="141414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6B6B6B"/>
                          </a:solidFill>
                          <a:latin typeface="Calibri"/>
                        </a:defRPr>
                      </a:pPr>
                      <a:r>
                        <a:t>HMR 2.0</a:t>
                      </a:r>
                    </a:p>
                  </a:txBody>
                  <a:tcPr marL="73152" marR="73152" marT="36576" marB="36576">
                    <a:solidFill>
                      <a:srgbClr val="0F0F0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6B6B6B"/>
                          </a:solidFill>
                          <a:latin typeface="Calibri"/>
                        </a:defRPr>
                      </a:pPr>
                      <a:r>
                        <a:t>2023</a:t>
                      </a:r>
                    </a:p>
                  </a:txBody>
                  <a:tcPr marL="73152" marR="73152" marT="36576" marB="36576">
                    <a:solidFill>
                      <a:srgbClr val="0F0F0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6B6B6B"/>
                          </a:solidFill>
                          <a:latin typeface="Calibri"/>
                        </a:defRPr>
                      </a:pPr>
                      <a:r>
                        <a:t>44.4</a:t>
                      </a:r>
                    </a:p>
                  </a:txBody>
                  <a:tcPr marL="73152" marR="73152" marT="36576" marB="36576">
                    <a:solidFill>
                      <a:srgbClr val="0F0F0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6B6B6B"/>
                          </a:solidFill>
                          <a:latin typeface="Calibri"/>
                        </a:defRPr>
                      </a:pPr>
                      <a:r>
                        <a:t>69.8</a:t>
                      </a:r>
                    </a:p>
                  </a:txBody>
                  <a:tcPr marL="73152" marR="73152" marT="36576" marB="36576">
                    <a:solidFill>
                      <a:srgbClr val="0F0F0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6B6B6B"/>
                          </a:solidFill>
                          <a:latin typeface="Calibri"/>
                        </a:defRPr>
                      </a:pPr>
                      <a:r>
                        <a:t>82.2</a:t>
                      </a:r>
                    </a:p>
                  </a:txBody>
                  <a:tcPr marL="73152" marR="73152" marT="36576" marB="36576">
                    <a:solidFill>
                      <a:srgbClr val="0F0F0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6B6B6B"/>
                          </a:solidFill>
                          <a:latin typeface="Calibri"/>
                        </a:defRPr>
                      </a:pPr>
                      <a:r>
                        <a:t>No</a:t>
                      </a:r>
                    </a:p>
                  </a:txBody>
                  <a:tcPr marL="73152" marR="73152" marT="36576" marB="36576">
                    <a:solidFill>
                      <a:srgbClr val="0F0F0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6B6B6B"/>
                          </a:solidFill>
                          <a:latin typeface="Calibri"/>
                        </a:defRPr>
                      </a:pPr>
                      <a:r>
                        <a:t>No</a:t>
                      </a:r>
                    </a:p>
                  </a:txBody>
                  <a:tcPr marL="73152" marR="73152" marT="36576" marB="36576">
                    <a:solidFill>
                      <a:srgbClr val="0F0F0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6B6B6B"/>
                          </a:solidFill>
                          <a:latin typeface="Calibri"/>
                        </a:defRPr>
                      </a:pPr>
                      <a:r>
                        <a:t>MIT</a:t>
                      </a:r>
                    </a:p>
                  </a:txBody>
                  <a:tcPr marL="73152" marR="73152" marT="36576" marB="36576">
                    <a:solidFill>
                      <a:srgbClr val="0F0F0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6B6B6B"/>
                          </a:solidFill>
                          <a:latin typeface="Calibri"/>
                        </a:defRPr>
                      </a:pPr>
                      <a:r>
                        <a:t>WHAM</a:t>
                      </a:r>
                    </a:p>
                  </a:txBody>
                  <a:tcPr marL="73152" marR="73152" marT="36576" marB="36576">
                    <a:solidFill>
                      <a:srgbClr val="14141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6B6B6B"/>
                          </a:solidFill>
                          <a:latin typeface="Calibri"/>
                        </a:defRPr>
                      </a:pPr>
                      <a:r>
                        <a:t>2024</a:t>
                      </a:r>
                    </a:p>
                  </a:txBody>
                  <a:tcPr marL="73152" marR="73152" marT="36576" marB="36576">
                    <a:solidFill>
                      <a:srgbClr val="14141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6B6B6B"/>
                          </a:solidFill>
                          <a:latin typeface="Calibri"/>
                        </a:defRPr>
                      </a:pPr>
                      <a:r>
                        <a:t>35.9</a:t>
                      </a:r>
                    </a:p>
                  </a:txBody>
                  <a:tcPr marL="73152" marR="73152" marT="36576" marB="36576">
                    <a:solidFill>
                      <a:srgbClr val="14141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6B6B6B"/>
                          </a:solidFill>
                          <a:latin typeface="Calibri"/>
                        </a:defRPr>
                      </a:pPr>
                      <a:r>
                        <a:t>57.8</a:t>
                      </a:r>
                    </a:p>
                  </a:txBody>
                  <a:tcPr marL="73152" marR="73152" marT="36576" marB="36576">
                    <a:solidFill>
                      <a:srgbClr val="14141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6B6B6B"/>
                          </a:solidFill>
                          <a:latin typeface="Calibri"/>
                        </a:defRPr>
                      </a:pPr>
                      <a:r>
                        <a:t>68.7</a:t>
                      </a:r>
                    </a:p>
                  </a:txBody>
                  <a:tcPr marL="73152" marR="73152" marT="36576" marB="36576">
                    <a:solidFill>
                      <a:srgbClr val="14141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6B6B6B"/>
                          </a:solidFill>
                          <a:latin typeface="Calibri"/>
                        </a:defRPr>
                      </a:pPr>
                      <a:r>
                        <a:t>Yes</a:t>
                      </a:r>
                    </a:p>
                  </a:txBody>
                  <a:tcPr marL="73152" marR="73152" marT="36576" marB="36576">
                    <a:solidFill>
                      <a:srgbClr val="14141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6B6B6B"/>
                          </a:solidFill>
                          <a:latin typeface="Calibri"/>
                        </a:defRPr>
                      </a:pPr>
                      <a:r>
                        <a:t>No</a:t>
                      </a:r>
                    </a:p>
                  </a:txBody>
                  <a:tcPr marL="73152" marR="73152" marT="36576" marB="36576">
                    <a:solidFill>
                      <a:srgbClr val="14141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6B6B6B"/>
                          </a:solidFill>
                          <a:latin typeface="Calibri"/>
                        </a:defRPr>
                      </a:pPr>
                      <a:r>
                        <a:t>Custom</a:t>
                      </a:r>
                    </a:p>
                  </a:txBody>
                  <a:tcPr marL="73152" marR="73152" marT="36576" marB="36576">
                    <a:solidFill>
                      <a:srgbClr val="141414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F5F5F5"/>
                          </a:solidFill>
                          <a:latin typeface="Calibri"/>
                        </a:defRPr>
                      </a:pPr>
                      <a:r>
                        <a:t>GVHMR</a:t>
                      </a:r>
                    </a:p>
                  </a:txBody>
                  <a:tcPr marL="73152" marR="73152" marT="36576" marB="36576">
                    <a:solidFill>
                      <a:srgbClr val="0F0F0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5F5F5"/>
                          </a:solidFill>
                          <a:latin typeface="Calibri"/>
                        </a:defRPr>
                      </a:pPr>
                      <a:r>
                        <a:t>2024</a:t>
                      </a:r>
                    </a:p>
                  </a:txBody>
                  <a:tcPr marL="73152" marR="73152" marT="36576" marB="36576">
                    <a:solidFill>
                      <a:srgbClr val="0F0F0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5F5F5"/>
                          </a:solidFill>
                          <a:latin typeface="Calibri"/>
                        </a:defRPr>
                      </a:pPr>
                      <a:r>
                        <a:t>36.2</a:t>
                      </a:r>
                    </a:p>
                  </a:txBody>
                  <a:tcPr marL="73152" marR="73152" marT="36576" marB="36576">
                    <a:solidFill>
                      <a:srgbClr val="0F0F0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5F5F5"/>
                          </a:solidFill>
                          <a:latin typeface="Calibri"/>
                        </a:defRPr>
                      </a:pPr>
                      <a:r>
                        <a:t>55.6</a:t>
                      </a:r>
                    </a:p>
                  </a:txBody>
                  <a:tcPr marL="73152" marR="73152" marT="36576" marB="36576">
                    <a:solidFill>
                      <a:srgbClr val="0F0F0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5F5F5"/>
                          </a:solidFill>
                          <a:latin typeface="Calibri"/>
                        </a:defRPr>
                      </a:pPr>
                      <a:r>
                        <a:t>67.2</a:t>
                      </a:r>
                    </a:p>
                  </a:txBody>
                  <a:tcPr marL="73152" marR="73152" marT="36576" marB="36576">
                    <a:solidFill>
                      <a:srgbClr val="0F0F0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5F5F5"/>
                          </a:solidFill>
                          <a:latin typeface="Calibri"/>
                        </a:defRPr>
                      </a:pPr>
                      <a:r>
                        <a:t>Yes</a:t>
                      </a:r>
                    </a:p>
                  </a:txBody>
                  <a:tcPr marL="73152" marR="73152" marT="36576" marB="36576">
                    <a:solidFill>
                      <a:srgbClr val="0F0F0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5F5F5"/>
                          </a:solidFill>
                          <a:latin typeface="Calibri"/>
                        </a:defRPr>
                      </a:pPr>
                      <a:r>
                        <a:t>No</a:t>
                      </a:r>
                    </a:p>
                  </a:txBody>
                  <a:tcPr marL="73152" marR="73152" marT="36576" marB="36576">
                    <a:solidFill>
                      <a:srgbClr val="0F0F0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5F5F5"/>
                          </a:solidFill>
                          <a:latin typeface="Calibri"/>
                        </a:defRPr>
                      </a:pPr>
                      <a:r>
                        <a:t>Custom</a:t>
                      </a:r>
                    </a:p>
                  </a:txBody>
                  <a:tcPr marL="73152" marR="73152" marT="36576" marB="36576">
                    <a:solidFill>
                      <a:srgbClr val="0F0F0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6B6B6B"/>
                          </a:solidFill>
                          <a:latin typeface="Calibri"/>
                        </a:defRPr>
                      </a:pPr>
                      <a:r>
                        <a:t>Multi-HMR</a:t>
                      </a:r>
                    </a:p>
                  </a:txBody>
                  <a:tcPr marL="73152" marR="73152" marT="36576" marB="36576">
                    <a:solidFill>
                      <a:srgbClr val="14141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6B6B6B"/>
                          </a:solidFill>
                          <a:latin typeface="Calibri"/>
                        </a:defRPr>
                      </a:pPr>
                      <a:r>
                        <a:t>2024</a:t>
                      </a:r>
                    </a:p>
                  </a:txBody>
                  <a:tcPr marL="73152" marR="73152" marT="36576" marB="36576">
                    <a:solidFill>
                      <a:srgbClr val="14141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6B6B6B"/>
                          </a:solidFill>
                          <a:latin typeface="Calibri"/>
                        </a:defRPr>
                      </a:pPr>
                      <a:r>
                        <a:t>45.9</a:t>
                      </a:r>
                    </a:p>
                  </a:txBody>
                  <a:tcPr marL="73152" marR="73152" marT="36576" marB="36576">
                    <a:solidFill>
                      <a:srgbClr val="14141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6B6B6B"/>
                          </a:solidFill>
                          <a:latin typeface="Calibri"/>
                        </a:defRPr>
                      </a:pPr>
                      <a:r>
                        <a:t>73.1</a:t>
                      </a:r>
                    </a:p>
                  </a:txBody>
                  <a:tcPr marL="73152" marR="73152" marT="36576" marB="36576">
                    <a:solidFill>
                      <a:srgbClr val="14141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6B6B6B"/>
                          </a:solidFill>
                          <a:latin typeface="Calibri"/>
                        </a:defRPr>
                      </a:pPr>
                      <a:r>
                        <a:t>87.1</a:t>
                      </a:r>
                    </a:p>
                  </a:txBody>
                  <a:tcPr marL="73152" marR="73152" marT="36576" marB="36576">
                    <a:solidFill>
                      <a:srgbClr val="14141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6B6B6B"/>
                          </a:solidFill>
                          <a:latin typeface="Calibri"/>
                        </a:defRPr>
                      </a:pPr>
                      <a:r>
                        <a:t>No</a:t>
                      </a:r>
                    </a:p>
                  </a:txBody>
                  <a:tcPr marL="73152" marR="73152" marT="36576" marB="36576">
                    <a:solidFill>
                      <a:srgbClr val="14141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6B6B6B"/>
                          </a:solidFill>
                          <a:latin typeface="Calibri"/>
                        </a:defRPr>
                      </a:pPr>
                      <a:r>
                        <a:t>Yes</a:t>
                      </a:r>
                    </a:p>
                  </a:txBody>
                  <a:tcPr marL="73152" marR="73152" marT="36576" marB="36576">
                    <a:solidFill>
                      <a:srgbClr val="14141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6B6B6B"/>
                          </a:solidFill>
                          <a:latin typeface="Calibri"/>
                        </a:defRPr>
                      </a:pPr>
                      <a:r>
                        <a:t>CC BY-NC-SA</a:t>
                      </a:r>
                    </a:p>
                  </a:txBody>
                  <a:tcPr marL="73152" marR="73152" marT="36576" marB="36576">
                    <a:solidFill>
                      <a:srgbClr val="141414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6B6B6B"/>
                          </a:solidFill>
                          <a:latin typeface="Calibri"/>
                        </a:defRPr>
                      </a:pPr>
                      <a:r>
                        <a:t>PromptHMR</a:t>
                      </a:r>
                    </a:p>
                  </a:txBody>
                  <a:tcPr marL="73152" marR="73152" marT="36576" marB="36576">
                    <a:solidFill>
                      <a:srgbClr val="0F0F0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6B6B6B"/>
                          </a:solidFill>
                          <a:latin typeface="Calibri"/>
                        </a:defRPr>
                      </a:pPr>
                      <a:r>
                        <a:t>2025</a:t>
                      </a:r>
                    </a:p>
                  </a:txBody>
                  <a:tcPr marL="73152" marR="73152" marT="36576" marB="36576">
                    <a:solidFill>
                      <a:srgbClr val="0F0F0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6B6B6B"/>
                          </a:solidFill>
                          <a:latin typeface="Calibri"/>
                        </a:defRPr>
                      </a:pPr>
                      <a:r>
                        <a:t>35.5</a:t>
                      </a:r>
                    </a:p>
                  </a:txBody>
                  <a:tcPr marL="73152" marR="73152" marT="36576" marB="36576">
                    <a:solidFill>
                      <a:srgbClr val="0F0F0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6B6B6B"/>
                          </a:solidFill>
                          <a:latin typeface="Calibri"/>
                        </a:defRPr>
                      </a:pPr>
                      <a:r>
                        <a:t>—</a:t>
                      </a:r>
                    </a:p>
                  </a:txBody>
                  <a:tcPr marL="73152" marR="73152" marT="36576" marB="36576">
                    <a:solidFill>
                      <a:srgbClr val="0F0F0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6B6B6B"/>
                          </a:solidFill>
                          <a:latin typeface="Calibri"/>
                        </a:defRPr>
                      </a:pPr>
                      <a:r>
                        <a:t>67.3</a:t>
                      </a:r>
                    </a:p>
                  </a:txBody>
                  <a:tcPr marL="73152" marR="73152" marT="36576" marB="36576">
                    <a:solidFill>
                      <a:srgbClr val="0F0F0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6B6B6B"/>
                          </a:solidFill>
                          <a:latin typeface="Calibri"/>
                        </a:defRPr>
                      </a:pPr>
                      <a:r>
                        <a:t>Yes</a:t>
                      </a:r>
                    </a:p>
                  </a:txBody>
                  <a:tcPr marL="73152" marR="73152" marT="36576" marB="36576">
                    <a:solidFill>
                      <a:srgbClr val="0F0F0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6B6B6B"/>
                          </a:solidFill>
                          <a:latin typeface="Calibri"/>
                        </a:defRPr>
                      </a:pPr>
                      <a:r>
                        <a:t>No</a:t>
                      </a:r>
                    </a:p>
                  </a:txBody>
                  <a:tcPr marL="73152" marR="73152" marT="36576" marB="36576">
                    <a:solidFill>
                      <a:srgbClr val="0F0F0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6B6B6B"/>
                          </a:solidFill>
                          <a:latin typeface="Calibri"/>
                        </a:defRPr>
                      </a:pPr>
                      <a:r>
                        <a:t>Available</a:t>
                      </a:r>
                    </a:p>
                  </a:txBody>
                  <a:tcPr marL="73152" marR="73152" marT="36576" marB="36576">
                    <a:solidFill>
                      <a:srgbClr val="0F0F0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6B6B6B"/>
                          </a:solidFill>
                          <a:latin typeface="Calibri"/>
                        </a:defRPr>
                      </a:pPr>
                      <a:r>
                        <a:t>Human3R</a:t>
                      </a:r>
                    </a:p>
                  </a:txBody>
                  <a:tcPr marL="73152" marR="73152" marT="36576" marB="36576">
                    <a:solidFill>
                      <a:srgbClr val="14141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6B6B6B"/>
                          </a:solidFill>
                          <a:latin typeface="Calibri"/>
                        </a:defRPr>
                      </a:pPr>
                      <a:r>
                        <a:t>2025</a:t>
                      </a:r>
                    </a:p>
                  </a:txBody>
                  <a:tcPr marL="73152" marR="73152" marT="36576" marB="36576">
                    <a:solidFill>
                      <a:srgbClr val="14141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6B6B6B"/>
                          </a:solidFill>
                          <a:latin typeface="Calibri"/>
                        </a:defRPr>
                      </a:pPr>
                      <a:r>
                        <a:t>44.1</a:t>
                      </a:r>
                    </a:p>
                  </a:txBody>
                  <a:tcPr marL="73152" marR="73152" marT="36576" marB="36576">
                    <a:solidFill>
                      <a:srgbClr val="14141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6B6B6B"/>
                          </a:solidFill>
                          <a:latin typeface="Calibri"/>
                        </a:defRPr>
                      </a:pPr>
                      <a:r>
                        <a:t>71.2</a:t>
                      </a:r>
                    </a:p>
                  </a:txBody>
                  <a:tcPr marL="73152" marR="73152" marT="36576" marB="36576">
                    <a:solidFill>
                      <a:srgbClr val="14141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6B6B6B"/>
                          </a:solidFill>
                          <a:latin typeface="Calibri"/>
                        </a:defRPr>
                      </a:pPr>
                      <a:r>
                        <a:t>84.9</a:t>
                      </a:r>
                    </a:p>
                  </a:txBody>
                  <a:tcPr marL="73152" marR="73152" marT="36576" marB="36576">
                    <a:solidFill>
                      <a:srgbClr val="14141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6B6B6B"/>
                          </a:solidFill>
                          <a:latin typeface="Calibri"/>
                        </a:defRPr>
                      </a:pPr>
                      <a:r>
                        <a:t>Yes</a:t>
                      </a:r>
                    </a:p>
                  </a:txBody>
                  <a:tcPr marL="73152" marR="73152" marT="36576" marB="36576">
                    <a:solidFill>
                      <a:srgbClr val="14141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6B6B6B"/>
                          </a:solidFill>
                          <a:latin typeface="Calibri"/>
                        </a:defRPr>
                      </a:pPr>
                      <a:r>
                        <a:t>Yes</a:t>
                      </a:r>
                    </a:p>
                  </a:txBody>
                  <a:tcPr marL="73152" marR="73152" marT="36576" marB="36576">
                    <a:solidFill>
                      <a:srgbClr val="14141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6B6B6B"/>
                          </a:solidFill>
                          <a:latin typeface="Calibri"/>
                        </a:defRPr>
                      </a:pPr>
                      <a:r>
                        <a:t>MIT</a:t>
                      </a:r>
                    </a:p>
                  </a:txBody>
                  <a:tcPr marL="73152" marR="73152" marT="36576" marB="36576">
                    <a:solidFill>
                      <a:srgbClr val="141414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1097280" y="5669280"/>
            <a:ext cx="9966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6B6B6B"/>
                </a:solidFill>
                <a:latin typeface="Calibri"/>
              </a:defRPr>
            </a:pPr>
            <a:r>
              <a:t>Highlighted: GVHMR (best accuracy) · Human3R (multi-person, MIT)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0" y="649224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3A3A3A"/>
                </a:solidFill>
                <a:latin typeface="Calibri"/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548640"/>
            <a:ext cx="9966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6B6B6B"/>
                </a:solidFill>
                <a:latin typeface="Calibri"/>
              </a:defRPr>
            </a:pPr>
            <a:r>
              <a:t>BODY TRACKER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1005840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F5F5F5"/>
                </a:solidFill>
                <a:latin typeface="Calibri"/>
              </a:defRPr>
            </a:pPr>
            <a:r>
              <a:t>World-grounded accuracy (EMDB-2, mm ↓)</a:t>
            </a:r>
          </a:p>
        </p:txBody>
      </p:sp>
      <p:sp>
        <p:nvSpPr>
          <p:cNvPr id="4" name="Rectangle 3"/>
          <p:cNvSpPr/>
          <p:nvPr/>
        </p:nvSpPr>
        <p:spPr>
          <a:xfrm>
            <a:off x="1097280" y="1554480"/>
            <a:ext cx="1828800" cy="12700"/>
          </a:xfrm>
          <a:prstGeom prst="rect">
            <a:avLst/>
          </a:prstGeom>
          <a:solidFill>
            <a:srgbClr val="3A3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1097280" y="1828800"/>
          <a:ext cx="9966960" cy="26334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63040"/>
                <a:gridCol w="1645920"/>
                <a:gridCol w="1645920"/>
                <a:gridCol w="1645920"/>
                <a:gridCol w="1645920"/>
                <a:gridCol w="1920240"/>
              </a:tblGrid>
              <a:tr h="329184"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F5F5F5"/>
                          </a:solidFill>
                          <a:latin typeface="Calibri"/>
                        </a:defRPr>
                      </a:pPr>
                      <a:r>
                        <a:t>Method</a:t>
                      </a:r>
                    </a:p>
                  </a:txBody>
                  <a:tcPr marL="73152" marR="73152" marT="36576" marB="36576">
                    <a:solidFill>
                      <a:srgbClr val="18181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5F5F5"/>
                          </a:solidFill>
                          <a:latin typeface="Calibri"/>
                        </a:defRPr>
                      </a:pPr>
                      <a:r>
                        <a:t>WA-MPJPE</a:t>
                      </a:r>
                    </a:p>
                  </a:txBody>
                  <a:tcPr marL="73152" marR="73152" marT="36576" marB="36576">
                    <a:solidFill>
                      <a:srgbClr val="18181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5F5F5"/>
                          </a:solidFill>
                          <a:latin typeface="Calibri"/>
                        </a:defRPr>
                      </a:pPr>
                      <a:r>
                        <a:t>W-MPJPE</a:t>
                      </a:r>
                    </a:p>
                  </a:txBody>
                  <a:tcPr marL="73152" marR="73152" marT="36576" marB="36576">
                    <a:solidFill>
                      <a:srgbClr val="18181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5F5F5"/>
                          </a:solidFill>
                          <a:latin typeface="Calibri"/>
                        </a:defRPr>
                      </a:pPr>
                      <a:r>
                        <a:t>Jitter</a:t>
                      </a:r>
                    </a:p>
                  </a:txBody>
                  <a:tcPr marL="73152" marR="73152" marT="36576" marB="36576">
                    <a:solidFill>
                      <a:srgbClr val="18181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5F5F5"/>
                          </a:solidFill>
                          <a:latin typeface="Calibri"/>
                        </a:defRPr>
                      </a:pPr>
                      <a:r>
                        <a:t>Foot Slide</a:t>
                      </a:r>
                    </a:p>
                  </a:txBody>
                  <a:tcPr marL="73152" marR="73152" marT="36576" marB="36576">
                    <a:solidFill>
                      <a:srgbClr val="18181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5F5F5"/>
                          </a:solidFill>
                          <a:latin typeface="Calibri"/>
                        </a:defRPr>
                      </a:pPr>
                      <a:r>
                        <a:t>Speed</a:t>
                      </a:r>
                    </a:p>
                  </a:txBody>
                  <a:tcPr marL="73152" marR="73152" marT="36576" marB="36576">
                    <a:solidFill>
                      <a:srgbClr val="181818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6B6B6B"/>
                          </a:solidFill>
                          <a:latin typeface="Calibri"/>
                        </a:defRPr>
                      </a:pPr>
                      <a:r>
                        <a:t>GLAMR</a:t>
                      </a:r>
                    </a:p>
                  </a:txBody>
                  <a:tcPr marL="73152" marR="73152" marT="36576" marB="36576">
                    <a:solidFill>
                      <a:srgbClr val="0F0F0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6B6B6B"/>
                          </a:solidFill>
                          <a:latin typeface="Calibri"/>
                        </a:defRPr>
                      </a:pPr>
                      <a:r>
                        <a:t>280.8</a:t>
                      </a:r>
                    </a:p>
                  </a:txBody>
                  <a:tcPr marL="73152" marR="73152" marT="36576" marB="36576">
                    <a:solidFill>
                      <a:srgbClr val="0F0F0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6B6B6B"/>
                          </a:solidFill>
                          <a:latin typeface="Calibri"/>
                        </a:defRPr>
                      </a:pPr>
                      <a:r>
                        <a:t>726.6</a:t>
                      </a:r>
                    </a:p>
                  </a:txBody>
                  <a:tcPr marL="73152" marR="73152" marT="36576" marB="36576">
                    <a:solidFill>
                      <a:srgbClr val="0F0F0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6B6B6B"/>
                          </a:solidFill>
                          <a:latin typeface="Calibri"/>
                        </a:defRPr>
                      </a:pPr>
                      <a:r>
                        <a:t>46.3</a:t>
                      </a:r>
                    </a:p>
                  </a:txBody>
                  <a:tcPr marL="73152" marR="73152" marT="36576" marB="36576">
                    <a:solidFill>
                      <a:srgbClr val="0F0F0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6B6B6B"/>
                          </a:solidFill>
                          <a:latin typeface="Calibri"/>
                        </a:defRPr>
                      </a:pPr>
                      <a:r>
                        <a:t>20.7</a:t>
                      </a:r>
                    </a:p>
                  </a:txBody>
                  <a:tcPr marL="73152" marR="73152" marT="36576" marB="36576">
                    <a:solidFill>
                      <a:srgbClr val="0F0F0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6B6B6B"/>
                          </a:solidFill>
                          <a:latin typeface="Calibri"/>
                        </a:defRPr>
                      </a:pPr>
                      <a:r>
                        <a:t>Slow</a:t>
                      </a:r>
                    </a:p>
                  </a:txBody>
                  <a:tcPr marL="73152" marR="73152" marT="36576" marB="36576">
                    <a:solidFill>
                      <a:srgbClr val="0F0F0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6B6B6B"/>
                          </a:solidFill>
                          <a:latin typeface="Calibri"/>
                        </a:defRPr>
                      </a:pPr>
                      <a:r>
                        <a:t>SLAHMR</a:t>
                      </a:r>
                    </a:p>
                  </a:txBody>
                  <a:tcPr marL="73152" marR="73152" marT="36576" marB="36576">
                    <a:solidFill>
                      <a:srgbClr val="14141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6B6B6B"/>
                          </a:solidFill>
                          <a:latin typeface="Calibri"/>
                        </a:defRPr>
                      </a:pPr>
                      <a:r>
                        <a:t>326.9</a:t>
                      </a:r>
                    </a:p>
                  </a:txBody>
                  <a:tcPr marL="73152" marR="73152" marT="36576" marB="36576">
                    <a:solidFill>
                      <a:srgbClr val="14141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6B6B6B"/>
                          </a:solidFill>
                          <a:latin typeface="Calibri"/>
                        </a:defRPr>
                      </a:pPr>
                      <a:r>
                        <a:t>776.1</a:t>
                      </a:r>
                    </a:p>
                  </a:txBody>
                  <a:tcPr marL="73152" marR="73152" marT="36576" marB="36576">
                    <a:solidFill>
                      <a:srgbClr val="14141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6B6B6B"/>
                          </a:solidFill>
                          <a:latin typeface="Calibri"/>
                        </a:defRPr>
                      </a:pPr>
                      <a:r>
                        <a:t>31.3</a:t>
                      </a:r>
                    </a:p>
                  </a:txBody>
                  <a:tcPr marL="73152" marR="73152" marT="36576" marB="36576">
                    <a:solidFill>
                      <a:srgbClr val="14141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6B6B6B"/>
                          </a:solidFill>
                          <a:latin typeface="Calibri"/>
                        </a:defRPr>
                      </a:pPr>
                      <a:r>
                        <a:t>14.5</a:t>
                      </a:r>
                    </a:p>
                  </a:txBody>
                  <a:tcPr marL="73152" marR="73152" marT="36576" marB="36576">
                    <a:solidFill>
                      <a:srgbClr val="14141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6B6B6B"/>
                          </a:solidFill>
                          <a:latin typeface="Calibri"/>
                        </a:defRPr>
                      </a:pPr>
                      <a:r>
                        <a:t>~4 hrs/1K fr</a:t>
                      </a:r>
                    </a:p>
                  </a:txBody>
                  <a:tcPr marL="73152" marR="73152" marT="36576" marB="36576">
                    <a:solidFill>
                      <a:srgbClr val="141414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6B6B6B"/>
                          </a:solidFill>
                          <a:latin typeface="Calibri"/>
                        </a:defRPr>
                      </a:pPr>
                      <a:r>
                        <a:t>TRACE</a:t>
                      </a:r>
                    </a:p>
                  </a:txBody>
                  <a:tcPr marL="73152" marR="73152" marT="36576" marB="36576">
                    <a:solidFill>
                      <a:srgbClr val="0F0F0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6B6B6B"/>
                          </a:solidFill>
                          <a:latin typeface="Calibri"/>
                        </a:defRPr>
                      </a:pPr>
                      <a:r>
                        <a:t>529.0</a:t>
                      </a:r>
                    </a:p>
                  </a:txBody>
                  <a:tcPr marL="73152" marR="73152" marT="36576" marB="36576">
                    <a:solidFill>
                      <a:srgbClr val="0F0F0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6B6B6B"/>
                          </a:solidFill>
                          <a:latin typeface="Calibri"/>
                        </a:defRPr>
                      </a:pPr>
                      <a:r>
                        <a:t>1702.3</a:t>
                      </a:r>
                    </a:p>
                  </a:txBody>
                  <a:tcPr marL="73152" marR="73152" marT="36576" marB="36576">
                    <a:solidFill>
                      <a:srgbClr val="0F0F0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6B6B6B"/>
                          </a:solidFill>
                          <a:latin typeface="Calibri"/>
                        </a:defRPr>
                      </a:pPr>
                      <a:r>
                        <a:t>2987.6</a:t>
                      </a:r>
                    </a:p>
                  </a:txBody>
                  <a:tcPr marL="73152" marR="73152" marT="36576" marB="36576">
                    <a:solidFill>
                      <a:srgbClr val="0F0F0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6B6B6B"/>
                          </a:solidFill>
                          <a:latin typeface="Calibri"/>
                        </a:defRPr>
                      </a:pPr>
                      <a:r>
                        <a:t>370.7</a:t>
                      </a:r>
                    </a:p>
                  </a:txBody>
                  <a:tcPr marL="73152" marR="73152" marT="36576" marB="36576">
                    <a:solidFill>
                      <a:srgbClr val="0F0F0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6B6B6B"/>
                          </a:solidFill>
                          <a:latin typeface="Calibri"/>
                        </a:defRPr>
                      </a:pPr>
                      <a:r>
                        <a:t>—</a:t>
                      </a:r>
                    </a:p>
                  </a:txBody>
                  <a:tcPr marL="73152" marR="73152" marT="36576" marB="36576">
                    <a:solidFill>
                      <a:srgbClr val="0F0F0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6B6B6B"/>
                          </a:solidFill>
                          <a:latin typeface="Calibri"/>
                        </a:defRPr>
                      </a:pPr>
                      <a:r>
                        <a:t>WHAM</a:t>
                      </a:r>
                    </a:p>
                  </a:txBody>
                  <a:tcPr marL="73152" marR="73152" marT="36576" marB="36576">
                    <a:solidFill>
                      <a:srgbClr val="14141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6B6B6B"/>
                          </a:solidFill>
                          <a:latin typeface="Calibri"/>
                        </a:defRPr>
                      </a:pPr>
                      <a:r>
                        <a:t>135.6</a:t>
                      </a:r>
                    </a:p>
                  </a:txBody>
                  <a:tcPr marL="73152" marR="73152" marT="36576" marB="36576">
                    <a:solidFill>
                      <a:srgbClr val="14141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6B6B6B"/>
                          </a:solidFill>
                          <a:latin typeface="Calibri"/>
                        </a:defRPr>
                      </a:pPr>
                      <a:r>
                        <a:t>354.8</a:t>
                      </a:r>
                    </a:p>
                  </a:txBody>
                  <a:tcPr marL="73152" marR="73152" marT="36576" marB="36576">
                    <a:solidFill>
                      <a:srgbClr val="14141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6B6B6B"/>
                          </a:solidFill>
                          <a:latin typeface="Calibri"/>
                        </a:defRPr>
                      </a:pPr>
                      <a:r>
                        <a:t>22.5</a:t>
                      </a:r>
                    </a:p>
                  </a:txBody>
                  <a:tcPr marL="73152" marR="73152" marT="36576" marB="36576">
                    <a:solidFill>
                      <a:srgbClr val="14141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6B6B6B"/>
                          </a:solidFill>
                          <a:latin typeface="Calibri"/>
                        </a:defRPr>
                      </a:pPr>
                      <a:r>
                        <a:t>4.4</a:t>
                      </a:r>
                    </a:p>
                  </a:txBody>
                  <a:tcPr marL="73152" marR="73152" marT="36576" marB="36576">
                    <a:solidFill>
                      <a:srgbClr val="14141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6B6B6B"/>
                          </a:solidFill>
                          <a:latin typeface="Calibri"/>
                        </a:defRPr>
                      </a:pPr>
                      <a:r>
                        <a:t>~5s/1K fr</a:t>
                      </a:r>
                    </a:p>
                  </a:txBody>
                  <a:tcPr marL="73152" marR="73152" marT="36576" marB="36576">
                    <a:solidFill>
                      <a:srgbClr val="141414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F5F5F5"/>
                          </a:solidFill>
                          <a:latin typeface="Calibri"/>
                        </a:defRPr>
                      </a:pPr>
                      <a:r>
                        <a:t>GVHMR</a:t>
                      </a:r>
                    </a:p>
                  </a:txBody>
                  <a:tcPr marL="73152" marR="73152" marT="36576" marB="36576">
                    <a:solidFill>
                      <a:srgbClr val="0F0F0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5F5F5"/>
                          </a:solidFill>
                          <a:latin typeface="Calibri"/>
                        </a:defRPr>
                      </a:pPr>
                      <a:r>
                        <a:t>111.0</a:t>
                      </a:r>
                    </a:p>
                  </a:txBody>
                  <a:tcPr marL="73152" marR="73152" marT="36576" marB="36576">
                    <a:solidFill>
                      <a:srgbClr val="0F0F0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5F5F5"/>
                          </a:solidFill>
                          <a:latin typeface="Calibri"/>
                        </a:defRPr>
                      </a:pPr>
                      <a:r>
                        <a:t>276.5</a:t>
                      </a:r>
                    </a:p>
                  </a:txBody>
                  <a:tcPr marL="73152" marR="73152" marT="36576" marB="36576">
                    <a:solidFill>
                      <a:srgbClr val="0F0F0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5F5F5"/>
                          </a:solidFill>
                          <a:latin typeface="Calibri"/>
                        </a:defRPr>
                      </a:pPr>
                      <a:r>
                        <a:t>16.7</a:t>
                      </a:r>
                    </a:p>
                  </a:txBody>
                  <a:tcPr marL="73152" marR="73152" marT="36576" marB="36576">
                    <a:solidFill>
                      <a:srgbClr val="0F0F0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5F5F5"/>
                          </a:solidFill>
                          <a:latin typeface="Calibri"/>
                        </a:defRPr>
                      </a:pPr>
                      <a:r>
                        <a:t>3.5</a:t>
                      </a:r>
                    </a:p>
                  </a:txBody>
                  <a:tcPr marL="73152" marR="73152" marT="36576" marB="36576">
                    <a:solidFill>
                      <a:srgbClr val="0F0F0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5F5F5"/>
                          </a:solidFill>
                          <a:latin typeface="Calibri"/>
                        </a:defRPr>
                      </a:pPr>
                      <a:r>
                        <a:t>0.28s/1.4K fr</a:t>
                      </a:r>
                    </a:p>
                  </a:txBody>
                  <a:tcPr marL="73152" marR="73152" marT="36576" marB="36576">
                    <a:solidFill>
                      <a:srgbClr val="0F0F0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6B6B6B"/>
                          </a:solidFill>
                          <a:latin typeface="Calibri"/>
                        </a:defRPr>
                      </a:pPr>
                      <a:r>
                        <a:t>WATCH</a:t>
                      </a:r>
                    </a:p>
                  </a:txBody>
                  <a:tcPr marL="73152" marR="73152" marT="36576" marB="36576">
                    <a:solidFill>
                      <a:srgbClr val="14141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6B6B6B"/>
                          </a:solidFill>
                          <a:latin typeface="Calibri"/>
                        </a:defRPr>
                      </a:pPr>
                      <a:r>
                        <a:t>106.4</a:t>
                      </a:r>
                    </a:p>
                  </a:txBody>
                  <a:tcPr marL="73152" marR="73152" marT="36576" marB="36576">
                    <a:solidFill>
                      <a:srgbClr val="14141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6B6B6B"/>
                          </a:solidFill>
                          <a:latin typeface="Calibri"/>
                        </a:defRPr>
                      </a:pPr>
                      <a:r>
                        <a:t>269.3</a:t>
                      </a:r>
                    </a:p>
                  </a:txBody>
                  <a:tcPr marL="73152" marR="73152" marT="36576" marB="36576">
                    <a:solidFill>
                      <a:srgbClr val="14141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6B6B6B"/>
                          </a:solidFill>
                          <a:latin typeface="Calibri"/>
                        </a:defRPr>
                      </a:pPr>
                      <a:r>
                        <a:t>14.4</a:t>
                      </a:r>
                    </a:p>
                  </a:txBody>
                  <a:tcPr marL="73152" marR="73152" marT="36576" marB="36576">
                    <a:solidFill>
                      <a:srgbClr val="14141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6B6B6B"/>
                          </a:solidFill>
                          <a:latin typeface="Calibri"/>
                        </a:defRPr>
                      </a:pPr>
                      <a:r>
                        <a:t>—</a:t>
                      </a:r>
                    </a:p>
                  </a:txBody>
                  <a:tcPr marL="73152" marR="73152" marT="36576" marB="36576">
                    <a:solidFill>
                      <a:srgbClr val="14141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6B6B6B"/>
                          </a:solidFill>
                          <a:latin typeface="Calibri"/>
                        </a:defRPr>
                      </a:pPr>
                      <a:r>
                        <a:t>—</a:t>
                      </a:r>
                    </a:p>
                  </a:txBody>
                  <a:tcPr marL="73152" marR="73152" marT="36576" marB="36576">
                    <a:solidFill>
                      <a:srgbClr val="141414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F5F5F5"/>
                          </a:solidFill>
                          <a:latin typeface="Calibri"/>
                        </a:defRPr>
                      </a:pPr>
                      <a:r>
                        <a:t>Human3R</a:t>
                      </a:r>
                    </a:p>
                  </a:txBody>
                  <a:tcPr marL="73152" marR="73152" marT="36576" marB="36576">
                    <a:solidFill>
                      <a:srgbClr val="0F0F0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5F5F5"/>
                          </a:solidFill>
                          <a:latin typeface="Calibri"/>
                        </a:defRPr>
                      </a:pPr>
                      <a:r>
                        <a:t>112.2</a:t>
                      </a:r>
                    </a:p>
                  </a:txBody>
                  <a:tcPr marL="73152" marR="73152" marT="36576" marB="36576">
                    <a:solidFill>
                      <a:srgbClr val="0F0F0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5F5F5"/>
                          </a:solidFill>
                          <a:latin typeface="Calibri"/>
                        </a:defRPr>
                      </a:pPr>
                      <a:r>
                        <a:t>267.9</a:t>
                      </a:r>
                    </a:p>
                  </a:txBody>
                  <a:tcPr marL="73152" marR="73152" marT="36576" marB="36576">
                    <a:solidFill>
                      <a:srgbClr val="0F0F0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5F5F5"/>
                          </a:solidFill>
                          <a:latin typeface="Calibri"/>
                        </a:defRPr>
                      </a:pPr>
                      <a:r>
                        <a:t>—</a:t>
                      </a:r>
                    </a:p>
                  </a:txBody>
                  <a:tcPr marL="73152" marR="73152" marT="36576" marB="36576">
                    <a:solidFill>
                      <a:srgbClr val="0F0F0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5F5F5"/>
                          </a:solidFill>
                          <a:latin typeface="Calibri"/>
                        </a:defRPr>
                      </a:pPr>
                      <a:r>
                        <a:t>—</a:t>
                      </a:r>
                    </a:p>
                  </a:txBody>
                  <a:tcPr marL="73152" marR="73152" marT="36576" marB="36576">
                    <a:solidFill>
                      <a:srgbClr val="0F0F0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5F5F5"/>
                          </a:solidFill>
                          <a:latin typeface="Calibri"/>
                        </a:defRPr>
                      </a:pPr>
                      <a:r>
                        <a:t>15 FPS e2e</a:t>
                      </a:r>
                    </a:p>
                  </a:txBody>
                  <a:tcPr marL="73152" marR="73152" marT="36576" marB="36576">
                    <a:solidFill>
                      <a:srgbClr val="0F0F0F"/>
                    </a:solidFill>
                  </a:tcPr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1097280" y="4937760"/>
            <a:ext cx="9966960" cy="12700"/>
          </a:xfrm>
          <a:prstGeom prst="rect">
            <a:avLst/>
          </a:prstGeom>
          <a:solidFill>
            <a:srgbClr val="3A3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5120640"/>
            <a:ext cx="9966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920"/>
              </a:lnSpc>
              <a:spcAft>
                <a:spcPts val="200"/>
              </a:spcAft>
              <a:defRPr sz="1600" b="1">
                <a:solidFill>
                  <a:srgbClr val="F5F5F5"/>
                </a:solidFill>
                <a:latin typeface="Calibri"/>
              </a:defRPr>
            </a:pPr>
            <a:r>
              <a:t>World metrics matter most for physics — this is what we build on.</a:t>
            </a:r>
          </a:p>
          <a:p>
            <a:pPr>
              <a:lnSpc>
                <a:spcPts val="1680"/>
              </a:lnSpc>
              <a:spcAft>
                <a:spcPts val="200"/>
              </a:spcAft>
              <a:defRPr sz="1400" b="0">
                <a:solidFill>
                  <a:srgbClr val="6B6B6B"/>
                </a:solidFill>
                <a:latin typeface="Calibri"/>
              </a:defRPr>
            </a:pPr>
            <a:r>
              <a:t>GVHMR and Human3R are within 1% of each other on world trajectory.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0" y="649224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3A3A3A"/>
                </a:solidFill>
                <a:latin typeface="Calibri"/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548640"/>
            <a:ext cx="9966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6B6B6B"/>
                </a:solidFill>
                <a:latin typeface="Calibri"/>
              </a:defRPr>
            </a:pPr>
            <a:r>
              <a:t>RECOMMENDATION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1005840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600" b="1">
                <a:solidFill>
                  <a:srgbClr val="F5F5F5"/>
                </a:solidFill>
                <a:latin typeface="Calibri"/>
              </a:defRPr>
            </a:pPr>
            <a:r>
              <a:t>Two-track body backbone</a:t>
            </a:r>
          </a:p>
        </p:txBody>
      </p:sp>
      <p:sp>
        <p:nvSpPr>
          <p:cNvPr id="4" name="Rectangle 3"/>
          <p:cNvSpPr/>
          <p:nvPr/>
        </p:nvSpPr>
        <p:spPr>
          <a:xfrm>
            <a:off x="1097280" y="1691640"/>
            <a:ext cx="1828800" cy="12700"/>
          </a:xfrm>
          <a:prstGeom prst="rect">
            <a:avLst/>
          </a:prstGeom>
          <a:solidFill>
            <a:srgbClr val="3A3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2103120"/>
            <a:ext cx="45720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640"/>
              </a:lnSpc>
              <a:spcAft>
                <a:spcPts val="200"/>
              </a:spcAft>
              <a:defRPr sz="2200" b="1">
                <a:solidFill>
                  <a:srgbClr val="F5F5F5"/>
                </a:solidFill>
                <a:latin typeface="Calibri"/>
              </a:defRPr>
            </a:pPr>
            <a:r>
              <a:t>Primary — GVHMR</a:t>
            </a:r>
          </a:p>
          <a:p>
            <a:pPr>
              <a:lnSpc>
                <a:spcPts val="719"/>
              </a:lnSpc>
              <a:spcAft>
                <a:spcPts val="200"/>
              </a:spcAft>
              <a:defRPr sz="600" b="0">
                <a:solidFill>
                  <a:srgbClr val="6B6B6B"/>
                </a:solidFill>
                <a:latin typeface="Calibri"/>
              </a:defRPr>
            </a:pPr>
          </a:p>
          <a:p>
            <a:pPr>
              <a:lnSpc>
                <a:spcPts val="1800"/>
              </a:lnSpc>
              <a:spcAft>
                <a:spcPts val="200"/>
              </a:spcAft>
              <a:defRPr sz="1500" b="1">
                <a:solidFill>
                  <a:srgbClr val="F5F5F5"/>
                </a:solidFill>
                <a:latin typeface="Calibri"/>
              </a:defRPr>
            </a:pPr>
            <a:r>
              <a:t>Best accuracy</a:t>
            </a:r>
          </a:p>
          <a:p>
            <a:pPr>
              <a:lnSpc>
                <a:spcPts val="1560"/>
              </a:lnSpc>
              <a:spcAft>
                <a:spcPts val="200"/>
              </a:spcAft>
              <a:defRPr sz="1300" b="0">
                <a:solidFill>
                  <a:srgbClr val="6B6B6B"/>
                </a:solidFill>
                <a:latin typeface="Calibri"/>
              </a:defRPr>
            </a:pPr>
            <a:r>
              <a:t>PA-MPJPE 36.2 · MPJPE 55.6 · PVE 67.2</a:t>
            </a:r>
          </a:p>
          <a:p>
            <a:pPr>
              <a:lnSpc>
                <a:spcPts val="719"/>
              </a:lnSpc>
              <a:spcAft>
                <a:spcPts val="200"/>
              </a:spcAft>
              <a:defRPr sz="600" b="0">
                <a:solidFill>
                  <a:srgbClr val="6B6B6B"/>
                </a:solidFill>
                <a:latin typeface="Calibri"/>
              </a:defRPr>
            </a:pPr>
          </a:p>
          <a:p>
            <a:pPr>
              <a:lnSpc>
                <a:spcPts val="1800"/>
              </a:lnSpc>
              <a:spcAft>
                <a:spcPts val="200"/>
              </a:spcAft>
              <a:defRPr sz="1500" b="1">
                <a:solidFill>
                  <a:srgbClr val="F5F5F5"/>
                </a:solidFill>
                <a:latin typeface="Calibri"/>
              </a:defRPr>
            </a:pPr>
            <a:r>
              <a:t>Lowest artifacts</a:t>
            </a:r>
          </a:p>
          <a:p>
            <a:pPr>
              <a:lnSpc>
                <a:spcPts val="1560"/>
              </a:lnSpc>
              <a:spcAft>
                <a:spcPts val="200"/>
              </a:spcAft>
              <a:defRPr sz="1300" b="0">
                <a:solidFill>
                  <a:srgbClr val="6B6B6B"/>
                </a:solidFill>
                <a:latin typeface="Calibri"/>
              </a:defRPr>
            </a:pPr>
            <a:r>
              <a:t>Foot sliding 3.0mm · Jitter 12.8</a:t>
            </a:r>
          </a:p>
          <a:p>
            <a:pPr>
              <a:lnSpc>
                <a:spcPts val="719"/>
              </a:lnSpc>
              <a:spcAft>
                <a:spcPts val="200"/>
              </a:spcAft>
              <a:defRPr sz="600" b="0">
                <a:solidFill>
                  <a:srgbClr val="6B6B6B"/>
                </a:solidFill>
                <a:latin typeface="Calibri"/>
              </a:defRPr>
            </a:pPr>
          </a:p>
          <a:p>
            <a:pPr>
              <a:lnSpc>
                <a:spcPts val="1800"/>
              </a:lnSpc>
              <a:spcAft>
                <a:spcPts val="200"/>
              </a:spcAft>
              <a:defRPr sz="1500" b="1">
                <a:solidFill>
                  <a:srgbClr val="F5F5F5"/>
                </a:solidFill>
                <a:latin typeface="Calibri"/>
              </a:defRPr>
            </a:pPr>
            <a:r>
              <a:t>Fastest</a:t>
            </a:r>
          </a:p>
          <a:p>
            <a:pPr>
              <a:lnSpc>
                <a:spcPts val="1560"/>
              </a:lnSpc>
              <a:spcAft>
                <a:spcPts val="200"/>
              </a:spcAft>
              <a:defRPr sz="1300" b="0">
                <a:solidFill>
                  <a:srgbClr val="6B6B6B"/>
                </a:solidFill>
                <a:latin typeface="Calibri"/>
              </a:defRPr>
            </a:pPr>
            <a:r>
              <a:t>~5000 FPS core · 0.28s for 1430 frames</a:t>
            </a:r>
          </a:p>
          <a:p>
            <a:pPr>
              <a:lnSpc>
                <a:spcPts val="719"/>
              </a:lnSpc>
              <a:spcAft>
                <a:spcPts val="200"/>
              </a:spcAft>
              <a:defRPr sz="600" b="0">
                <a:solidFill>
                  <a:srgbClr val="6B6B6B"/>
                </a:solidFill>
                <a:latin typeface="Calibri"/>
              </a:defRPr>
            </a:pPr>
          </a:p>
          <a:p>
            <a:pPr>
              <a:lnSpc>
                <a:spcPts val="1800"/>
              </a:lnSpc>
              <a:spcAft>
                <a:spcPts val="200"/>
              </a:spcAft>
              <a:defRPr sz="1500" b="1">
                <a:solidFill>
                  <a:srgbClr val="F5F5F5"/>
                </a:solidFill>
                <a:latin typeface="Calibri"/>
              </a:defRPr>
            </a:pPr>
            <a:r>
              <a:t>Physics-friendly</a:t>
            </a:r>
          </a:p>
          <a:p>
            <a:pPr>
              <a:lnSpc>
                <a:spcPts val="1560"/>
              </a:lnSpc>
              <a:spcAft>
                <a:spcPts val="200"/>
              </a:spcAft>
              <a:defRPr sz="1300" b="0">
                <a:solidFill>
                  <a:srgbClr val="6B6B6B"/>
                </a:solidFill>
                <a:latin typeface="Calibri"/>
              </a:defRPr>
            </a:pPr>
            <a:r>
              <a:t>Gravity-view coords align with real-world gravity</a:t>
            </a:r>
          </a:p>
          <a:p>
            <a:pPr>
              <a:lnSpc>
                <a:spcPts val="960"/>
              </a:lnSpc>
              <a:spcAft>
                <a:spcPts val="200"/>
              </a:spcAft>
              <a:defRPr sz="800" b="0">
                <a:solidFill>
                  <a:srgbClr val="6B6B6B"/>
                </a:solidFill>
                <a:latin typeface="Calibri"/>
              </a:defRPr>
            </a:pPr>
          </a:p>
          <a:p>
            <a:pPr>
              <a:lnSpc>
                <a:spcPts val="1560"/>
              </a:lnSpc>
              <a:spcAft>
                <a:spcPts val="200"/>
              </a:spcAft>
              <a:defRPr sz="1300" b="0">
                <a:solidFill>
                  <a:srgbClr val="3A3A3A"/>
                </a:solidFill>
                <a:latin typeface="Calibri"/>
              </a:defRPr>
            </a:pPr>
            <a:r>
              <a:t>Single-person only · research-only license</a:t>
            </a:r>
          </a:p>
        </p:txBody>
      </p:sp>
      <p:sp>
        <p:nvSpPr>
          <p:cNvPr id="6" name="Rectangle 5"/>
          <p:cNvSpPr/>
          <p:nvPr/>
        </p:nvSpPr>
        <p:spPr>
          <a:xfrm>
            <a:off x="6035040" y="2103120"/>
            <a:ext cx="12700" cy="3840480"/>
          </a:xfrm>
          <a:prstGeom prst="rect">
            <a:avLst/>
          </a:prstGeom>
          <a:solidFill>
            <a:srgbClr val="3A3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0" y="2103120"/>
            <a:ext cx="45720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640"/>
              </a:lnSpc>
              <a:spcAft>
                <a:spcPts val="200"/>
              </a:spcAft>
              <a:defRPr sz="2200" b="1">
                <a:solidFill>
                  <a:srgbClr val="F5F5F5"/>
                </a:solidFill>
                <a:latin typeface="Calibri"/>
              </a:defRPr>
            </a:pPr>
            <a:r>
              <a:t>Alternative — Human3R</a:t>
            </a:r>
          </a:p>
          <a:p>
            <a:pPr>
              <a:lnSpc>
                <a:spcPts val="719"/>
              </a:lnSpc>
              <a:spcAft>
                <a:spcPts val="200"/>
              </a:spcAft>
              <a:defRPr sz="600" b="0">
                <a:solidFill>
                  <a:srgbClr val="6B6B6B"/>
                </a:solidFill>
                <a:latin typeface="Calibri"/>
              </a:defRPr>
            </a:pPr>
          </a:p>
          <a:p>
            <a:pPr>
              <a:lnSpc>
                <a:spcPts val="1800"/>
              </a:lnSpc>
              <a:spcAft>
                <a:spcPts val="200"/>
              </a:spcAft>
              <a:defRPr sz="1500" b="1">
                <a:solidFill>
                  <a:srgbClr val="F5F5F5"/>
                </a:solidFill>
                <a:latin typeface="Calibri"/>
              </a:defRPr>
            </a:pPr>
            <a:r>
              <a:t>Unified output</a:t>
            </a:r>
          </a:p>
          <a:p>
            <a:pPr>
              <a:lnSpc>
                <a:spcPts val="1560"/>
              </a:lnSpc>
              <a:spcAft>
                <a:spcPts val="200"/>
              </a:spcAft>
              <a:defRPr sz="1300" b="0">
                <a:solidFill>
                  <a:srgbClr val="6B6B6B"/>
                </a:solidFill>
                <a:latin typeface="Calibri"/>
              </a:defRPr>
            </a:pPr>
            <a:r>
              <a:t>Multi-person SMPL-X + scene + camera in one pass</a:t>
            </a:r>
          </a:p>
          <a:p>
            <a:pPr>
              <a:lnSpc>
                <a:spcPts val="719"/>
              </a:lnSpc>
              <a:spcAft>
                <a:spcPts val="200"/>
              </a:spcAft>
              <a:defRPr sz="600" b="0">
                <a:solidFill>
                  <a:srgbClr val="6B6B6B"/>
                </a:solidFill>
                <a:latin typeface="Calibri"/>
              </a:defRPr>
            </a:pPr>
          </a:p>
          <a:p>
            <a:pPr>
              <a:lnSpc>
                <a:spcPts val="1800"/>
              </a:lnSpc>
              <a:spcAft>
                <a:spcPts val="200"/>
              </a:spcAft>
              <a:defRPr sz="1500" b="1">
                <a:solidFill>
                  <a:srgbClr val="F5F5F5"/>
                </a:solidFill>
                <a:latin typeface="Calibri"/>
              </a:defRPr>
            </a:pPr>
            <a:r>
              <a:t>Real-time</a:t>
            </a:r>
          </a:p>
          <a:p>
            <a:pPr>
              <a:lnSpc>
                <a:spcPts val="1560"/>
              </a:lnSpc>
              <a:spcAft>
                <a:spcPts val="200"/>
              </a:spcAft>
              <a:defRPr sz="1300" b="0">
                <a:solidFill>
                  <a:srgbClr val="6B6B6B"/>
                </a:solidFill>
                <a:latin typeface="Calibri"/>
              </a:defRPr>
            </a:pPr>
            <a:r>
              <a:t>15 FPS end-to-end · 8 GB VRAM</a:t>
            </a:r>
          </a:p>
          <a:p>
            <a:pPr>
              <a:lnSpc>
                <a:spcPts val="719"/>
              </a:lnSpc>
              <a:spcAft>
                <a:spcPts val="200"/>
              </a:spcAft>
              <a:defRPr sz="600" b="0">
                <a:solidFill>
                  <a:srgbClr val="6B6B6B"/>
                </a:solidFill>
                <a:latin typeface="Calibri"/>
              </a:defRPr>
            </a:pPr>
          </a:p>
          <a:p>
            <a:pPr>
              <a:lnSpc>
                <a:spcPts val="1800"/>
              </a:lnSpc>
              <a:spcAft>
                <a:spcPts val="200"/>
              </a:spcAft>
              <a:defRPr sz="1500" b="1">
                <a:solidFill>
                  <a:srgbClr val="F5F5F5"/>
                </a:solidFill>
                <a:latin typeface="Calibri"/>
              </a:defRPr>
            </a:pPr>
            <a:r>
              <a:t>MIT licensed</a:t>
            </a:r>
          </a:p>
          <a:p>
            <a:pPr>
              <a:lnSpc>
                <a:spcPts val="1560"/>
              </a:lnSpc>
              <a:spcAft>
                <a:spcPts val="200"/>
              </a:spcAft>
              <a:defRPr sz="1300" b="0">
                <a:solidFill>
                  <a:srgbClr val="6B6B6B"/>
                </a:solidFill>
                <a:latin typeface="Calibri"/>
              </a:defRPr>
            </a:pPr>
            <a:r>
              <a:t>Publication-safe · commercial-safe</a:t>
            </a:r>
          </a:p>
          <a:p>
            <a:pPr>
              <a:lnSpc>
                <a:spcPts val="719"/>
              </a:lnSpc>
              <a:spcAft>
                <a:spcPts val="200"/>
              </a:spcAft>
              <a:defRPr sz="600" b="0">
                <a:solidFill>
                  <a:srgbClr val="6B6B6B"/>
                </a:solidFill>
                <a:latin typeface="Calibri"/>
              </a:defRPr>
            </a:pPr>
          </a:p>
          <a:p>
            <a:pPr>
              <a:lnSpc>
                <a:spcPts val="1800"/>
              </a:lnSpc>
              <a:spcAft>
                <a:spcPts val="200"/>
              </a:spcAft>
              <a:defRPr sz="1500" b="1">
                <a:solidFill>
                  <a:srgbClr val="F5F5F5"/>
                </a:solidFill>
                <a:latin typeface="Calibri"/>
              </a:defRPr>
            </a:pPr>
            <a:r>
              <a:t>Perfect physics target</a:t>
            </a:r>
          </a:p>
          <a:p>
            <a:pPr>
              <a:lnSpc>
                <a:spcPts val="1560"/>
              </a:lnSpc>
              <a:spcAft>
                <a:spcPts val="200"/>
              </a:spcAft>
              <a:defRPr sz="1300" b="0">
                <a:solidFill>
                  <a:srgbClr val="6B6B6B"/>
                </a:solidFill>
                <a:latin typeface="Calibri"/>
              </a:defRPr>
            </a:pPr>
            <a:r>
              <a:t>Paper lists penetration + no-physics as limitations</a:t>
            </a:r>
          </a:p>
          <a:p>
            <a:pPr>
              <a:lnSpc>
                <a:spcPts val="960"/>
              </a:lnSpc>
              <a:spcAft>
                <a:spcPts val="200"/>
              </a:spcAft>
              <a:defRPr sz="800" b="0">
                <a:solidFill>
                  <a:srgbClr val="6B6B6B"/>
                </a:solidFill>
                <a:latin typeface="Calibri"/>
              </a:defRPr>
            </a:pPr>
          </a:p>
          <a:p>
            <a:pPr>
              <a:lnSpc>
                <a:spcPts val="1560"/>
              </a:lnSpc>
              <a:spcAft>
                <a:spcPts val="200"/>
              </a:spcAft>
              <a:defRPr sz="1300" b="0">
                <a:solidFill>
                  <a:srgbClr val="3A3A3A"/>
                </a:solidFill>
                <a:latin typeface="Calibri"/>
              </a:defRPr>
            </a:pPr>
            <a:r>
              <a:t>Lower per-person accuracy (PA-MPJPE 44.1 vs 36.2)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0" y="649224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3A3A3A"/>
                </a:solidFill>
                <a:latin typeface="Calibri"/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548640"/>
            <a:ext cx="9966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6B6B6B"/>
                </a:solidFill>
                <a:latin typeface="Calibri"/>
              </a:defRPr>
            </a:pPr>
            <a:r>
              <a:t>SCENE GEOMETRY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1005840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600" b="1">
                <a:solidFill>
                  <a:srgbClr val="F5F5F5"/>
                </a:solidFill>
                <a:latin typeface="Calibri"/>
              </a:defRPr>
            </a:pPr>
            <a:r>
              <a:t>Depth Anything 3</a:t>
            </a:r>
          </a:p>
        </p:txBody>
      </p:sp>
      <p:sp>
        <p:nvSpPr>
          <p:cNvPr id="4" name="Rectangle 3"/>
          <p:cNvSpPr/>
          <p:nvPr/>
        </p:nvSpPr>
        <p:spPr>
          <a:xfrm>
            <a:off x="1097280" y="1691640"/>
            <a:ext cx="1828800" cy="12700"/>
          </a:xfrm>
          <a:prstGeom prst="rect">
            <a:avLst/>
          </a:prstGeom>
          <a:solidFill>
            <a:srgbClr val="3A3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1097280" y="1920240"/>
          <a:ext cx="6400800" cy="19751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1280160"/>
                <a:gridCol w="1280160"/>
                <a:gridCol w="1280160"/>
                <a:gridCol w="1188720"/>
              </a:tblGrid>
              <a:tr h="329184"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F5F5F5"/>
                          </a:solidFill>
                          <a:latin typeface="Calibri"/>
                        </a:defRPr>
                      </a:pPr>
                      <a:r>
                        <a:t>Feature</a:t>
                      </a:r>
                    </a:p>
                  </a:txBody>
                  <a:tcPr marL="73152" marR="73152" marT="36576" marB="36576">
                    <a:solidFill>
                      <a:srgbClr val="18181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5F5F5"/>
                          </a:solidFill>
                          <a:latin typeface="Calibri"/>
                        </a:defRPr>
                      </a:pPr>
                      <a:r>
                        <a:t>DA3</a:t>
                      </a:r>
                    </a:p>
                  </a:txBody>
                  <a:tcPr marL="73152" marR="73152" marT="36576" marB="36576">
                    <a:solidFill>
                      <a:srgbClr val="18181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5F5F5"/>
                          </a:solidFill>
                          <a:latin typeface="Calibri"/>
                        </a:defRPr>
                      </a:pPr>
                      <a:r>
                        <a:t>Metric3D v2</a:t>
                      </a:r>
                    </a:p>
                  </a:txBody>
                  <a:tcPr marL="73152" marR="73152" marT="36576" marB="36576">
                    <a:solidFill>
                      <a:srgbClr val="18181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5F5F5"/>
                          </a:solidFill>
                          <a:latin typeface="Calibri"/>
                        </a:defRPr>
                      </a:pPr>
                      <a:r>
                        <a:t>CUT3R</a:t>
                      </a:r>
                    </a:p>
                  </a:txBody>
                  <a:tcPr marL="73152" marR="73152" marT="36576" marB="36576">
                    <a:solidFill>
                      <a:srgbClr val="18181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5F5F5"/>
                          </a:solidFill>
                          <a:latin typeface="Calibri"/>
                        </a:defRPr>
                      </a:pPr>
                      <a:r>
                        <a:t>VGGT</a:t>
                      </a:r>
                    </a:p>
                  </a:txBody>
                  <a:tcPr marL="73152" marR="73152" marT="36576" marB="36576">
                    <a:solidFill>
                      <a:srgbClr val="181818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F5F5F5"/>
                          </a:solidFill>
                          <a:latin typeface="Calibri"/>
                        </a:defRPr>
                      </a:pPr>
                      <a:r>
                        <a:t>Metric depth</a:t>
                      </a:r>
                    </a:p>
                  </a:txBody>
                  <a:tcPr marL="73152" marR="73152" marT="36576" marB="36576">
                    <a:solidFill>
                      <a:srgbClr val="0F0F0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5F5F5"/>
                          </a:solidFill>
                          <a:latin typeface="Calibri"/>
                        </a:defRPr>
                      </a:pPr>
                      <a:r>
                        <a:t>Yes</a:t>
                      </a:r>
                    </a:p>
                  </a:txBody>
                  <a:tcPr marL="73152" marR="73152" marT="36576" marB="36576">
                    <a:solidFill>
                      <a:srgbClr val="0F0F0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5F5F5"/>
                          </a:solidFill>
                          <a:latin typeface="Calibri"/>
                        </a:defRPr>
                      </a:pPr>
                      <a:r>
                        <a:t>Best</a:t>
                      </a:r>
                    </a:p>
                  </a:txBody>
                  <a:tcPr marL="73152" marR="73152" marT="36576" marB="36576">
                    <a:solidFill>
                      <a:srgbClr val="0F0F0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5F5F5"/>
                          </a:solidFill>
                          <a:latin typeface="Calibri"/>
                        </a:defRPr>
                      </a:pPr>
                      <a:r>
                        <a:t>Yes</a:t>
                      </a:r>
                    </a:p>
                  </a:txBody>
                  <a:tcPr marL="73152" marR="73152" marT="36576" marB="36576">
                    <a:solidFill>
                      <a:srgbClr val="0F0F0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5F5F5"/>
                          </a:solidFill>
                          <a:latin typeface="Calibri"/>
                        </a:defRPr>
                      </a:pPr>
                      <a:r>
                        <a:t>Yes</a:t>
                      </a:r>
                    </a:p>
                  </a:txBody>
                  <a:tcPr marL="73152" marR="73152" marT="36576" marB="36576">
                    <a:solidFill>
                      <a:srgbClr val="0F0F0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F5F5F5"/>
                          </a:solidFill>
                          <a:latin typeface="Calibri"/>
                        </a:defRPr>
                      </a:pPr>
                      <a:r>
                        <a:t>Camera poses</a:t>
                      </a:r>
                    </a:p>
                  </a:txBody>
                  <a:tcPr marL="73152" marR="73152" marT="36576" marB="36576">
                    <a:solidFill>
                      <a:srgbClr val="14141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5F5F5"/>
                          </a:solidFill>
                          <a:latin typeface="Calibri"/>
                        </a:defRPr>
                      </a:pPr>
                      <a:r>
                        <a:t>Yes</a:t>
                      </a:r>
                    </a:p>
                  </a:txBody>
                  <a:tcPr marL="73152" marR="73152" marT="36576" marB="36576">
                    <a:solidFill>
                      <a:srgbClr val="14141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5F5F5"/>
                          </a:solidFill>
                          <a:latin typeface="Calibri"/>
                        </a:defRPr>
                      </a:pPr>
                      <a:r>
                        <a:t>No</a:t>
                      </a:r>
                    </a:p>
                  </a:txBody>
                  <a:tcPr marL="73152" marR="73152" marT="36576" marB="36576">
                    <a:solidFill>
                      <a:srgbClr val="14141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5F5F5"/>
                          </a:solidFill>
                          <a:latin typeface="Calibri"/>
                        </a:defRPr>
                      </a:pPr>
                      <a:r>
                        <a:t>Yes</a:t>
                      </a:r>
                    </a:p>
                  </a:txBody>
                  <a:tcPr marL="73152" marR="73152" marT="36576" marB="36576">
                    <a:solidFill>
                      <a:srgbClr val="14141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5F5F5"/>
                          </a:solidFill>
                          <a:latin typeface="Calibri"/>
                        </a:defRPr>
                      </a:pPr>
                      <a:r>
                        <a:t>Yes</a:t>
                      </a:r>
                    </a:p>
                  </a:txBody>
                  <a:tcPr marL="73152" marR="73152" marT="36576" marB="36576">
                    <a:solidFill>
                      <a:srgbClr val="141414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F5F5F5"/>
                          </a:solidFill>
                          <a:latin typeface="Calibri"/>
                        </a:defRPr>
                      </a:pPr>
                      <a:r>
                        <a:t>Pointmaps</a:t>
                      </a:r>
                    </a:p>
                  </a:txBody>
                  <a:tcPr marL="73152" marR="73152" marT="36576" marB="36576">
                    <a:solidFill>
                      <a:srgbClr val="0F0F0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5F5F5"/>
                          </a:solidFill>
                          <a:latin typeface="Calibri"/>
                        </a:defRPr>
                      </a:pPr>
                      <a:r>
                        <a:t>Yes</a:t>
                      </a:r>
                    </a:p>
                  </a:txBody>
                  <a:tcPr marL="73152" marR="73152" marT="36576" marB="36576">
                    <a:solidFill>
                      <a:srgbClr val="0F0F0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5F5F5"/>
                          </a:solidFill>
                          <a:latin typeface="Calibri"/>
                        </a:defRPr>
                      </a:pPr>
                      <a:r>
                        <a:t>No</a:t>
                      </a:r>
                    </a:p>
                  </a:txBody>
                  <a:tcPr marL="73152" marR="73152" marT="36576" marB="36576">
                    <a:solidFill>
                      <a:srgbClr val="0F0F0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5F5F5"/>
                          </a:solidFill>
                          <a:latin typeface="Calibri"/>
                        </a:defRPr>
                      </a:pPr>
                      <a:r>
                        <a:t>Yes</a:t>
                      </a:r>
                    </a:p>
                  </a:txBody>
                  <a:tcPr marL="73152" marR="73152" marT="36576" marB="36576">
                    <a:solidFill>
                      <a:srgbClr val="0F0F0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5F5F5"/>
                          </a:solidFill>
                          <a:latin typeface="Calibri"/>
                        </a:defRPr>
                      </a:pPr>
                      <a:r>
                        <a:t>Yes</a:t>
                      </a:r>
                    </a:p>
                  </a:txBody>
                  <a:tcPr marL="73152" marR="73152" marT="36576" marB="36576">
                    <a:solidFill>
                      <a:srgbClr val="0F0F0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F5F5F5"/>
                          </a:solidFill>
                          <a:latin typeface="Calibri"/>
                        </a:defRPr>
                      </a:pPr>
                      <a:r>
                        <a:t>Streaming</a:t>
                      </a:r>
                    </a:p>
                  </a:txBody>
                  <a:tcPr marL="73152" marR="73152" marT="36576" marB="36576">
                    <a:solidFill>
                      <a:srgbClr val="14141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5F5F5"/>
                          </a:solidFill>
                          <a:latin typeface="Calibri"/>
                        </a:defRPr>
                      </a:pPr>
                      <a:r>
                        <a:t>&lt;12 GB</a:t>
                      </a:r>
                    </a:p>
                  </a:txBody>
                  <a:tcPr marL="73152" marR="73152" marT="36576" marB="36576">
                    <a:solidFill>
                      <a:srgbClr val="14141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5F5F5"/>
                          </a:solidFill>
                          <a:latin typeface="Calibri"/>
                        </a:defRPr>
                      </a:pPr>
                      <a:r>
                        <a:t>No</a:t>
                      </a:r>
                    </a:p>
                  </a:txBody>
                  <a:tcPr marL="73152" marR="73152" marT="36576" marB="36576">
                    <a:solidFill>
                      <a:srgbClr val="14141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5F5F5"/>
                          </a:solidFill>
                          <a:latin typeface="Calibri"/>
                        </a:defRPr>
                      </a:pPr>
                      <a:r>
                        <a:t>8 GB</a:t>
                      </a:r>
                    </a:p>
                  </a:txBody>
                  <a:tcPr marL="73152" marR="73152" marT="36576" marB="36576">
                    <a:solidFill>
                      <a:srgbClr val="14141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5F5F5"/>
                          </a:solidFill>
                          <a:latin typeface="Calibri"/>
                        </a:defRPr>
                      </a:pPr>
                      <a:r>
                        <a:t>No</a:t>
                      </a:r>
                    </a:p>
                  </a:txBody>
                  <a:tcPr marL="73152" marR="73152" marT="36576" marB="36576">
                    <a:solidFill>
                      <a:srgbClr val="141414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6B6B6B"/>
                          </a:solidFill>
                          <a:latin typeface="Calibri"/>
                        </a:defRPr>
                      </a:pPr>
                      <a:r>
                        <a:t>License</a:t>
                      </a:r>
                    </a:p>
                  </a:txBody>
                  <a:tcPr marL="73152" marR="73152" marT="36576" marB="36576">
                    <a:solidFill>
                      <a:srgbClr val="0F0F0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6B6B6B"/>
                          </a:solidFill>
                          <a:latin typeface="Calibri"/>
                        </a:defRPr>
                      </a:pPr>
                      <a:r>
                        <a:t>Apache-2.0</a:t>
                      </a:r>
                    </a:p>
                  </a:txBody>
                  <a:tcPr marL="73152" marR="73152" marT="36576" marB="36576">
                    <a:solidFill>
                      <a:srgbClr val="0F0F0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6B6B6B"/>
                          </a:solidFill>
                          <a:latin typeface="Calibri"/>
                        </a:defRPr>
                      </a:pPr>
                      <a:r>
                        <a:t>Apache-2.0</a:t>
                      </a:r>
                    </a:p>
                  </a:txBody>
                  <a:tcPr marL="73152" marR="73152" marT="36576" marB="36576">
                    <a:solidFill>
                      <a:srgbClr val="0F0F0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6B6B6B"/>
                          </a:solidFill>
                          <a:latin typeface="Calibri"/>
                        </a:defRPr>
                      </a:pPr>
                      <a:r>
                        <a:t>CC BY-NC-SA</a:t>
                      </a:r>
                    </a:p>
                  </a:txBody>
                  <a:tcPr marL="73152" marR="73152" marT="36576" marB="36576">
                    <a:solidFill>
                      <a:srgbClr val="0F0F0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6B6B6B"/>
                          </a:solidFill>
                          <a:latin typeface="Calibri"/>
                        </a:defRPr>
                      </a:pPr>
                      <a:r>
                        <a:t>Custom</a:t>
                      </a:r>
                    </a:p>
                  </a:txBody>
                  <a:tcPr marL="73152" marR="73152" marT="36576" marB="36576">
                    <a:solidFill>
                      <a:srgbClr val="0F0F0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8046720" y="2011680"/>
            <a:ext cx="32004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4320"/>
              </a:lnSpc>
              <a:spcAft>
                <a:spcPts val="200"/>
              </a:spcAft>
              <a:defRPr sz="3600" b="1">
                <a:solidFill>
                  <a:srgbClr val="F5F5F5"/>
                </a:solidFill>
                <a:latin typeface="Calibri"/>
              </a:defRPr>
            </a:pPr>
            <a:r>
              <a:t>78 FPS</a:t>
            </a:r>
          </a:p>
          <a:p>
            <a:pPr>
              <a:lnSpc>
                <a:spcPts val="1439"/>
              </a:lnSpc>
              <a:spcAft>
                <a:spcPts val="200"/>
              </a:spcAft>
              <a:defRPr sz="1200" b="0">
                <a:solidFill>
                  <a:srgbClr val="6B6B6B"/>
                </a:solidFill>
                <a:latin typeface="Calibri"/>
              </a:defRPr>
            </a:pPr>
            <a:r>
              <a:t>DA3-Large throughput</a:t>
            </a:r>
          </a:p>
          <a:p>
            <a:pPr>
              <a:lnSpc>
                <a:spcPts val="1439"/>
              </a:lnSpc>
              <a:spcAft>
                <a:spcPts val="200"/>
              </a:spcAft>
              <a:defRPr sz="1200" b="0">
                <a:solidFill>
                  <a:srgbClr val="6B6B6B"/>
                </a:solidFill>
                <a:latin typeface="Calibri"/>
              </a:defRPr>
            </a:pPr>
          </a:p>
          <a:p>
            <a:pPr>
              <a:lnSpc>
                <a:spcPts val="4320"/>
              </a:lnSpc>
              <a:spcAft>
                <a:spcPts val="200"/>
              </a:spcAft>
              <a:defRPr sz="3600" b="1">
                <a:solidFill>
                  <a:srgbClr val="F5F5F5"/>
                </a:solidFill>
                <a:latin typeface="Calibri"/>
              </a:defRPr>
            </a:pPr>
            <a:r>
              <a:t>&lt; 12 GB</a:t>
            </a:r>
          </a:p>
          <a:p>
            <a:pPr>
              <a:lnSpc>
                <a:spcPts val="1439"/>
              </a:lnSpc>
              <a:spcAft>
                <a:spcPts val="200"/>
              </a:spcAft>
              <a:defRPr sz="1200" b="0">
                <a:solidFill>
                  <a:srgbClr val="6B6B6B"/>
                </a:solidFill>
                <a:latin typeface="Calibri"/>
              </a:defRPr>
            </a:pPr>
            <a:r>
              <a:t>VRAM with streaming</a:t>
            </a:r>
          </a:p>
          <a:p>
            <a:pPr>
              <a:lnSpc>
                <a:spcPts val="1439"/>
              </a:lnSpc>
              <a:spcAft>
                <a:spcPts val="200"/>
              </a:spcAft>
              <a:defRPr sz="1200" b="0">
                <a:solidFill>
                  <a:srgbClr val="6B6B6B"/>
                </a:solidFill>
                <a:latin typeface="Calibri"/>
              </a:defRPr>
            </a:pPr>
          </a:p>
          <a:p>
            <a:pPr>
              <a:lnSpc>
                <a:spcPts val="4320"/>
              </a:lnSpc>
              <a:spcAft>
                <a:spcPts val="200"/>
              </a:spcAft>
              <a:defRPr sz="3600" b="1">
                <a:solidFill>
                  <a:srgbClr val="F5F5F5"/>
                </a:solidFill>
                <a:latin typeface="Calibri"/>
              </a:defRPr>
            </a:pPr>
            <a:r>
              <a:t>Any length</a:t>
            </a:r>
          </a:p>
          <a:p>
            <a:pPr>
              <a:lnSpc>
                <a:spcPts val="1439"/>
              </a:lnSpc>
              <a:spcAft>
                <a:spcPts val="200"/>
              </a:spcAft>
              <a:defRPr sz="1200" b="0">
                <a:solidFill>
                  <a:srgbClr val="6B6B6B"/>
                </a:solidFill>
                <a:latin typeface="Calibri"/>
              </a:defRPr>
            </a:pPr>
            <a:r>
              <a:t>Video duration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1097280" y="5029200"/>
            <a:ext cx="9966960" cy="12700"/>
          </a:xfrm>
          <a:prstGeom prst="rect">
            <a:avLst/>
          </a:prstGeom>
          <a:solidFill>
            <a:srgbClr val="3A3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5212080"/>
            <a:ext cx="99669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800"/>
              </a:lnSpc>
              <a:spcAft>
                <a:spcPts val="200"/>
              </a:spcAft>
              <a:defRPr sz="1500" b="1">
                <a:solidFill>
                  <a:srgbClr val="F5F5F5"/>
                </a:solidFill>
                <a:latin typeface="Calibri"/>
              </a:defRPr>
            </a:pPr>
            <a:r>
              <a:t>Only method with metric depth + camera poses + pointmaps + streaming from one model.</a:t>
            </a:r>
          </a:p>
          <a:p>
            <a:pPr>
              <a:lnSpc>
                <a:spcPts val="1680"/>
              </a:lnSpc>
              <a:spcAft>
                <a:spcPts val="200"/>
              </a:spcAft>
              <a:defRPr sz="1400" b="0">
                <a:solidFill>
                  <a:srgbClr val="6B6B6B"/>
                </a:solidFill>
                <a:latin typeface="Calibri"/>
              </a:defRPr>
            </a:pPr>
            <a:r>
              <a:t>Depth quality (AbsRel 0.070) is sufficient — physics optimizer corrects residual errors.</a:t>
            </a:r>
          </a:p>
          <a:p>
            <a:pPr>
              <a:lnSpc>
                <a:spcPts val="1680"/>
              </a:lnSpc>
              <a:spcAft>
                <a:spcPts val="200"/>
              </a:spcAft>
              <a:defRPr sz="1400" b="0">
                <a:solidFill>
                  <a:srgbClr val="6B6B6B"/>
                </a:solidFill>
                <a:latin typeface="Calibri"/>
              </a:defRPr>
            </a:pPr>
            <a:r>
              <a:t>Apache-2.0 license completes the fully permissive stack.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0" y="649224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3A3A3A"/>
                </a:solidFill>
                <a:latin typeface="Calibri"/>
              </a:defRPr>
            </a:pPr>
            <a: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548640"/>
            <a:ext cx="9966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6B6B6B"/>
                </a:solidFill>
                <a:latin typeface="Calibri"/>
              </a:defRPr>
            </a:pPr>
            <a:r>
              <a:t>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1005840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600" b="1">
                <a:solidFill>
                  <a:srgbClr val="F5F5F5"/>
                </a:solidFill>
                <a:latin typeface="Calibri"/>
              </a:defRPr>
            </a:pPr>
            <a:r>
              <a:t>Pipeline</a:t>
            </a:r>
          </a:p>
        </p:txBody>
      </p:sp>
      <p:sp>
        <p:nvSpPr>
          <p:cNvPr id="4" name="Rectangle 3"/>
          <p:cNvSpPr/>
          <p:nvPr/>
        </p:nvSpPr>
        <p:spPr>
          <a:xfrm>
            <a:off x="1097280" y="1691640"/>
            <a:ext cx="1828800" cy="12700"/>
          </a:xfrm>
          <a:prstGeom prst="rect">
            <a:avLst/>
          </a:prstGeom>
          <a:solidFill>
            <a:srgbClr val="3A3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920240"/>
            <a:ext cx="9966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000"/>
              </a:lnSpc>
              <a:spcAft>
                <a:spcPts val="0"/>
              </a:spcAft>
              <a:defRPr sz="1600" b="1">
                <a:solidFill>
                  <a:srgbClr val="F5F5F5"/>
                </a:solidFill>
                <a:latin typeface="Consolas"/>
              </a:defRPr>
            </a:pPr>
            <a:r>
              <a:t>Monocular RGB Video</a:t>
            </a:r>
          </a:p>
          <a:p>
            <a:pPr>
              <a:lnSpc>
                <a:spcPts val="1750"/>
              </a:lnSpc>
              <a:spcAft>
                <a:spcPts val="0"/>
              </a:spcAft>
              <a:defRPr sz="1400" b="0">
                <a:solidFill>
                  <a:srgbClr val="3A3A3A"/>
                </a:solidFill>
                <a:latin typeface="Consolas"/>
              </a:defRPr>
            </a:pPr>
            <a:r>
              <a:t>        │</a:t>
            </a:r>
          </a:p>
          <a:p>
            <a:pPr>
              <a:lnSpc>
                <a:spcPts val="1750"/>
              </a:lnSpc>
              <a:spcAft>
                <a:spcPts val="0"/>
              </a:spcAft>
              <a:defRPr sz="1400" b="0">
                <a:solidFill>
                  <a:srgbClr val="F5F5F5"/>
                </a:solidFill>
                <a:latin typeface="Consolas"/>
              </a:defRPr>
            </a:pPr>
            <a:r>
              <a:t>        ├── Body Tracker  (GVHMR / Human3R)</a:t>
            </a:r>
          </a:p>
          <a:p>
            <a:pPr>
              <a:lnSpc>
                <a:spcPts val="1625"/>
              </a:lnSpc>
              <a:spcAft>
                <a:spcPts val="0"/>
              </a:spcAft>
              <a:defRPr sz="1300" b="0">
                <a:solidFill>
                  <a:srgbClr val="6B6B6B"/>
                </a:solidFill>
                <a:latin typeface="Consolas"/>
              </a:defRPr>
            </a:pPr>
            <a:r>
              <a:t>        │     → SMPL(-X) poses  +  global root trajectory</a:t>
            </a:r>
          </a:p>
          <a:p>
            <a:pPr>
              <a:lnSpc>
                <a:spcPts val="1750"/>
              </a:lnSpc>
              <a:spcAft>
                <a:spcPts val="0"/>
              </a:spcAft>
              <a:defRPr sz="1400" b="0">
                <a:solidFill>
                  <a:srgbClr val="3A3A3A"/>
                </a:solidFill>
                <a:latin typeface="Consolas"/>
              </a:defRPr>
            </a:pPr>
            <a:r>
              <a:t>        │</a:t>
            </a:r>
          </a:p>
          <a:p>
            <a:pPr>
              <a:lnSpc>
                <a:spcPts val="1750"/>
              </a:lnSpc>
              <a:spcAft>
                <a:spcPts val="0"/>
              </a:spcAft>
              <a:defRPr sz="1400" b="0">
                <a:solidFill>
                  <a:srgbClr val="F5F5F5"/>
                </a:solidFill>
                <a:latin typeface="Consolas"/>
              </a:defRPr>
            </a:pPr>
            <a:r>
              <a:t>        ├── Scene Backbone  (DA3-Metric-Large)</a:t>
            </a:r>
          </a:p>
          <a:p>
            <a:pPr>
              <a:lnSpc>
                <a:spcPts val="1625"/>
              </a:lnSpc>
              <a:spcAft>
                <a:spcPts val="0"/>
              </a:spcAft>
              <a:defRPr sz="1300" b="0">
                <a:solidFill>
                  <a:srgbClr val="6B6B6B"/>
                </a:solidFill>
                <a:latin typeface="Consolas"/>
              </a:defRPr>
            </a:pPr>
            <a:r>
              <a:t>        │     → Metric depth  +  pointmaps  +  camera poses</a:t>
            </a:r>
          </a:p>
          <a:p>
            <a:pPr>
              <a:lnSpc>
                <a:spcPts val="1750"/>
              </a:lnSpc>
              <a:spcAft>
                <a:spcPts val="0"/>
              </a:spcAft>
              <a:defRPr sz="1400" b="0">
                <a:solidFill>
                  <a:srgbClr val="3A3A3A"/>
                </a:solidFill>
                <a:latin typeface="Consolas"/>
              </a:defRPr>
            </a:pPr>
            <a:r>
              <a:t>        │</a:t>
            </a:r>
          </a:p>
          <a:p>
            <a:pPr>
              <a:lnSpc>
                <a:spcPts val="1750"/>
              </a:lnSpc>
              <a:spcAft>
                <a:spcPts val="0"/>
              </a:spcAft>
              <a:defRPr sz="1400" b="1">
                <a:solidFill>
                  <a:srgbClr val="F5F5F5"/>
                </a:solidFill>
                <a:latin typeface="Consolas"/>
              </a:defRPr>
            </a:pPr>
            <a:r>
              <a:t>        └── Physics Refinement  (optimization-based)</a:t>
            </a:r>
          </a:p>
          <a:p>
            <a:pPr>
              <a:lnSpc>
                <a:spcPts val="1750"/>
              </a:lnSpc>
              <a:spcAft>
                <a:spcPts val="0"/>
              </a:spcAft>
              <a:defRPr sz="1400" b="0">
                <a:solidFill>
                  <a:srgbClr val="3A3A3A"/>
                </a:solidFill>
                <a:latin typeface="Consolas"/>
              </a:defRPr>
            </a:pPr>
            <a:r>
              <a:t>              │</a:t>
            </a:r>
          </a:p>
          <a:p>
            <a:pPr>
              <a:lnSpc>
                <a:spcPts val="1625"/>
              </a:lnSpc>
              <a:spcAft>
                <a:spcPts val="0"/>
              </a:spcAft>
              <a:defRPr sz="1300" b="0">
                <a:solidFill>
                  <a:srgbClr val="6B6B6B"/>
                </a:solidFill>
                <a:latin typeface="Consolas"/>
              </a:defRPr>
            </a:pPr>
            <a:r>
              <a:t>              ├── Ground Plane          RANSAC on pointmap</a:t>
            </a:r>
          </a:p>
          <a:p>
            <a:pPr>
              <a:lnSpc>
                <a:spcPts val="1625"/>
              </a:lnSpc>
              <a:spcAft>
                <a:spcPts val="0"/>
              </a:spcAft>
              <a:defRPr sz="1300" b="0">
                <a:solidFill>
                  <a:srgbClr val="6B6B6B"/>
                </a:solidFill>
                <a:latin typeface="Consolas"/>
              </a:defRPr>
            </a:pPr>
            <a:r>
              <a:t>              ├── Collision Mesh        pointmap → mesh</a:t>
            </a:r>
          </a:p>
          <a:p>
            <a:pPr>
              <a:lnSpc>
                <a:spcPts val="1625"/>
              </a:lnSpc>
              <a:spcAft>
                <a:spcPts val="0"/>
              </a:spcAft>
              <a:defRPr sz="1300" b="0">
                <a:solidFill>
                  <a:srgbClr val="6B6B6B"/>
                </a:solidFill>
                <a:latin typeface="Consolas"/>
              </a:defRPr>
            </a:pPr>
            <a:r>
              <a:t>              ├── Contact Detection     foot velocity + proximity</a:t>
            </a:r>
          </a:p>
          <a:p>
            <a:pPr>
              <a:lnSpc>
                <a:spcPts val="1750"/>
              </a:lnSpc>
              <a:spcAft>
                <a:spcPts val="0"/>
              </a:spcAft>
              <a:defRPr sz="1400" b="0">
                <a:solidFill>
                  <a:srgbClr val="3A3A3A"/>
                </a:solidFill>
                <a:latin typeface="Consolas"/>
              </a:defRPr>
            </a:pPr>
            <a:r>
              <a:t>              │</a:t>
            </a:r>
          </a:p>
          <a:p>
            <a:pPr>
              <a:lnSpc>
                <a:spcPts val="1625"/>
              </a:lnSpc>
              <a:spcAft>
                <a:spcPts val="0"/>
              </a:spcAft>
              <a:defRPr sz="1300" b="0">
                <a:solidFill>
                  <a:srgbClr val="F5F5F5"/>
                </a:solidFill>
                <a:latin typeface="Consolas"/>
              </a:defRPr>
            </a:pPr>
            <a:r>
              <a:t>              ├── E_contact              pin feet to surface</a:t>
            </a:r>
          </a:p>
          <a:p>
            <a:pPr>
              <a:lnSpc>
                <a:spcPts val="1625"/>
              </a:lnSpc>
              <a:spcAft>
                <a:spcPts val="0"/>
              </a:spcAft>
              <a:defRPr sz="1300" b="0">
                <a:solidFill>
                  <a:srgbClr val="F5F5F5"/>
                </a:solidFill>
                <a:latin typeface="Consolas"/>
              </a:defRPr>
            </a:pPr>
            <a:r>
              <a:t>              ├── E_penetration          SDF non-intersection</a:t>
            </a:r>
          </a:p>
          <a:p>
            <a:pPr>
              <a:lnSpc>
                <a:spcPts val="1625"/>
              </a:lnSpc>
              <a:spcAft>
                <a:spcPts val="0"/>
              </a:spcAft>
              <a:defRPr sz="1300" b="0">
                <a:solidFill>
                  <a:srgbClr val="F5F5F5"/>
                </a:solidFill>
                <a:latin typeface="Consolas"/>
              </a:defRPr>
            </a:pPr>
            <a:r>
              <a:t>              ├── E_friction              no sliding during contact</a:t>
            </a:r>
          </a:p>
          <a:p>
            <a:pPr>
              <a:lnSpc>
                <a:spcPts val="1625"/>
              </a:lnSpc>
              <a:spcAft>
                <a:spcPts val="0"/>
              </a:spcAft>
              <a:defRPr sz="1300" b="0">
                <a:solidFill>
                  <a:srgbClr val="F5F5F5"/>
                </a:solidFill>
                <a:latin typeface="Consolas"/>
              </a:defRPr>
            </a:pPr>
            <a:r>
              <a:t>              ├── E_stability             CoM / CoP balance</a:t>
            </a:r>
          </a:p>
          <a:p>
            <a:pPr>
              <a:lnSpc>
                <a:spcPts val="1625"/>
              </a:lnSpc>
              <a:spcAft>
                <a:spcPts val="0"/>
              </a:spcAft>
              <a:defRPr sz="1300" b="0">
                <a:solidFill>
                  <a:srgbClr val="F5F5F5"/>
                </a:solidFill>
                <a:latin typeface="Consolas"/>
              </a:defRPr>
            </a:pPr>
            <a:r>
              <a:t>              ├── E_smooth               temporal jerk penalty</a:t>
            </a:r>
          </a:p>
          <a:p>
            <a:pPr>
              <a:lnSpc>
                <a:spcPts val="1750"/>
              </a:lnSpc>
              <a:spcAft>
                <a:spcPts val="0"/>
              </a:spcAft>
              <a:defRPr sz="1400" b="0">
                <a:solidFill>
                  <a:srgbClr val="3A3A3A"/>
                </a:solidFill>
                <a:latin typeface="Consolas"/>
              </a:defRPr>
            </a:pPr>
            <a:r>
              <a:t>              │</a:t>
            </a:r>
          </a:p>
          <a:p>
            <a:pPr>
              <a:lnSpc>
                <a:spcPts val="1625"/>
              </a:lnSpc>
              <a:spcAft>
                <a:spcPts val="0"/>
              </a:spcAft>
              <a:defRPr sz="1300" b="0">
                <a:solidFill>
                  <a:srgbClr val="6B6B6B"/>
                </a:solidFill>
                <a:latin typeface="Consolas"/>
              </a:defRPr>
            </a:pPr>
            <a:r>
              <a:t>              └── MuJoCo Validation     verify, don't correct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0" y="649224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3A3A3A"/>
                </a:solidFill>
                <a:latin typeface="Calibri"/>
              </a:defRPr>
            </a:pPr>
            <a: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548640"/>
            <a:ext cx="9966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6B6B6B"/>
                </a:solidFill>
                <a:latin typeface="Calibri"/>
              </a:defRPr>
            </a:pPr>
            <a:r>
              <a:t>NOVELTY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1005840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600" b="1">
                <a:solidFill>
                  <a:srgbClr val="F5F5F5"/>
                </a:solidFill>
                <a:latin typeface="Calibri"/>
              </a:defRPr>
            </a:pPr>
            <a:r>
              <a:t>What makes Pact3D different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1097280" y="1691640"/>
            <a:ext cx="1828800" cy="12700"/>
          </a:xfrm>
          <a:prstGeom prst="rect">
            <a:avLst/>
          </a:prstGeom>
          <a:solidFill>
            <a:srgbClr val="3A3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097280" y="2103120"/>
            <a:ext cx="9966960" cy="12700"/>
          </a:xfrm>
          <a:prstGeom prst="rect">
            <a:avLst/>
          </a:prstGeom>
          <a:solidFill>
            <a:srgbClr val="3A3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2240280"/>
            <a:ext cx="99669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070"/>
              </a:lnSpc>
              <a:spcAft>
                <a:spcPts val="200"/>
              </a:spcAft>
              <a:defRPr sz="1800" b="1">
                <a:solidFill>
                  <a:srgbClr val="F5F5F5"/>
                </a:solidFill>
                <a:latin typeface="Calibri"/>
              </a:defRPr>
            </a:pPr>
            <a:r>
              <a:t>vs. MultiPhys  (RL post-correction)</a:t>
            </a:r>
          </a:p>
          <a:p>
            <a:pPr>
              <a:lnSpc>
                <a:spcPts val="1609"/>
              </a:lnSpc>
              <a:spcAft>
                <a:spcPts val="200"/>
              </a:spcAft>
              <a:defRPr sz="1400" b="0">
                <a:solidFill>
                  <a:srgbClr val="6B6B6B"/>
                </a:solidFill>
                <a:latin typeface="Calibri"/>
              </a:defRPr>
            </a:pPr>
            <a:r>
              <a:t>    Optimization, not RL — no balance-recovery artifacts</a:t>
            </a:r>
          </a:p>
          <a:p>
            <a:pPr>
              <a:lnSpc>
                <a:spcPts val="1609"/>
              </a:lnSpc>
              <a:spcAft>
                <a:spcPts val="200"/>
              </a:spcAft>
              <a:defRPr sz="1400" b="0">
                <a:solidFill>
                  <a:srgbClr val="6B6B6B"/>
                </a:solidFill>
                <a:latin typeface="Calibri"/>
              </a:defRPr>
            </a:pPr>
            <a:r>
              <a:t>    Scene geometry (not just ground plane)</a:t>
            </a:r>
          </a:p>
          <a:p>
            <a:pPr>
              <a:lnSpc>
                <a:spcPts val="1609"/>
              </a:lnSpc>
              <a:spcAft>
                <a:spcPts val="200"/>
              </a:spcAft>
              <a:defRPr sz="1400" b="0">
                <a:solidFill>
                  <a:srgbClr val="6B6B6B"/>
                </a:solidFill>
                <a:latin typeface="Calibri"/>
              </a:defRPr>
            </a:pPr>
            <a:r>
              <a:t>    Modern trackers (GVHMR, not SLAHMR)</a:t>
            </a:r>
          </a:p>
        </p:txBody>
      </p:sp>
      <p:sp>
        <p:nvSpPr>
          <p:cNvPr id="7" name="Rectangle 6"/>
          <p:cNvSpPr/>
          <p:nvPr/>
        </p:nvSpPr>
        <p:spPr>
          <a:xfrm>
            <a:off x="1097280" y="3566160"/>
            <a:ext cx="9966960" cy="12700"/>
          </a:xfrm>
          <a:prstGeom prst="rect">
            <a:avLst/>
          </a:prstGeom>
          <a:solidFill>
            <a:srgbClr val="3A3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3703320"/>
            <a:ext cx="99669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070"/>
              </a:lnSpc>
              <a:spcAft>
                <a:spcPts val="200"/>
              </a:spcAft>
              <a:defRPr sz="1800" b="1">
                <a:solidFill>
                  <a:srgbClr val="F5F5F5"/>
                </a:solidFill>
                <a:latin typeface="Calibri"/>
              </a:defRPr>
            </a:pPr>
            <a:r>
              <a:t>vs. PROX / LEMO  (optimization-based)</a:t>
            </a:r>
          </a:p>
          <a:p>
            <a:pPr>
              <a:lnSpc>
                <a:spcPts val="1609"/>
              </a:lnSpc>
              <a:spcAft>
                <a:spcPts val="200"/>
              </a:spcAft>
              <a:defRPr sz="1400" b="0">
                <a:solidFill>
                  <a:srgbClr val="6B6B6B"/>
                </a:solidFill>
                <a:latin typeface="Calibri"/>
              </a:defRPr>
            </a:pPr>
            <a:r>
              <a:t>    State-of-the-art body trackers (not old SMPLify)</a:t>
            </a:r>
          </a:p>
          <a:p>
            <a:pPr>
              <a:lnSpc>
                <a:spcPts val="1609"/>
              </a:lnSpc>
              <a:spcAft>
                <a:spcPts val="200"/>
              </a:spcAft>
              <a:defRPr sz="1400" b="0">
                <a:solidFill>
                  <a:srgbClr val="6B6B6B"/>
                </a:solidFill>
                <a:latin typeface="Calibri"/>
              </a:defRPr>
            </a:pPr>
            <a:r>
              <a:t>    Metric depth for real-world scale</a:t>
            </a:r>
          </a:p>
          <a:p>
            <a:pPr>
              <a:lnSpc>
                <a:spcPts val="1609"/>
              </a:lnSpc>
              <a:spcAft>
                <a:spcPts val="200"/>
              </a:spcAft>
              <a:defRPr sz="1400" b="0">
                <a:solidFill>
                  <a:srgbClr val="6B6B6B"/>
                </a:solidFill>
                <a:latin typeface="Calibri"/>
              </a:defRPr>
            </a:pPr>
            <a:r>
              <a:t>    Video, not single frames</a:t>
            </a:r>
          </a:p>
        </p:txBody>
      </p:sp>
      <p:sp>
        <p:nvSpPr>
          <p:cNvPr id="9" name="Rectangle 8"/>
          <p:cNvSpPr/>
          <p:nvPr/>
        </p:nvSpPr>
        <p:spPr>
          <a:xfrm>
            <a:off x="1097280" y="5029200"/>
            <a:ext cx="9966960" cy="12700"/>
          </a:xfrm>
          <a:prstGeom prst="rect">
            <a:avLst/>
          </a:prstGeom>
          <a:solidFill>
            <a:srgbClr val="3A3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5166360"/>
            <a:ext cx="99669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070"/>
              </a:lnSpc>
              <a:spcAft>
                <a:spcPts val="200"/>
              </a:spcAft>
              <a:defRPr sz="1800" b="1">
                <a:solidFill>
                  <a:srgbClr val="F5F5F5"/>
                </a:solidFill>
                <a:latin typeface="Calibri"/>
              </a:defRPr>
            </a:pPr>
            <a:r>
              <a:t>vs. PhysHMR  (end-to-end RL)</a:t>
            </a:r>
          </a:p>
          <a:p>
            <a:pPr>
              <a:lnSpc>
                <a:spcPts val="1609"/>
              </a:lnSpc>
              <a:spcAft>
                <a:spcPts val="200"/>
              </a:spcAft>
              <a:defRPr sz="1400" b="0">
                <a:solidFill>
                  <a:srgbClr val="6B6B6B"/>
                </a:solidFill>
                <a:latin typeface="Calibri"/>
              </a:defRPr>
            </a:pPr>
            <a:r>
              <a:t>    Training-free — compose pretrained models</a:t>
            </a:r>
          </a:p>
          <a:p>
            <a:pPr>
              <a:lnSpc>
                <a:spcPts val="1609"/>
              </a:lnSpc>
              <a:spcAft>
                <a:spcPts val="200"/>
              </a:spcAft>
              <a:defRPr sz="1400" b="0">
                <a:solidFill>
                  <a:srgbClr val="6B6B6B"/>
                </a:solidFill>
                <a:latin typeface="Calibri"/>
              </a:defRPr>
            </a:pPr>
            <a:r>
              <a:t>    Swap any component as better ones emerge</a:t>
            </a:r>
          </a:p>
          <a:p>
            <a:pPr>
              <a:lnSpc>
                <a:spcPts val="1609"/>
              </a:lnSpc>
              <a:spcAft>
                <a:spcPts val="200"/>
              </a:spcAft>
              <a:defRPr sz="1400" b="0">
                <a:solidFill>
                  <a:srgbClr val="6B6B6B"/>
                </a:solidFill>
                <a:latin typeface="Calibri"/>
              </a:defRPr>
            </a:pPr>
            <a:r>
              <a:t>    Lower barrier, faster iteration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30000" y="649224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3A3A3A"/>
                </a:solidFill>
                <a:latin typeface="Calibri"/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548640"/>
            <a:ext cx="9966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6B6B6B"/>
                </a:solidFill>
                <a:latin typeface="Calibri"/>
              </a:defRPr>
            </a:pPr>
            <a:r>
              <a:t>EVALUATION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1005840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600" b="1">
                <a:solidFill>
                  <a:srgbClr val="F5F5F5"/>
                </a:solidFill>
                <a:latin typeface="Calibri"/>
              </a:defRPr>
            </a:pPr>
            <a:r>
              <a:t>Targets &amp; datasets</a:t>
            </a:r>
          </a:p>
        </p:txBody>
      </p:sp>
      <p:sp>
        <p:nvSpPr>
          <p:cNvPr id="4" name="Rectangle 3"/>
          <p:cNvSpPr/>
          <p:nvPr/>
        </p:nvSpPr>
        <p:spPr>
          <a:xfrm>
            <a:off x="1097280" y="1691640"/>
            <a:ext cx="1828800" cy="12700"/>
          </a:xfrm>
          <a:prstGeom prst="rect">
            <a:avLst/>
          </a:prstGeom>
          <a:solidFill>
            <a:srgbClr val="3A3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1097280" y="2011680"/>
          <a:ext cx="5486400" cy="164591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2011680"/>
                <a:gridCol w="1828800"/>
              </a:tblGrid>
              <a:tr h="329183"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F5F5F5"/>
                          </a:solidFill>
                          <a:latin typeface="Calibri"/>
                        </a:defRPr>
                      </a:pPr>
                      <a:r>
                        <a:t>Metric</a:t>
                      </a:r>
                    </a:p>
                  </a:txBody>
                  <a:tcPr marL="73152" marR="73152" marT="36576" marB="36576">
                    <a:solidFill>
                      <a:srgbClr val="18181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5F5F5"/>
                          </a:solidFill>
                          <a:latin typeface="Calibri"/>
                        </a:defRPr>
                      </a:pPr>
                      <a:r>
                        <a:t>Current SOTA</a:t>
                      </a:r>
                    </a:p>
                  </a:txBody>
                  <a:tcPr marL="73152" marR="73152" marT="36576" marB="36576">
                    <a:solidFill>
                      <a:srgbClr val="18181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5F5F5"/>
                          </a:solidFill>
                          <a:latin typeface="Calibri"/>
                        </a:defRPr>
                      </a:pPr>
                      <a:r>
                        <a:t>Our Target</a:t>
                      </a:r>
                    </a:p>
                  </a:txBody>
                  <a:tcPr marL="73152" marR="73152" marT="36576" marB="36576">
                    <a:solidFill>
                      <a:srgbClr val="181818"/>
                    </a:solidFill>
                  </a:tcPr>
                </a:tc>
              </a:tr>
              <a:tr h="329183"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F5F5F5"/>
                          </a:solidFill>
                          <a:latin typeface="Calibri"/>
                        </a:defRPr>
                      </a:pPr>
                      <a:r>
                        <a:t>Foot Sliding</a:t>
                      </a:r>
                    </a:p>
                  </a:txBody>
                  <a:tcPr marL="73152" marR="73152" marT="36576" marB="36576">
                    <a:solidFill>
                      <a:srgbClr val="0F0F0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5F5F5"/>
                          </a:solidFill>
                          <a:latin typeface="Calibri"/>
                        </a:defRPr>
                      </a:pPr>
                      <a:r>
                        <a:t>3.0 mm (GVHMR)</a:t>
                      </a:r>
                    </a:p>
                  </a:txBody>
                  <a:tcPr marL="73152" marR="73152" marT="36576" marB="36576">
                    <a:solidFill>
                      <a:srgbClr val="0F0F0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5F5F5"/>
                          </a:solidFill>
                          <a:latin typeface="Calibri"/>
                        </a:defRPr>
                      </a:pPr>
                      <a:r>
                        <a:t>&lt; 1 mm</a:t>
                      </a:r>
                    </a:p>
                  </a:txBody>
                  <a:tcPr marL="73152" marR="73152" marT="36576" marB="36576">
                    <a:solidFill>
                      <a:srgbClr val="0F0F0F"/>
                    </a:solidFill>
                  </a:tcPr>
                </a:tc>
              </a:tr>
              <a:tr h="329183"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F5F5F5"/>
                          </a:solidFill>
                          <a:latin typeface="Calibri"/>
                        </a:defRPr>
                      </a:pPr>
                      <a:r>
                        <a:t>Ground Pen.</a:t>
                      </a:r>
                    </a:p>
                  </a:txBody>
                  <a:tcPr marL="73152" marR="73152" marT="36576" marB="36576">
                    <a:solidFill>
                      <a:srgbClr val="14141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5F5F5"/>
                          </a:solidFill>
                          <a:latin typeface="Calibri"/>
                        </a:defRPr>
                      </a:pPr>
                      <a:r>
                        <a:t>2.4 mm (MultiPhys)</a:t>
                      </a:r>
                    </a:p>
                  </a:txBody>
                  <a:tcPr marL="73152" marR="73152" marT="36576" marB="36576">
                    <a:solidFill>
                      <a:srgbClr val="14141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5F5F5"/>
                          </a:solidFill>
                          <a:latin typeface="Calibri"/>
                        </a:defRPr>
                      </a:pPr>
                      <a:r>
                        <a:t>&lt; 1 mm</a:t>
                      </a:r>
                    </a:p>
                  </a:txBody>
                  <a:tcPr marL="73152" marR="73152" marT="36576" marB="36576">
                    <a:solidFill>
                      <a:srgbClr val="141414"/>
                    </a:solidFill>
                  </a:tcPr>
                </a:tc>
              </a:tr>
              <a:tr h="329183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6B6B6B"/>
                          </a:solidFill>
                          <a:latin typeface="Calibri"/>
                        </a:defRPr>
                      </a:pPr>
                      <a:r>
                        <a:t>Inter-body Pen.</a:t>
                      </a:r>
                    </a:p>
                  </a:txBody>
                  <a:tcPr marL="73152" marR="73152" marT="36576" marB="36576">
                    <a:solidFill>
                      <a:srgbClr val="0F0F0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6B6B6B"/>
                          </a:solidFill>
                          <a:latin typeface="Calibri"/>
                        </a:defRPr>
                      </a:pPr>
                      <a:r>
                        <a:t>18.7 mm (MultiPhys)</a:t>
                      </a:r>
                    </a:p>
                  </a:txBody>
                  <a:tcPr marL="73152" marR="73152" marT="36576" marB="36576">
                    <a:solidFill>
                      <a:srgbClr val="0F0F0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6B6B6B"/>
                          </a:solidFill>
                          <a:latin typeface="Calibri"/>
                        </a:defRPr>
                      </a:pPr>
                      <a:r>
                        <a:t>&lt; 20 mm</a:t>
                      </a:r>
                    </a:p>
                  </a:txBody>
                  <a:tcPr marL="73152" marR="73152" marT="36576" marB="36576">
                    <a:solidFill>
                      <a:srgbClr val="0F0F0F"/>
                    </a:solidFill>
                  </a:tcPr>
                </a:tc>
              </a:tr>
              <a:tr h="329187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6B6B6B"/>
                          </a:solidFill>
                          <a:latin typeface="Calibri"/>
                        </a:defRPr>
                      </a:pPr>
                      <a:r>
                        <a:t>PA-MPJPE</a:t>
                      </a:r>
                    </a:p>
                  </a:txBody>
                  <a:tcPr marL="73152" marR="73152" marT="36576" marB="36576">
                    <a:solidFill>
                      <a:srgbClr val="14141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6B6B6B"/>
                          </a:solidFill>
                          <a:latin typeface="Calibri"/>
                        </a:defRPr>
                      </a:pPr>
                      <a:r>
                        <a:t>36.2 mm (GVHMR)</a:t>
                      </a:r>
                    </a:p>
                  </a:txBody>
                  <a:tcPr marL="73152" marR="73152" marT="36576" marB="36576">
                    <a:solidFill>
                      <a:srgbClr val="14141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6B6B6B"/>
                          </a:solidFill>
                          <a:latin typeface="Calibri"/>
                        </a:defRPr>
                      </a:pPr>
                      <a:r>
                        <a:t>No degradation</a:t>
                      </a:r>
                    </a:p>
                  </a:txBody>
                  <a:tcPr marL="73152" marR="73152" marT="36576" marB="36576">
                    <a:solidFill>
                      <a:srgbClr val="141414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7132320" y="2011680"/>
            <a:ext cx="41148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160"/>
              </a:lnSpc>
              <a:spcAft>
                <a:spcPts val="200"/>
              </a:spcAft>
              <a:defRPr sz="1800" b="1">
                <a:solidFill>
                  <a:srgbClr val="F5F5F5"/>
                </a:solidFill>
                <a:latin typeface="Calibri"/>
              </a:defRPr>
            </a:pPr>
            <a:r>
              <a:t>Datasets</a:t>
            </a:r>
          </a:p>
          <a:p>
            <a:pPr>
              <a:lnSpc>
                <a:spcPts val="719"/>
              </a:lnSpc>
              <a:spcAft>
                <a:spcPts val="200"/>
              </a:spcAft>
              <a:defRPr sz="600" b="0">
                <a:solidFill>
                  <a:srgbClr val="6B6B6B"/>
                </a:solidFill>
                <a:latin typeface="Calibri"/>
              </a:defRPr>
            </a:pPr>
          </a:p>
          <a:p>
            <a:pPr>
              <a:lnSpc>
                <a:spcPts val="1800"/>
              </a:lnSpc>
              <a:spcAft>
                <a:spcPts val="200"/>
              </a:spcAft>
              <a:defRPr sz="1500" b="1">
                <a:solidFill>
                  <a:srgbClr val="F5F5F5"/>
                </a:solidFill>
                <a:latin typeface="Calibri"/>
              </a:defRPr>
            </a:pPr>
            <a:r>
              <a:t>RICH  (primary)</a:t>
            </a:r>
          </a:p>
          <a:p>
            <a:pPr>
              <a:lnSpc>
                <a:spcPts val="1439"/>
              </a:lnSpc>
              <a:spcAft>
                <a:spcPts val="200"/>
              </a:spcAft>
              <a:defRPr sz="1200" b="0">
                <a:solidFill>
                  <a:srgbClr val="6B6B6B"/>
                </a:solidFill>
                <a:latin typeface="Calibri"/>
              </a:defRPr>
            </a:pPr>
            <a:r>
              <a:t>Scene scans + vertex contact GT + global coords</a:t>
            </a:r>
          </a:p>
          <a:p>
            <a:pPr>
              <a:lnSpc>
                <a:spcPts val="719"/>
              </a:lnSpc>
              <a:spcAft>
                <a:spcPts val="200"/>
              </a:spcAft>
              <a:defRPr sz="600" b="0">
                <a:solidFill>
                  <a:srgbClr val="6B6B6B"/>
                </a:solidFill>
                <a:latin typeface="Calibri"/>
              </a:defRPr>
            </a:pPr>
          </a:p>
          <a:p>
            <a:pPr>
              <a:lnSpc>
                <a:spcPts val="1800"/>
              </a:lnSpc>
              <a:spcAft>
                <a:spcPts val="200"/>
              </a:spcAft>
              <a:defRPr sz="1500" b="1">
                <a:solidFill>
                  <a:srgbClr val="F5F5F5"/>
                </a:solidFill>
                <a:latin typeface="Calibri"/>
              </a:defRPr>
            </a:pPr>
            <a:r>
              <a:t>EMDB-2</a:t>
            </a:r>
          </a:p>
          <a:p>
            <a:pPr>
              <a:lnSpc>
                <a:spcPts val="1439"/>
              </a:lnSpc>
              <a:spcAft>
                <a:spcPts val="200"/>
              </a:spcAft>
              <a:defRPr sz="1200" b="0">
                <a:solidFill>
                  <a:srgbClr val="6B6B6B"/>
                </a:solidFill>
                <a:latin typeface="Calibri"/>
              </a:defRPr>
            </a:pPr>
            <a:r>
              <a:t>2.3cm pose accuracy · moving cameras · drift</a:t>
            </a:r>
          </a:p>
          <a:p>
            <a:pPr>
              <a:lnSpc>
                <a:spcPts val="719"/>
              </a:lnSpc>
              <a:spcAft>
                <a:spcPts val="200"/>
              </a:spcAft>
              <a:defRPr sz="600" b="0">
                <a:solidFill>
                  <a:srgbClr val="6B6B6B"/>
                </a:solidFill>
                <a:latin typeface="Calibri"/>
              </a:defRPr>
            </a:pPr>
          </a:p>
          <a:p>
            <a:pPr>
              <a:lnSpc>
                <a:spcPts val="1800"/>
              </a:lnSpc>
              <a:spcAft>
                <a:spcPts val="200"/>
              </a:spcAft>
              <a:defRPr sz="1500" b="1">
                <a:solidFill>
                  <a:srgbClr val="F5F5F5"/>
                </a:solidFill>
                <a:latin typeface="Calibri"/>
              </a:defRPr>
            </a:pPr>
            <a:r>
              <a:t>3DPW</a:t>
            </a:r>
          </a:p>
          <a:p>
            <a:pPr>
              <a:lnSpc>
                <a:spcPts val="1439"/>
              </a:lnSpc>
              <a:spcAft>
                <a:spcPts val="200"/>
              </a:spcAft>
              <a:defRPr sz="1200" b="0">
                <a:solidFill>
                  <a:srgbClr val="6B6B6B"/>
                </a:solidFill>
                <a:latin typeface="Calibri"/>
              </a:defRPr>
            </a:pPr>
            <a:r>
              <a:t>Standard benchmark · every method reports on it</a:t>
            </a:r>
          </a:p>
          <a:p>
            <a:pPr>
              <a:lnSpc>
                <a:spcPts val="719"/>
              </a:lnSpc>
              <a:spcAft>
                <a:spcPts val="200"/>
              </a:spcAft>
              <a:defRPr sz="600" b="0">
                <a:solidFill>
                  <a:srgbClr val="6B6B6B"/>
                </a:solidFill>
                <a:latin typeface="Calibri"/>
              </a:defRPr>
            </a:pPr>
          </a:p>
          <a:p>
            <a:pPr>
              <a:lnSpc>
                <a:spcPts val="1800"/>
              </a:lnSpc>
              <a:spcAft>
                <a:spcPts val="200"/>
              </a:spcAft>
              <a:defRPr sz="1500" b="1">
                <a:solidFill>
                  <a:srgbClr val="F5F5F5"/>
                </a:solidFill>
                <a:latin typeface="Calibri"/>
              </a:defRPr>
            </a:pPr>
            <a:r>
              <a:t>Hi4D</a:t>
            </a:r>
          </a:p>
          <a:p>
            <a:pPr>
              <a:lnSpc>
                <a:spcPts val="1439"/>
              </a:lnSpc>
              <a:spcAft>
                <a:spcPts val="200"/>
              </a:spcAft>
              <a:defRPr sz="1200" b="0">
                <a:solidFill>
                  <a:srgbClr val="6B6B6B"/>
                </a:solidFill>
                <a:latin typeface="Calibri"/>
              </a:defRPr>
            </a:pPr>
            <a:r>
              <a:t>Multi-person close interaction · contact GT</a:t>
            </a:r>
          </a:p>
        </p:txBody>
      </p:sp>
      <p:sp>
        <p:nvSpPr>
          <p:cNvPr id="7" name="Rectangle 6"/>
          <p:cNvSpPr/>
          <p:nvPr/>
        </p:nvSpPr>
        <p:spPr>
          <a:xfrm>
            <a:off x="1097280" y="5303520"/>
            <a:ext cx="9966960" cy="12700"/>
          </a:xfrm>
          <a:prstGeom prst="rect">
            <a:avLst/>
          </a:prstGeom>
          <a:solidFill>
            <a:srgbClr val="3A3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5486400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6B6B6B"/>
                </a:solidFill>
                <a:latin typeface="Calibri"/>
              </a:defRPr>
            </a:pPr>
            <a:r>
              <a:t>RICH is primary: uniquely provides scene scans + vertex contact GT + reliable global coordinates.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0" y="649224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3A3A3A"/>
                </a:solidFill>
                <a:latin typeface="Calibri"/>
              </a:defRPr>
            </a:pPr>
            <a: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548640"/>
            <a:ext cx="9966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6B6B6B"/>
                </a:solidFill>
                <a:latin typeface="Calibri"/>
              </a:defRPr>
            </a:pPr>
            <a:r>
              <a:t>TIMELINE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1005840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600" b="1">
                <a:solidFill>
                  <a:srgbClr val="F5F5F5"/>
                </a:solidFill>
                <a:latin typeface="Calibri"/>
              </a:defRPr>
            </a:pPr>
            <a:r>
              <a:t>8-week plan</a:t>
            </a:r>
          </a:p>
        </p:txBody>
      </p:sp>
      <p:sp>
        <p:nvSpPr>
          <p:cNvPr id="4" name="Rectangle 3"/>
          <p:cNvSpPr/>
          <p:nvPr/>
        </p:nvSpPr>
        <p:spPr>
          <a:xfrm>
            <a:off x="1097280" y="1691640"/>
            <a:ext cx="1828800" cy="12700"/>
          </a:xfrm>
          <a:prstGeom prst="rect">
            <a:avLst/>
          </a:prstGeom>
          <a:solidFill>
            <a:srgbClr val="3A3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201168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5F5F5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6" name="Oval 5"/>
          <p:cNvSpPr/>
          <p:nvPr/>
        </p:nvSpPr>
        <p:spPr>
          <a:xfrm>
            <a:off x="1828800" y="2084832"/>
            <a:ext cx="109728" cy="109728"/>
          </a:xfrm>
          <a:prstGeom prst="ellipse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869948" y="2194560"/>
            <a:ext cx="12700" cy="420624"/>
          </a:xfrm>
          <a:prstGeom prst="rect">
            <a:avLst/>
          </a:prstGeom>
          <a:solidFill>
            <a:srgbClr val="3A3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103120" y="201168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F5F5F5"/>
                </a:solidFill>
                <a:latin typeface="Calibri"/>
              </a:defRPr>
            </a:pPr>
            <a:r>
              <a:t>Setup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0" y="2011680"/>
            <a:ext cx="6400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6B6B6B"/>
                </a:solidFill>
                <a:latin typeface="Calibri"/>
              </a:defRPr>
            </a:pPr>
            <a:r>
              <a:t>Run GVHMR + DA3 on test videos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2542032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5F5F5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11" name="Oval 10"/>
          <p:cNvSpPr/>
          <p:nvPr/>
        </p:nvSpPr>
        <p:spPr>
          <a:xfrm>
            <a:off x="1828800" y="2615184"/>
            <a:ext cx="109728" cy="109728"/>
          </a:xfrm>
          <a:prstGeom prst="ellipse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869948" y="2724912"/>
            <a:ext cx="12700" cy="420624"/>
          </a:xfrm>
          <a:prstGeom prst="rect">
            <a:avLst/>
          </a:prstGeom>
          <a:solidFill>
            <a:srgbClr val="3A3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103120" y="2542032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F5F5F5"/>
                </a:solidFill>
                <a:latin typeface="Calibri"/>
              </a:defRPr>
            </a:pPr>
            <a:r>
              <a:t>Scene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0" y="2542032"/>
            <a:ext cx="6400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6B6B6B"/>
                </a:solidFill>
                <a:latin typeface="Calibri"/>
              </a:defRPr>
            </a:pPr>
            <a:r>
              <a:t>Ground plane RANSAC, gravity alignment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3072384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5F5F5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16" name="Oval 15"/>
          <p:cNvSpPr/>
          <p:nvPr/>
        </p:nvSpPr>
        <p:spPr>
          <a:xfrm>
            <a:off x="1828800" y="3145536"/>
            <a:ext cx="109728" cy="109728"/>
          </a:xfrm>
          <a:prstGeom prst="ellipse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869948" y="3255264"/>
            <a:ext cx="12700" cy="420624"/>
          </a:xfrm>
          <a:prstGeom prst="rect">
            <a:avLst/>
          </a:prstGeom>
          <a:solidFill>
            <a:srgbClr val="3A3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103120" y="3072384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F5F5F5"/>
                </a:solidFill>
                <a:latin typeface="Calibri"/>
              </a:defRPr>
            </a:pPr>
            <a:r>
              <a:t>Contact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0" y="3072384"/>
            <a:ext cx="6400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6B6B6B"/>
                </a:solidFill>
                <a:latin typeface="Calibri"/>
              </a:defRPr>
            </a:pPr>
            <a:r>
              <a:t>Foot contact detection, loss terms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97280" y="3602736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5F5F5"/>
                </a:solidFill>
                <a:latin typeface="Calibri"/>
              </a:defRPr>
            </a:pPr>
            <a:r>
              <a:t>4</a:t>
            </a:r>
          </a:p>
        </p:txBody>
      </p:sp>
      <p:sp>
        <p:nvSpPr>
          <p:cNvPr id="21" name="Oval 20"/>
          <p:cNvSpPr/>
          <p:nvPr/>
        </p:nvSpPr>
        <p:spPr>
          <a:xfrm>
            <a:off x="1828800" y="3675888"/>
            <a:ext cx="109728" cy="109728"/>
          </a:xfrm>
          <a:prstGeom prst="ellipse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1869948" y="3785616"/>
            <a:ext cx="12700" cy="420624"/>
          </a:xfrm>
          <a:prstGeom prst="rect">
            <a:avLst/>
          </a:prstGeom>
          <a:solidFill>
            <a:srgbClr val="3A3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103120" y="3602736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F5F5F5"/>
                </a:solidFill>
                <a:latin typeface="Calibri"/>
              </a:defRPr>
            </a:pPr>
            <a:r>
              <a:t>Physics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57600" y="3602736"/>
            <a:ext cx="6400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6B6B6B"/>
                </a:solidFill>
                <a:latin typeface="Calibri"/>
              </a:defRPr>
            </a:pPr>
            <a:r>
              <a:t>MuJoCo integration, root + feet optimization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97280" y="4133088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6B6B6B"/>
                </a:solidFill>
                <a:latin typeface="Calibri"/>
              </a:defRPr>
            </a:pPr>
            <a:r>
              <a:t>5</a:t>
            </a:r>
          </a:p>
        </p:txBody>
      </p:sp>
      <p:sp>
        <p:nvSpPr>
          <p:cNvPr id="26" name="Oval 25"/>
          <p:cNvSpPr/>
          <p:nvPr/>
        </p:nvSpPr>
        <p:spPr>
          <a:xfrm>
            <a:off x="1828800" y="4206240"/>
            <a:ext cx="109728" cy="109728"/>
          </a:xfrm>
          <a:prstGeom prst="ellipse">
            <a:avLst/>
          </a:prstGeom>
          <a:solidFill>
            <a:srgbClr val="3A3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1869948" y="4315968"/>
            <a:ext cx="12700" cy="420624"/>
          </a:xfrm>
          <a:prstGeom prst="rect">
            <a:avLst/>
          </a:prstGeom>
          <a:solidFill>
            <a:srgbClr val="3A3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103120" y="4133088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F5F5F5"/>
                </a:solidFill>
                <a:latin typeface="Calibri"/>
              </a:defRPr>
            </a:pPr>
            <a:r>
              <a:t>HOI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657600" y="4133088"/>
            <a:ext cx="6400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6B6B6B"/>
                </a:solidFill>
                <a:latin typeface="Calibri"/>
              </a:defRPr>
            </a:pPr>
            <a:r>
              <a:t>Hand/object non-penetration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97280" y="466344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6B6B6B"/>
                </a:solidFill>
                <a:latin typeface="Calibri"/>
              </a:defRPr>
            </a:pPr>
            <a:r>
              <a:t>6</a:t>
            </a:r>
          </a:p>
        </p:txBody>
      </p:sp>
      <p:sp>
        <p:nvSpPr>
          <p:cNvPr id="31" name="Oval 30"/>
          <p:cNvSpPr/>
          <p:nvPr/>
        </p:nvSpPr>
        <p:spPr>
          <a:xfrm>
            <a:off x="1828800" y="4736592"/>
            <a:ext cx="109728" cy="109728"/>
          </a:xfrm>
          <a:prstGeom prst="ellipse">
            <a:avLst/>
          </a:prstGeom>
          <a:solidFill>
            <a:srgbClr val="3A3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1869948" y="4846320"/>
            <a:ext cx="12700" cy="420624"/>
          </a:xfrm>
          <a:prstGeom prst="rect">
            <a:avLst/>
          </a:prstGeom>
          <a:solidFill>
            <a:srgbClr val="3A3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103120" y="466344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F5F5F5"/>
                </a:solidFill>
                <a:latin typeface="Calibri"/>
              </a:defRPr>
            </a:pPr>
            <a:r>
              <a:t>Eval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657600" y="4663440"/>
            <a:ext cx="6400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6B6B6B"/>
                </a:solidFill>
                <a:latin typeface="Calibri"/>
              </a:defRPr>
            </a:pPr>
            <a:r>
              <a:t>RICH, EMDB-2, 3DPW + ablations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97280" y="5193792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6B6B6B"/>
                </a:solidFill>
                <a:latin typeface="Calibri"/>
              </a:defRPr>
            </a:pPr>
            <a:r>
              <a:t>7</a:t>
            </a:r>
          </a:p>
        </p:txBody>
      </p:sp>
      <p:sp>
        <p:nvSpPr>
          <p:cNvPr id="36" name="Oval 35"/>
          <p:cNvSpPr/>
          <p:nvPr/>
        </p:nvSpPr>
        <p:spPr>
          <a:xfrm>
            <a:off x="1828800" y="5266944"/>
            <a:ext cx="109728" cy="109728"/>
          </a:xfrm>
          <a:prstGeom prst="ellipse">
            <a:avLst/>
          </a:prstGeom>
          <a:solidFill>
            <a:srgbClr val="3A3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1869948" y="5376672"/>
            <a:ext cx="12700" cy="420624"/>
          </a:xfrm>
          <a:prstGeom prst="rect">
            <a:avLst/>
          </a:prstGeom>
          <a:solidFill>
            <a:srgbClr val="3A3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2103120" y="5193792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F5F5F5"/>
                </a:solidFill>
                <a:latin typeface="Calibri"/>
              </a:defRPr>
            </a:pPr>
            <a:r>
              <a:t>Robustness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657600" y="5193792"/>
            <a:ext cx="6400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6B6B6B"/>
                </a:solidFill>
                <a:latin typeface="Calibri"/>
              </a:defRPr>
            </a:pPr>
            <a:r>
              <a:t>Chunking, stitching, edge cases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97280" y="5724144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6B6B6B"/>
                </a:solidFill>
                <a:latin typeface="Calibri"/>
              </a:defRPr>
            </a:pPr>
            <a:r>
              <a:t>8</a:t>
            </a:r>
          </a:p>
        </p:txBody>
      </p:sp>
      <p:sp>
        <p:nvSpPr>
          <p:cNvPr id="41" name="Oval 40"/>
          <p:cNvSpPr/>
          <p:nvPr/>
        </p:nvSpPr>
        <p:spPr>
          <a:xfrm>
            <a:off x="1828800" y="5797296"/>
            <a:ext cx="109728" cy="109728"/>
          </a:xfrm>
          <a:prstGeom prst="ellipse">
            <a:avLst/>
          </a:prstGeom>
          <a:solidFill>
            <a:srgbClr val="3A3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2103120" y="5724144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F5F5F5"/>
                </a:solidFill>
                <a:latin typeface="Calibri"/>
              </a:defRPr>
            </a:pPr>
            <a:r>
              <a:t>Demo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657600" y="5724144"/>
            <a:ext cx="6400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6B6B6B"/>
                </a:solidFill>
                <a:latin typeface="Calibri"/>
              </a:defRPr>
            </a:pPr>
            <a:r>
              <a:t>Side-by-side renders, technical report</a:t>
            </a:r>
          </a:p>
        </p:txBody>
      </p:sp>
      <p:sp>
        <p:nvSpPr>
          <p:cNvPr id="44" name="Rectangle 43"/>
          <p:cNvSpPr/>
          <p:nvPr/>
        </p:nvSpPr>
        <p:spPr>
          <a:xfrm>
            <a:off x="1097280" y="6035040"/>
            <a:ext cx="9966960" cy="12700"/>
          </a:xfrm>
          <a:prstGeom prst="rect">
            <a:avLst/>
          </a:prstGeom>
          <a:solidFill>
            <a:srgbClr val="3A3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097280" y="6217920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560"/>
              </a:lnSpc>
              <a:spcAft>
                <a:spcPts val="200"/>
              </a:spcAft>
              <a:defRPr sz="1300" b="0">
                <a:solidFill>
                  <a:srgbClr val="6B6B6B"/>
                </a:solidFill>
                <a:latin typeface="Calibri"/>
              </a:defRPr>
            </a:pPr>
            <a:r>
              <a:t>Weeks 1–4: core value (ground contact + physics)    ·    Weeks 5–8: stretch goals (HOI, robustness, polish)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1430000" y="649224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3A3A3A"/>
                </a:solidFill>
                <a:latin typeface="Calibri"/>
              </a:defRPr>
            </a:pPr>
            <a: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548640"/>
            <a:ext cx="9966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6B6B6B"/>
                </a:solidFill>
                <a:latin typeface="Calibri"/>
              </a:defRPr>
            </a:pPr>
            <a:r>
              <a:t>COMPUTE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1005840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600" b="1">
                <a:solidFill>
                  <a:srgbClr val="F5F5F5"/>
                </a:solidFill>
                <a:latin typeface="Calibri"/>
              </a:defRPr>
            </a:pPr>
            <a:r>
              <a:t>Single consumer GPU</a:t>
            </a:r>
          </a:p>
        </p:txBody>
      </p:sp>
      <p:sp>
        <p:nvSpPr>
          <p:cNvPr id="4" name="Rectangle 3"/>
          <p:cNvSpPr/>
          <p:nvPr/>
        </p:nvSpPr>
        <p:spPr>
          <a:xfrm>
            <a:off x="1097280" y="1691640"/>
            <a:ext cx="1828800" cy="12700"/>
          </a:xfrm>
          <a:prstGeom prst="rect">
            <a:avLst/>
          </a:prstGeom>
          <a:solidFill>
            <a:srgbClr val="3A3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2194560"/>
            <a:ext cx="2926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4000" b="1">
                <a:solidFill>
                  <a:srgbClr val="F5F5F5"/>
                </a:solidFill>
                <a:latin typeface="Calibri"/>
              </a:defRPr>
            </a:pPr>
            <a:r>
              <a:t>&lt; 16 GB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83464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6B6B6B"/>
                </a:solidFill>
                <a:latin typeface="Calibri"/>
              </a:defRPr>
            </a:pPr>
            <a:r>
              <a:t>peak VRAM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480560" y="2194560"/>
            <a:ext cx="2926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4000" b="1">
                <a:solidFill>
                  <a:srgbClr val="F5F5F5"/>
                </a:solidFill>
                <a:latin typeface="Calibri"/>
              </a:defRPr>
            </a:pPr>
            <a:r>
              <a:t>&lt; 2 min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80560" y="283464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6B6B6B"/>
                </a:solidFill>
                <a:latin typeface="Calibri"/>
              </a:defRPr>
            </a:pPr>
            <a:r>
              <a:t>per 1K frames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63840" y="2194560"/>
            <a:ext cx="2926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4000" b="1">
                <a:solidFill>
                  <a:srgbClr val="F5F5F5"/>
                </a:solidFill>
                <a:latin typeface="Calibri"/>
              </a:defRPr>
            </a:pPr>
            <a:r>
              <a:t>1 GPU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63840" y="283464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6B6B6B"/>
                </a:solidFill>
                <a:latin typeface="Calibri"/>
              </a:defRPr>
            </a:pPr>
            <a:r>
              <a:t>RTX 3090 / 4090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97280" y="3474720"/>
            <a:ext cx="9966960" cy="12700"/>
          </a:xfrm>
          <a:prstGeom prst="rect">
            <a:avLst/>
          </a:prstGeom>
          <a:solidFill>
            <a:srgbClr val="3A3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1097280" y="3749039"/>
          <a:ext cx="9966960" cy="164591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2011680"/>
                <a:gridCol w="2743200"/>
                <a:gridCol w="2926080"/>
              </a:tblGrid>
              <a:tr h="329183"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F5F5F5"/>
                          </a:solidFill>
                          <a:latin typeface="Calibri"/>
                        </a:defRPr>
                      </a:pPr>
                      <a:r>
                        <a:t>Component</a:t>
                      </a:r>
                    </a:p>
                  </a:txBody>
                  <a:tcPr marL="73152" marR="73152" marT="36576" marB="36576">
                    <a:solidFill>
                      <a:srgbClr val="18181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5F5F5"/>
                          </a:solidFill>
                          <a:latin typeface="Calibri"/>
                        </a:defRPr>
                      </a:pPr>
                      <a:r>
                        <a:t>VRAM</a:t>
                      </a:r>
                    </a:p>
                  </a:txBody>
                  <a:tcPr marL="73152" marR="73152" marT="36576" marB="36576">
                    <a:solidFill>
                      <a:srgbClr val="18181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5F5F5"/>
                          </a:solidFill>
                          <a:latin typeface="Calibri"/>
                        </a:defRPr>
                      </a:pPr>
                      <a:r>
                        <a:t>Time / 1K frames</a:t>
                      </a:r>
                    </a:p>
                  </a:txBody>
                  <a:tcPr marL="73152" marR="73152" marT="36576" marB="36576">
                    <a:solidFill>
                      <a:srgbClr val="18181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5F5F5"/>
                          </a:solidFill>
                          <a:latin typeface="Calibri"/>
                        </a:defRPr>
                      </a:pPr>
                      <a:r>
                        <a:t>Notes</a:t>
                      </a:r>
                    </a:p>
                  </a:txBody>
                  <a:tcPr marL="73152" marR="73152" marT="36576" marB="36576">
                    <a:solidFill>
                      <a:srgbClr val="181818"/>
                    </a:solidFill>
                  </a:tcPr>
                </a:tc>
              </a:tr>
              <a:tr h="329183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6B6B6B"/>
                          </a:solidFill>
                          <a:latin typeface="Calibri"/>
                        </a:defRPr>
                      </a:pPr>
                      <a:r>
                        <a:t>GVHMR (core)</a:t>
                      </a:r>
                    </a:p>
                  </a:txBody>
                  <a:tcPr marL="73152" marR="73152" marT="36576" marB="36576">
                    <a:solidFill>
                      <a:srgbClr val="0F0F0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6B6B6B"/>
                          </a:solidFill>
                          <a:latin typeface="Calibri"/>
                        </a:defRPr>
                      </a:pPr>
                      <a:r>
                        <a:t>~4 GB</a:t>
                      </a:r>
                    </a:p>
                  </a:txBody>
                  <a:tcPr marL="73152" marR="73152" marT="36576" marB="36576">
                    <a:solidFill>
                      <a:srgbClr val="0F0F0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6B6B6B"/>
                          </a:solidFill>
                          <a:latin typeface="Calibri"/>
                        </a:defRPr>
                      </a:pPr>
                      <a:r>
                        <a:t>~0.2 sec</a:t>
                      </a:r>
                    </a:p>
                  </a:txBody>
                  <a:tcPr marL="73152" marR="73152" marT="36576" marB="36576">
                    <a:solidFill>
                      <a:srgbClr val="0F0F0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6B6B6B"/>
                          </a:solidFill>
                          <a:latin typeface="Calibri"/>
                        </a:defRPr>
                      </a:pPr>
                      <a:r>
                        <a:t>5000 FPS core network</a:t>
                      </a:r>
                    </a:p>
                  </a:txBody>
                  <a:tcPr marL="73152" marR="73152" marT="36576" marB="36576">
                    <a:solidFill>
                      <a:srgbClr val="0F0F0F"/>
                    </a:solidFill>
                  </a:tcPr>
                </a:tc>
              </a:tr>
              <a:tr h="329183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6B6B6B"/>
                          </a:solidFill>
                          <a:latin typeface="Calibri"/>
                        </a:defRPr>
                      </a:pPr>
                      <a:r>
                        <a:t>Human3R</a:t>
                      </a:r>
                    </a:p>
                  </a:txBody>
                  <a:tcPr marL="73152" marR="73152" marT="36576" marB="36576">
                    <a:solidFill>
                      <a:srgbClr val="14141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6B6B6B"/>
                          </a:solidFill>
                          <a:latin typeface="Calibri"/>
                        </a:defRPr>
                      </a:pPr>
                      <a:r>
                        <a:t>~8 GB</a:t>
                      </a:r>
                    </a:p>
                  </a:txBody>
                  <a:tcPr marL="73152" marR="73152" marT="36576" marB="36576">
                    <a:solidFill>
                      <a:srgbClr val="14141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6B6B6B"/>
                          </a:solidFill>
                          <a:latin typeface="Calibri"/>
                        </a:defRPr>
                      </a:pPr>
                      <a:r>
                        <a:t>~67 sec</a:t>
                      </a:r>
                    </a:p>
                  </a:txBody>
                  <a:tcPr marL="73152" marR="73152" marT="36576" marB="36576">
                    <a:solidFill>
                      <a:srgbClr val="14141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6B6B6B"/>
                          </a:solidFill>
                          <a:latin typeface="Calibri"/>
                        </a:defRPr>
                      </a:pPr>
                      <a:r>
                        <a:t>15 FPS end-to-end</a:t>
                      </a:r>
                    </a:p>
                  </a:txBody>
                  <a:tcPr marL="73152" marR="73152" marT="36576" marB="36576">
                    <a:solidFill>
                      <a:srgbClr val="141414"/>
                    </a:solidFill>
                  </a:tcPr>
                </a:tc>
              </a:tr>
              <a:tr h="329183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6B6B6B"/>
                          </a:solidFill>
                          <a:latin typeface="Calibri"/>
                        </a:defRPr>
                      </a:pPr>
                      <a:r>
                        <a:t>DA3-Metric-L</a:t>
                      </a:r>
                    </a:p>
                  </a:txBody>
                  <a:tcPr marL="73152" marR="73152" marT="36576" marB="36576">
                    <a:solidFill>
                      <a:srgbClr val="0F0F0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6B6B6B"/>
                          </a:solidFill>
                          <a:latin typeface="Calibri"/>
                        </a:defRPr>
                      </a:pPr>
                      <a:r>
                        <a:t>&lt;12 GB</a:t>
                      </a:r>
                    </a:p>
                  </a:txBody>
                  <a:tcPr marL="73152" marR="73152" marT="36576" marB="36576">
                    <a:solidFill>
                      <a:srgbClr val="0F0F0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6B6B6B"/>
                          </a:solidFill>
                          <a:latin typeface="Calibri"/>
                        </a:defRPr>
                      </a:pPr>
                      <a:r>
                        <a:t>~13 sec</a:t>
                      </a:r>
                    </a:p>
                  </a:txBody>
                  <a:tcPr marL="73152" marR="73152" marT="36576" marB="36576">
                    <a:solidFill>
                      <a:srgbClr val="0F0F0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6B6B6B"/>
                          </a:solidFill>
                          <a:latin typeface="Calibri"/>
                        </a:defRPr>
                      </a:pPr>
                      <a:r>
                        <a:t>78 FPS, streaming</a:t>
                      </a:r>
                    </a:p>
                  </a:txBody>
                  <a:tcPr marL="73152" marR="73152" marT="36576" marB="36576">
                    <a:solidFill>
                      <a:srgbClr val="0F0F0F"/>
                    </a:solidFill>
                  </a:tcPr>
                </a:tc>
              </a:tr>
              <a:tr h="329187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6B6B6B"/>
                          </a:solidFill>
                          <a:latin typeface="Calibri"/>
                        </a:defRPr>
                      </a:pPr>
                      <a:r>
                        <a:t>MuJoCo optim.</a:t>
                      </a:r>
                    </a:p>
                  </a:txBody>
                  <a:tcPr marL="73152" marR="73152" marT="36576" marB="36576">
                    <a:solidFill>
                      <a:srgbClr val="14141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6B6B6B"/>
                          </a:solidFill>
                          <a:latin typeface="Calibri"/>
                        </a:defRPr>
                      </a:pPr>
                      <a:r>
                        <a:t>CPU</a:t>
                      </a:r>
                    </a:p>
                  </a:txBody>
                  <a:tcPr marL="73152" marR="73152" marT="36576" marB="36576">
                    <a:solidFill>
                      <a:srgbClr val="14141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6B6B6B"/>
                          </a:solidFill>
                          <a:latin typeface="Calibri"/>
                        </a:defRPr>
                      </a:pPr>
                      <a:r>
                        <a:t>~10-30 sec</a:t>
                      </a:r>
                    </a:p>
                  </a:txBody>
                  <a:tcPr marL="73152" marR="73152" marT="36576" marB="36576">
                    <a:solidFill>
                      <a:srgbClr val="14141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6B6B6B"/>
                          </a:solidFill>
                          <a:latin typeface="Calibri"/>
                        </a:defRPr>
                      </a:pPr>
                      <a:r>
                        <a:t>Optimization loop</a:t>
                      </a:r>
                    </a:p>
                  </a:txBody>
                  <a:tcPr marL="73152" marR="73152" marT="36576" marB="36576">
                    <a:solidFill>
                      <a:srgbClr val="141414"/>
                    </a:solidFill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11430000" y="649224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3A3A3A"/>
                </a:solidFill>
                <a:latin typeface="Calibri"/>
              </a:defRPr>
            </a:pPr>
            <a: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548640"/>
            <a:ext cx="9966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6B6B6B"/>
                </a:solidFill>
                <a:latin typeface="Calibri"/>
              </a:defRPr>
            </a:pPr>
            <a:r>
              <a:t>LICENSING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1005840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600" b="1">
                <a:solidFill>
                  <a:srgbClr val="F5F5F5"/>
                </a:solidFill>
                <a:latin typeface="Calibri"/>
              </a:defRPr>
            </a:pPr>
            <a:r>
              <a:t>Fully permissive stack</a:t>
            </a:r>
          </a:p>
        </p:txBody>
      </p:sp>
      <p:sp>
        <p:nvSpPr>
          <p:cNvPr id="4" name="Rectangle 3"/>
          <p:cNvSpPr/>
          <p:nvPr/>
        </p:nvSpPr>
        <p:spPr>
          <a:xfrm>
            <a:off x="1097280" y="1691640"/>
            <a:ext cx="1828800" cy="12700"/>
          </a:xfrm>
          <a:prstGeom prst="rect">
            <a:avLst/>
          </a:prstGeom>
          <a:solidFill>
            <a:srgbClr val="3A3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2286000" y="2103120"/>
          <a:ext cx="7589520" cy="23042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1828800"/>
                <a:gridCol w="3474720"/>
              </a:tblGrid>
              <a:tr h="329184"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F5F5F5"/>
                          </a:solidFill>
                          <a:latin typeface="Calibri"/>
                        </a:defRPr>
                      </a:pPr>
                      <a:r>
                        <a:t>Component</a:t>
                      </a:r>
                    </a:p>
                  </a:txBody>
                  <a:tcPr marL="73152" marR="73152" marT="36576" marB="36576">
                    <a:solidFill>
                      <a:srgbClr val="18181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5F5F5"/>
                          </a:solidFill>
                          <a:latin typeface="Calibri"/>
                        </a:defRPr>
                      </a:pPr>
                      <a:r>
                        <a:t>License</a:t>
                      </a:r>
                    </a:p>
                  </a:txBody>
                  <a:tcPr marL="73152" marR="73152" marT="36576" marB="36576">
                    <a:solidFill>
                      <a:srgbClr val="18181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5F5F5"/>
                          </a:solidFill>
                          <a:latin typeface="Calibri"/>
                        </a:defRPr>
                      </a:pPr>
                      <a:r>
                        <a:t>Role</a:t>
                      </a:r>
                    </a:p>
                  </a:txBody>
                  <a:tcPr marL="73152" marR="73152" marT="36576" marB="36576">
                    <a:solidFill>
                      <a:srgbClr val="181818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F5F5F5"/>
                          </a:solidFill>
                          <a:latin typeface="Calibri"/>
                        </a:defRPr>
                      </a:pPr>
                      <a:r>
                        <a:t>Human3R</a:t>
                      </a:r>
                    </a:p>
                  </a:txBody>
                  <a:tcPr marL="73152" marR="73152" marT="36576" marB="36576">
                    <a:solidFill>
                      <a:srgbClr val="0F0F0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5F5F5"/>
                          </a:solidFill>
                          <a:latin typeface="Calibri"/>
                        </a:defRPr>
                      </a:pPr>
                      <a:r>
                        <a:t>MIT</a:t>
                      </a:r>
                    </a:p>
                  </a:txBody>
                  <a:tcPr marL="73152" marR="73152" marT="36576" marB="36576">
                    <a:solidFill>
                      <a:srgbClr val="0F0F0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5F5F5"/>
                          </a:solidFill>
                          <a:latin typeface="Calibri"/>
                        </a:defRPr>
                      </a:pPr>
                      <a:r>
                        <a:t>Body + scene backbone</a:t>
                      </a:r>
                    </a:p>
                  </a:txBody>
                  <a:tcPr marL="73152" marR="73152" marT="36576" marB="36576">
                    <a:solidFill>
                      <a:srgbClr val="0F0F0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F5F5F5"/>
                          </a:solidFill>
                          <a:latin typeface="Calibri"/>
                        </a:defRPr>
                      </a:pPr>
                      <a:r>
                        <a:t>Depth Anything 3</a:t>
                      </a:r>
                    </a:p>
                  </a:txBody>
                  <a:tcPr marL="73152" marR="73152" marT="36576" marB="36576">
                    <a:solidFill>
                      <a:srgbClr val="14141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5F5F5"/>
                          </a:solidFill>
                          <a:latin typeface="Calibri"/>
                        </a:defRPr>
                      </a:pPr>
                      <a:r>
                        <a:t>Apache-2.0</a:t>
                      </a:r>
                    </a:p>
                  </a:txBody>
                  <a:tcPr marL="73152" marR="73152" marT="36576" marB="36576">
                    <a:solidFill>
                      <a:srgbClr val="14141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5F5F5"/>
                          </a:solidFill>
                          <a:latin typeface="Calibri"/>
                        </a:defRPr>
                      </a:pPr>
                      <a:r>
                        <a:t>Depth / pointmaps</a:t>
                      </a:r>
                    </a:p>
                  </a:txBody>
                  <a:tcPr marL="73152" marR="73152" marT="36576" marB="36576">
                    <a:solidFill>
                      <a:srgbClr val="141414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F5F5F5"/>
                          </a:solidFill>
                          <a:latin typeface="Calibri"/>
                        </a:defRPr>
                      </a:pPr>
                      <a:r>
                        <a:t>MuJoCo</a:t>
                      </a:r>
                    </a:p>
                  </a:txBody>
                  <a:tcPr marL="73152" marR="73152" marT="36576" marB="36576">
                    <a:solidFill>
                      <a:srgbClr val="0F0F0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5F5F5"/>
                          </a:solidFill>
                          <a:latin typeface="Calibri"/>
                        </a:defRPr>
                      </a:pPr>
                      <a:r>
                        <a:t>Apache-2.0</a:t>
                      </a:r>
                    </a:p>
                  </a:txBody>
                  <a:tcPr marL="73152" marR="73152" marT="36576" marB="36576">
                    <a:solidFill>
                      <a:srgbClr val="0F0F0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5F5F5"/>
                          </a:solidFill>
                          <a:latin typeface="Calibri"/>
                        </a:defRPr>
                      </a:pPr>
                      <a:r>
                        <a:t>Physics engine</a:t>
                      </a:r>
                    </a:p>
                  </a:txBody>
                  <a:tcPr marL="73152" marR="73152" marT="36576" marB="36576">
                    <a:solidFill>
                      <a:srgbClr val="0F0F0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6B6B6B"/>
                          </a:solidFill>
                          <a:latin typeface="Calibri"/>
                        </a:defRPr>
                      </a:pPr>
                      <a:r>
                        <a:t>Open3D</a:t>
                      </a:r>
                    </a:p>
                  </a:txBody>
                  <a:tcPr marL="73152" marR="73152" marT="36576" marB="36576">
                    <a:solidFill>
                      <a:srgbClr val="14141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6B6B6B"/>
                          </a:solidFill>
                          <a:latin typeface="Calibri"/>
                        </a:defRPr>
                      </a:pPr>
                      <a:r>
                        <a:t>MIT</a:t>
                      </a:r>
                    </a:p>
                  </a:txBody>
                  <a:tcPr marL="73152" marR="73152" marT="36576" marB="36576">
                    <a:solidFill>
                      <a:srgbClr val="14141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6B6B6B"/>
                          </a:solidFill>
                          <a:latin typeface="Calibri"/>
                        </a:defRPr>
                      </a:pPr>
                      <a:r>
                        <a:t>Point cloud processing</a:t>
                      </a:r>
                    </a:p>
                  </a:txBody>
                  <a:tcPr marL="73152" marR="73152" marT="36576" marB="36576">
                    <a:solidFill>
                      <a:srgbClr val="141414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6B6B6B"/>
                          </a:solidFill>
                          <a:latin typeface="Calibri"/>
                        </a:defRPr>
                      </a:pPr>
                      <a:r>
                        <a:t>trimesh</a:t>
                      </a:r>
                    </a:p>
                  </a:txBody>
                  <a:tcPr marL="73152" marR="73152" marT="36576" marB="36576">
                    <a:solidFill>
                      <a:srgbClr val="0F0F0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6B6B6B"/>
                          </a:solidFill>
                          <a:latin typeface="Calibri"/>
                        </a:defRPr>
                      </a:pPr>
                      <a:r>
                        <a:t>MIT</a:t>
                      </a:r>
                    </a:p>
                  </a:txBody>
                  <a:tcPr marL="73152" marR="73152" marT="36576" marB="36576">
                    <a:solidFill>
                      <a:srgbClr val="0F0F0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6B6B6B"/>
                          </a:solidFill>
                          <a:latin typeface="Calibri"/>
                        </a:defRPr>
                      </a:pPr>
                      <a:r>
                        <a:t>Collision mesh generation</a:t>
                      </a:r>
                    </a:p>
                  </a:txBody>
                  <a:tcPr marL="73152" marR="73152" marT="36576" marB="36576">
                    <a:solidFill>
                      <a:srgbClr val="0F0F0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6B6B6B"/>
                          </a:solidFill>
                          <a:latin typeface="Calibri"/>
                        </a:defRPr>
                      </a:pPr>
                      <a:r>
                        <a:t>PyTorch</a:t>
                      </a:r>
                    </a:p>
                  </a:txBody>
                  <a:tcPr marL="73152" marR="73152" marT="36576" marB="36576">
                    <a:solidFill>
                      <a:srgbClr val="14141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6B6B6B"/>
                          </a:solidFill>
                          <a:latin typeface="Calibri"/>
                        </a:defRPr>
                      </a:pPr>
                      <a:r>
                        <a:t>BSD</a:t>
                      </a:r>
                    </a:p>
                  </a:txBody>
                  <a:tcPr marL="73152" marR="73152" marT="36576" marB="36576">
                    <a:solidFill>
                      <a:srgbClr val="14141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6B6B6B"/>
                          </a:solidFill>
                          <a:latin typeface="Calibri"/>
                        </a:defRPr>
                      </a:pPr>
                      <a:r>
                        <a:t>Optimization backend</a:t>
                      </a:r>
                    </a:p>
                  </a:txBody>
                  <a:tcPr marL="73152" marR="73152" marT="36576" marB="36576">
                    <a:solidFill>
                      <a:srgbClr val="141414"/>
                    </a:solidFill>
                  </a:tcPr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2286000" y="5120640"/>
            <a:ext cx="7589520" cy="12700"/>
          </a:xfrm>
          <a:prstGeom prst="rect">
            <a:avLst/>
          </a:prstGeom>
          <a:solidFill>
            <a:srgbClr val="3A3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286000" y="5303520"/>
            <a:ext cx="7589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5F5F5"/>
                </a:solidFill>
                <a:latin typeface="Calibri"/>
              </a:defRPr>
            </a:pPr>
            <a:r>
              <a:t>Human3R (MIT) + DA3 (Apache-2.0) + MuJoCo (Apache-2.0) = fully open.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0" y="649224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3A3A3A"/>
                </a:solidFill>
                <a:latin typeface="Calibri"/>
              </a:defRPr>
            </a:pPr>
            <a: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548640"/>
            <a:ext cx="9966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6B6B6B"/>
                </a:solidFill>
                <a:latin typeface="Calibri"/>
              </a:defRPr>
            </a:pPr>
            <a:r>
              <a:t>RISKS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1005840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600" b="1">
                <a:solidFill>
                  <a:srgbClr val="F5F5F5"/>
                </a:solidFill>
                <a:latin typeface="Calibri"/>
              </a:defRPr>
            </a:pPr>
            <a:r>
              <a:t>Risk analysis</a:t>
            </a:r>
          </a:p>
        </p:txBody>
      </p:sp>
      <p:sp>
        <p:nvSpPr>
          <p:cNvPr id="4" name="Rectangle 3"/>
          <p:cNvSpPr/>
          <p:nvPr/>
        </p:nvSpPr>
        <p:spPr>
          <a:xfrm>
            <a:off x="1097280" y="1691640"/>
            <a:ext cx="1828800" cy="12700"/>
          </a:xfrm>
          <a:prstGeom prst="rect">
            <a:avLst/>
          </a:prstGeom>
          <a:solidFill>
            <a:srgbClr val="3A3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097280" y="2011680"/>
            <a:ext cx="9966960" cy="12700"/>
          </a:xfrm>
          <a:prstGeom prst="rect">
            <a:avLst/>
          </a:prstGeom>
          <a:solidFill>
            <a:srgbClr val="3A3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2103120"/>
            <a:ext cx="99669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800"/>
              </a:lnSpc>
              <a:spcAft>
                <a:spcPts val="200"/>
              </a:spcAft>
              <a:defRPr sz="1500" b="1">
                <a:solidFill>
                  <a:srgbClr val="F5F5F5"/>
                </a:solidFill>
                <a:latin typeface="Calibri"/>
              </a:defRPr>
            </a:pPr>
            <a:r>
              <a:t>Low    DA3 depth too noisy</a:t>
            </a:r>
          </a:p>
          <a:p>
            <a:pPr>
              <a:lnSpc>
                <a:spcPts val="1560"/>
              </a:lnSpc>
              <a:spcAft>
                <a:spcPts val="200"/>
              </a:spcAft>
              <a:defRPr sz="1300" b="0">
                <a:solidFill>
                  <a:srgbClr val="6B6B6B"/>
                </a:solidFill>
                <a:latin typeface="Calibri"/>
              </a:defRPr>
            </a:pPr>
            <a:r>
              <a:t>          Plane-only proxy; physics corrects residual errors</a:t>
            </a:r>
          </a:p>
        </p:txBody>
      </p:sp>
      <p:sp>
        <p:nvSpPr>
          <p:cNvPr id="7" name="Rectangle 6"/>
          <p:cNvSpPr/>
          <p:nvPr/>
        </p:nvSpPr>
        <p:spPr>
          <a:xfrm>
            <a:off x="1097280" y="2926080"/>
            <a:ext cx="9966960" cy="12700"/>
          </a:xfrm>
          <a:prstGeom prst="rect">
            <a:avLst/>
          </a:prstGeom>
          <a:solidFill>
            <a:srgbClr val="3A3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3017520"/>
            <a:ext cx="99669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800"/>
              </a:lnSpc>
              <a:spcAft>
                <a:spcPts val="200"/>
              </a:spcAft>
              <a:defRPr sz="1500" b="1">
                <a:solidFill>
                  <a:srgbClr val="6B6B6B"/>
                </a:solidFill>
                <a:latin typeface="Calibri"/>
              </a:defRPr>
            </a:pPr>
            <a:r>
              <a:t>Med    MuJoCo integration complex</a:t>
            </a:r>
          </a:p>
          <a:p>
            <a:pPr>
              <a:lnSpc>
                <a:spcPts val="1560"/>
              </a:lnSpc>
              <a:spcAft>
                <a:spcPts val="200"/>
              </a:spcAft>
              <a:defRPr sz="1300" b="0">
                <a:solidFill>
                  <a:srgbClr val="6B6B6B"/>
                </a:solidFill>
                <a:latin typeface="Calibri"/>
              </a:defRPr>
            </a:pPr>
            <a:r>
              <a:t>          Start ground-only; MultiPhys as reference impl.</a:t>
            </a:r>
          </a:p>
        </p:txBody>
      </p:sp>
      <p:sp>
        <p:nvSpPr>
          <p:cNvPr id="9" name="Rectangle 8"/>
          <p:cNvSpPr/>
          <p:nvPr/>
        </p:nvSpPr>
        <p:spPr>
          <a:xfrm>
            <a:off x="1097280" y="3840480"/>
            <a:ext cx="9966960" cy="12700"/>
          </a:xfrm>
          <a:prstGeom prst="rect">
            <a:avLst/>
          </a:prstGeom>
          <a:solidFill>
            <a:srgbClr val="3A3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3931920"/>
            <a:ext cx="99669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800"/>
              </a:lnSpc>
              <a:spcAft>
                <a:spcPts val="200"/>
              </a:spcAft>
              <a:defRPr sz="1500" b="1">
                <a:solidFill>
                  <a:srgbClr val="6B6B6B"/>
                </a:solidFill>
                <a:latin typeface="Calibri"/>
              </a:defRPr>
            </a:pPr>
            <a:r>
              <a:t>Med    GVHMR license restricts publication</a:t>
            </a:r>
          </a:p>
          <a:p>
            <a:pPr>
              <a:lnSpc>
                <a:spcPts val="1560"/>
              </a:lnSpc>
              <a:spcAft>
                <a:spcPts val="200"/>
              </a:spcAft>
              <a:defRPr sz="1300" b="0">
                <a:solidFill>
                  <a:srgbClr val="6B6B6B"/>
                </a:solidFill>
                <a:latin typeface="Calibri"/>
              </a:defRPr>
            </a:pPr>
            <a:r>
              <a:t>          Fall back to Human3R (MIT) — modular swap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97280" y="4754880"/>
            <a:ext cx="9966960" cy="12700"/>
          </a:xfrm>
          <a:prstGeom prst="rect">
            <a:avLst/>
          </a:prstGeom>
          <a:solidFill>
            <a:srgbClr val="3A3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97280" y="4846320"/>
            <a:ext cx="99669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800"/>
              </a:lnSpc>
              <a:spcAft>
                <a:spcPts val="200"/>
              </a:spcAft>
              <a:defRPr sz="1500" b="1">
                <a:solidFill>
                  <a:srgbClr val="F5F5F5"/>
                </a:solidFill>
                <a:latin typeface="Calibri"/>
              </a:defRPr>
            </a:pPr>
            <a:r>
              <a:t>Low    Physics degrades accuracy</a:t>
            </a:r>
          </a:p>
          <a:p>
            <a:pPr>
              <a:lnSpc>
                <a:spcPts val="1560"/>
              </a:lnSpc>
              <a:spcAft>
                <a:spcPts val="200"/>
              </a:spcAft>
              <a:defRPr sz="1300" b="0">
                <a:solidFill>
                  <a:srgbClr val="6B6B6B"/>
                </a:solidFill>
                <a:latin typeface="Calibri"/>
              </a:defRPr>
            </a:pPr>
            <a:r>
              <a:t>          7+ papers show it helps; ablate each term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097280" y="5669280"/>
            <a:ext cx="9966960" cy="12700"/>
          </a:xfrm>
          <a:prstGeom prst="rect">
            <a:avLst/>
          </a:prstGeom>
          <a:solidFill>
            <a:srgbClr val="3A3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97280" y="5760720"/>
            <a:ext cx="99669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800"/>
              </a:lnSpc>
              <a:spcAft>
                <a:spcPts val="200"/>
              </a:spcAft>
              <a:defRPr sz="1500" b="1">
                <a:solidFill>
                  <a:srgbClr val="6B6B6B"/>
                </a:solidFill>
                <a:latin typeface="Calibri"/>
              </a:defRPr>
            </a:pPr>
            <a:r>
              <a:t>Med    Week 5 HOI too ambitious</a:t>
            </a:r>
          </a:p>
          <a:p>
            <a:pPr>
              <a:lnSpc>
                <a:spcPts val="1560"/>
              </a:lnSpc>
              <a:spcAft>
                <a:spcPts val="200"/>
              </a:spcAft>
              <a:defRPr sz="1300" b="0">
                <a:solidFill>
                  <a:srgbClr val="6B6B6B"/>
                </a:solidFill>
                <a:latin typeface="Calibri"/>
              </a:defRPr>
            </a:pPr>
            <a:r>
              <a:t>          HOI is stretch goal; core value is weeks 1–4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430000" y="649224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3A3A3A"/>
                </a:solidFill>
                <a:latin typeface="Calibri"/>
              </a:defRPr>
            </a:pPr>
            <a: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1371600"/>
            <a:ext cx="9966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5600" b="1">
                <a:solidFill>
                  <a:srgbClr val="F5F5F5"/>
                </a:solidFill>
                <a:latin typeface="Calibri"/>
              </a:defRPr>
            </a:pPr>
            <a:r>
              <a:t>Pact3D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0" y="2194560"/>
            <a:ext cx="2103120" cy="254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2468880"/>
            <a:ext cx="9966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6B6B6B"/>
                </a:solidFill>
                <a:latin typeface="Calibri"/>
              </a:defRPr>
            </a:pPr>
            <a:r>
              <a:t>Body Tracker  +  Scene Geometry  +  Physics Layer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86000" y="320040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F5F5F5"/>
                </a:solidFill>
                <a:latin typeface="Calibri"/>
              </a:defRPr>
            </a:pPr>
            <a:r>
              <a:t>Feasible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54880" y="32004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6B6B6B"/>
                </a:solidFill>
                <a:latin typeface="Calibri"/>
              </a:defRPr>
            </a:pPr>
            <a:r>
              <a:t>No training. Pretrained models. 8 weeks. Single GPU.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86000" y="374904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F5F5F5"/>
                </a:solidFill>
                <a:latin typeface="Calibri"/>
              </a:defRPr>
            </a:pPr>
            <a:r>
              <a:t>Impactful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54880" y="374904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6B6B6B"/>
                </a:solidFill>
                <a:latin typeface="Calibri"/>
              </a:defRPr>
            </a:pPr>
            <a:r>
              <a:t>Targets the #1 gap in trackers: physical plausibility.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286000" y="42976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F5F5F5"/>
                </a:solidFill>
                <a:latin typeface="Calibri"/>
              </a:defRPr>
            </a:pPr>
            <a:r>
              <a:t>Evidence-backed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0" y="429768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6B6B6B"/>
                </a:solidFill>
                <a:latin typeface="Calibri"/>
              </a:defRPr>
            </a:pPr>
            <a:r>
              <a:t>7+ papers: physics improves plausibility AND accuracy.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286000" y="484632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F5F5F5"/>
                </a:solidFill>
                <a:latin typeface="Calibri"/>
              </a:defRPr>
            </a:pPr>
            <a:r>
              <a:t>Publication-ready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54880" y="484632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6B6B6B"/>
                </a:solidFill>
                <a:latin typeface="Calibri"/>
              </a:defRPr>
            </a:pPr>
            <a:r>
              <a:t>MIT / Apache stack. Clear benchmarks. Novel integration.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286000" y="539496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F5F5F5"/>
                </a:solidFill>
                <a:latin typeface="Calibri"/>
              </a:defRPr>
            </a:pPr>
            <a:r>
              <a:t>Extensible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54880" y="539496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6B6B6B"/>
                </a:solidFill>
                <a:latin typeface="Calibri"/>
              </a:defRPr>
            </a:pPr>
            <a:r>
              <a:t>Modular. Swap any component as better ones emerge.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097280" y="6126480"/>
            <a:ext cx="9966960" cy="12700"/>
          </a:xfrm>
          <a:prstGeom prst="rect">
            <a:avLst/>
          </a:prstGeom>
          <a:solidFill>
            <a:srgbClr val="3A3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430000" y="649224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3A3A3A"/>
                </a:solidFill>
                <a:latin typeface="Calibri"/>
              </a:defRPr>
            </a:pPr>
            <a:r>
              <a:t>16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