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888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2286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Calibri"/>
              </a:defRPr>
            </a:pPr>
            <a:r>
              <a:t>Paper Deep Dives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3832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  <a:latin typeface="Calibri"/>
              </a:defRPr>
            </a:pPr>
            <a:r>
              <a:t>How they work  ·  Why they matter  ·  Where they fail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4389120"/>
            <a:ext cx="6400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20"/>
              </a:lnSpc>
              <a:spcAft>
                <a:spcPts val="40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GVHMR — World-grounded body tracking</a:t>
            </a:r>
          </a:p>
          <a:p>
            <a:pPr>
              <a:lnSpc>
                <a:spcPts val="2520"/>
              </a:lnSpc>
              <a:spcAft>
                <a:spcPts val="40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ZipMap — Linear-time 3D reconstruction</a:t>
            </a:r>
          </a:p>
          <a:p>
            <a:pPr>
              <a:lnSpc>
                <a:spcPts val="2520"/>
              </a:lnSpc>
              <a:spcAft>
                <a:spcPts val="40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SAM-Body4D — Temporally consistent mesh recovery</a:t>
            </a:r>
          </a:p>
          <a:p>
            <a:pPr>
              <a:lnSpc>
                <a:spcPts val="2520"/>
              </a:lnSpc>
              <a:spcAft>
                <a:spcPts val="40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PhysHMR — Unified visual-to-physics motion</a:t>
            </a:r>
          </a:p>
          <a:p>
            <a:pPr>
              <a:lnSpc>
                <a:spcPts val="2520"/>
              </a:lnSpc>
              <a:spcAft>
                <a:spcPts val="400"/>
              </a:spcAft>
              <a:defRPr sz="1800" b="0">
                <a:solidFill>
                  <a:srgbClr val="FFFFFF"/>
                </a:solidFill>
                <a:latin typeface="Calibri"/>
              </a:defRPr>
            </a:pPr>
            <a:r>
              <a:t>MultiPhys — Multi-person physics correction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11688775" y="6355080"/>
            <a:ext cx="365760" cy="365760"/>
          </a:xfrm>
          <a:prstGeom prst="rect">
            <a:avLst/>
          </a:prstGeom>
          <a:solidFill>
            <a:srgbClr val="7B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B6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GVHMR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Overview — What it solves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400"/>
              </a:spcAft>
              <a:defRPr sz="2000" b="1">
                <a:solidFill>
                  <a:srgbClr val="2B6C8A"/>
                </a:solidFill>
                <a:latin typeface="Calibri"/>
              </a:defRPr>
            </a:pPr>
            <a:r>
              <a:t>Problem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  Recovering world-grounded 3D human motion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  from monocular video</a:t>
            </a:r>
          </a:p>
          <a:p>
            <a:pPr>
              <a:lnSpc>
                <a:spcPts val="1400"/>
              </a:lnSpc>
              <a:spcAft>
                <a:spcPts val="4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240"/>
              </a:lnSpc>
              <a:spcAft>
                <a:spcPts val="40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  <a:r>
              <a:t>Prior approaches fail because: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  Autoregressive models accumulate drift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  Gravity direction rotates over time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  Camera-to-world transforms are noisy</a:t>
            </a:r>
          </a:p>
          <a:p>
            <a:pPr>
              <a:lnSpc>
                <a:spcPts val="1400"/>
              </a:lnSpc>
              <a:spcAft>
                <a:spcPts val="4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800"/>
              </a:lnSpc>
              <a:spcAft>
                <a:spcPts val="400"/>
              </a:spcAft>
              <a:defRPr sz="2000" b="1">
                <a:solidFill>
                  <a:srgbClr val="2B6C8A"/>
                </a:solidFill>
                <a:latin typeface="Calibri"/>
              </a:defRPr>
            </a:pPr>
            <a:r>
              <a:t>Key insight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  Define a coordinate system anchored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  to gravity + camera view direction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  → each frame estimated independently,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  no error accumulation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400"/>
              </a:spcAft>
              <a:defRPr sz="2000" b="1">
                <a:solidFill>
                  <a:srgbClr val="2B6C8A"/>
                </a:solidFill>
                <a:latin typeface="Calibri"/>
              </a:defRPr>
            </a:pPr>
            <a:r>
              <a:t>Specs</a:t>
            </a:r>
          </a:p>
          <a:p>
            <a:pPr>
              <a:lnSpc>
                <a:spcPts val="839"/>
              </a:lnSpc>
              <a:spcAft>
                <a:spcPts val="4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Feed-forward transformer (not recurrent)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Single person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280 ms for 1430 frames on RTX 4090</a:t>
            </a:r>
          </a:p>
          <a:p>
            <a:pPr>
              <a:lnSpc>
                <a:spcPts val="1400"/>
              </a:lnSpc>
              <a:spcAft>
                <a:spcPts val="4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520"/>
              </a:lnSpc>
              <a:spcAft>
                <a:spcPts val="400"/>
              </a:spcAft>
              <a:defRPr sz="1800" b="1">
                <a:solidFill>
                  <a:srgbClr val="2B6C8A"/>
                </a:solidFill>
                <a:latin typeface="Calibri"/>
              </a:defRPr>
            </a:pPr>
            <a:r>
              <a:t>Coordinate spaces</a:t>
            </a:r>
          </a:p>
          <a:p>
            <a:pPr>
              <a:lnSpc>
                <a:spcPts val="839"/>
              </a:lnSpc>
              <a:spcAft>
                <a:spcPts val="4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SMPL space: what the person sees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Camera space: what the camera sees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World space: global fixed reference</a:t>
            </a:r>
          </a:p>
          <a:p>
            <a:pPr>
              <a:lnSpc>
                <a:spcPts val="839"/>
              </a:lnSpc>
              <a:spcAft>
                <a:spcPts val="4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Extrinsics [R|t] = camera position/orientation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Intrinsics K = 3D → 2D projection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0972800" cy="640080"/>
          </a:xfrm>
          <a:prstGeom prst="rect">
            <a:avLst/>
          </a:prstGeom>
          <a:solidFill>
            <a:srgbClr val="F0E6D3"/>
          </a:solidFill>
          <a:ln w="63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8521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6C8A"/>
                </a:solidFill>
                <a:latin typeface="Calibri"/>
              </a:defRPr>
            </a:pPr>
            <a:r>
              <a:t>Feed-forward, gravity-aware body tracking — no drift, no error accumulation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11688775" y="6355080"/>
            <a:ext cx="365760" cy="365760"/>
          </a:xfrm>
          <a:prstGeom prst="rect">
            <a:avLst/>
          </a:prstGeom>
          <a:solidFill>
            <a:srgbClr val="7B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B6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GVHMR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How It Works —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286000" cy="914400"/>
          </a:xfrm>
          <a:prstGeom prst="roundRect">
            <a:avLst/>
          </a:prstGeom>
          <a:solidFill>
            <a:srgbClr val="F0E6D3"/>
          </a:solidFill>
          <a:ln w="190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618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Calibri"/>
              </a:defRPr>
            </a:pPr>
            <a:r>
              <a:t>Input Features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361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BBoxes, 2D keypoints,</a:t>
            </a:r>
            <a:br/>
            <a:r>
              <a:t>image features, camera rotations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148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99999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560320"/>
            <a:ext cx="2286000" cy="822960"/>
          </a:xfrm>
          <a:prstGeom prst="roundRect">
            <a:avLst/>
          </a:prstGeom>
          <a:solidFill>
            <a:srgbClr val="F0E6D3"/>
          </a:solidFill>
          <a:ln w="190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6334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Calibri"/>
              </a:defRPr>
            </a:pPr>
            <a:r>
              <a:t>Early Fusion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9077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Map to same dim → per-frame tokens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429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99999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840480"/>
            <a:ext cx="2286000" cy="914400"/>
          </a:xfrm>
          <a:prstGeom prst="roundRect">
            <a:avLst/>
          </a:prstGeom>
          <a:solidFill>
            <a:srgbClr val="F0E6D3"/>
          </a:solidFill>
          <a:ln w="190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91363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Calibri"/>
              </a:defRPr>
            </a:pPr>
            <a:r>
              <a:t>Relative Transformer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1879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12 layers, 8 heads</a:t>
            </a:r>
            <a:br/>
            <a:r>
              <a:t>Rotary positional encoding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800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99999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212080"/>
            <a:ext cx="2286000" cy="731520"/>
          </a:xfrm>
          <a:prstGeom prst="roundRect">
            <a:avLst/>
          </a:prstGeom>
          <a:solidFill>
            <a:srgbClr val="F0E6D3"/>
          </a:solidFill>
          <a:ln w="190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528523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Calibri"/>
              </a:defRPr>
            </a:pPr>
            <a:r>
              <a:t>Multi-task MLP Heads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55955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Pose, shape, camera,</a:t>
            </a:r>
            <a:br/>
            <a:r>
              <a:t>trajectory, stationary labels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118872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20"/>
              </a:lnSpc>
              <a:spcAft>
                <a:spcPts val="400"/>
              </a:spcAft>
              <a:defRPr sz="1800" b="1">
                <a:solidFill>
                  <a:srgbClr val="2B6C8A"/>
                </a:solidFill>
                <a:latin typeface="Calibri"/>
              </a:defRPr>
            </a:pPr>
            <a:r>
              <a:t>Gravity-View Coordinate System</a:t>
            </a:r>
          </a:p>
          <a:p>
            <a:pPr>
              <a:lnSpc>
                <a:spcPts val="839"/>
              </a:lnSpc>
              <a:spcAft>
                <a:spcPts val="4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1A1A1A"/>
                </a:solidFill>
                <a:latin typeface="Calibri"/>
              </a:defRPr>
            </a:pPr>
            <a:r>
              <a:t>Y = gravity direction (up)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1A1A1A"/>
                </a:solidFill>
                <a:latin typeface="Calibri"/>
              </a:defRPr>
            </a:pPr>
            <a:r>
              <a:t>X = Y × camera view (perpendicular)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1A1A1A"/>
                </a:solidFill>
                <a:latin typeface="Calibri"/>
              </a:defRPr>
            </a:pPr>
            <a:r>
              <a:t>Z = X × Y (roughly camera forward)</a:t>
            </a:r>
          </a:p>
          <a:p>
            <a:pPr>
              <a:lnSpc>
                <a:spcPts val="1120"/>
              </a:lnSpc>
              <a:spcAft>
                <a:spcPts val="400"/>
              </a:spcAft>
              <a:defRPr sz="8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100"/>
              </a:lnSpc>
              <a:spcAft>
                <a:spcPts val="400"/>
              </a:spcAft>
              <a:defRPr sz="1500" b="1">
                <a:solidFill>
                  <a:srgbClr val="1A1A1A"/>
                </a:solidFill>
                <a:latin typeface="Calibri"/>
              </a:defRPr>
            </a:pPr>
            <a:r>
              <a:t>Static camera: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1A1A1A"/>
                </a:solidFill>
                <a:latin typeface="Calibri"/>
              </a:defRPr>
            </a:pPr>
            <a:r>
              <a:t>  GV coord identical every frame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1A1A1A"/>
                </a:solidFill>
                <a:latin typeface="Calibri"/>
              </a:defRPr>
            </a:pPr>
            <a:r>
              <a:t>  Accumulate velocities directly</a:t>
            </a:r>
          </a:p>
          <a:p>
            <a:pPr>
              <a:lnSpc>
                <a:spcPts val="839"/>
              </a:lnSpc>
              <a:spcAft>
                <a:spcPts val="4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100"/>
              </a:lnSpc>
              <a:spcAft>
                <a:spcPts val="400"/>
              </a:spcAft>
              <a:defRPr sz="1500" b="1">
                <a:solidFill>
                  <a:srgbClr val="1A1A1A"/>
                </a:solidFill>
                <a:latin typeface="Calibri"/>
              </a:defRPr>
            </a:pPr>
            <a:r>
              <a:t>Moving camera: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1A1A1A"/>
                </a:solidFill>
                <a:latin typeface="Calibri"/>
              </a:defRPr>
            </a:pPr>
            <a:r>
              <a:t>  Compute rotation between GV systems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1A1A1A"/>
                </a:solidFill>
                <a:latin typeface="Calibri"/>
              </a:defRPr>
            </a:pPr>
            <a:r>
              <a:t>  Transform camera view into GV coord</a:t>
            </a:r>
          </a:p>
          <a:p>
            <a:pPr>
              <a:lnSpc>
                <a:spcPts val="1120"/>
              </a:lnSpc>
              <a:spcAft>
                <a:spcPts val="400"/>
              </a:spcAft>
              <a:defRPr sz="8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100"/>
              </a:lnSpc>
              <a:spcAft>
                <a:spcPts val="400"/>
              </a:spcAft>
              <a:defRPr sz="1500" b="1">
                <a:solidFill>
                  <a:srgbClr val="7B1E1E"/>
                </a:solidFill>
                <a:latin typeface="Calibri"/>
              </a:defRPr>
            </a:pPr>
            <a:r>
              <a:t>No initialization needed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1">
                <a:solidFill>
                  <a:srgbClr val="7B1E1E"/>
                </a:solidFill>
                <a:latin typeface="Calibri"/>
              </a:defRPr>
            </a:pPr>
            <a:r>
              <a:t>Parallel prediction (no autoregression)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118872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20"/>
              </a:lnSpc>
              <a:spcAft>
                <a:spcPts val="400"/>
              </a:spcAft>
              <a:defRPr sz="1800" b="1">
                <a:solidFill>
                  <a:srgbClr val="2B6C8A"/>
                </a:solidFill>
                <a:latin typeface="Calibri"/>
              </a:defRPr>
            </a:pPr>
            <a:r>
              <a:t>Post-Processing</a:t>
            </a:r>
          </a:p>
          <a:p>
            <a:pPr>
              <a:lnSpc>
                <a:spcPts val="839"/>
              </a:lnSpc>
              <a:spcAft>
                <a:spcPts val="4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1A1A1A"/>
                </a:solidFill>
                <a:latin typeface="Calibri"/>
              </a:defRPr>
            </a:pPr>
            <a:r>
              <a:t>Predict stationary probability per joint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1A1A1A"/>
                </a:solidFill>
                <a:latin typeface="Calibri"/>
              </a:defRPr>
            </a:pPr>
            <a:r>
              <a:t>Update global translation frame-by-frame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1A1A1A"/>
                </a:solidFill>
                <a:latin typeface="Calibri"/>
              </a:defRPr>
            </a:pPr>
            <a:r>
              <a:t>Fine-grained stationary contact points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1A1A1A"/>
                </a:solidFill>
                <a:latin typeface="Calibri"/>
              </a:defRPr>
            </a:pPr>
            <a:r>
              <a:t>Inverse kinematics (CCD solver)</a:t>
            </a:r>
          </a:p>
          <a:p>
            <a:pPr>
              <a:lnSpc>
                <a:spcPts val="1400"/>
              </a:lnSpc>
              <a:spcAft>
                <a:spcPts val="4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520"/>
              </a:lnSpc>
              <a:spcAft>
                <a:spcPts val="400"/>
              </a:spcAft>
              <a:defRPr sz="1800" b="1">
                <a:solidFill>
                  <a:srgbClr val="2B6C8A"/>
                </a:solidFill>
                <a:latin typeface="Calibri"/>
              </a:defRPr>
            </a:pPr>
            <a:r>
              <a:t>Weak → Full Perspective</a:t>
            </a:r>
          </a:p>
          <a:p>
            <a:pPr>
              <a:lnSpc>
                <a:spcPts val="839"/>
              </a:lnSpc>
              <a:spcAft>
                <a:spcPts val="4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1A1A1A"/>
                </a:solidFill>
                <a:latin typeface="Calibri"/>
              </a:defRPr>
            </a:pPr>
            <a:r>
              <a:t>Weak perspective = same depth assumed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1A1A1A"/>
                </a:solidFill>
                <a:latin typeface="Calibri"/>
              </a:defRPr>
            </a:pPr>
            <a:r>
              <a:t>Full perspective = real depth + focal len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1A1A1A"/>
                </a:solidFill>
                <a:latin typeface="Calibri"/>
              </a:defRPr>
            </a:pPr>
            <a:r>
              <a:t>CLIFF conversion recovers depth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1A1A1A"/>
                </a:solidFill>
                <a:latin typeface="Calibri"/>
              </a:defRPr>
            </a:pPr>
            <a:r>
              <a:t>from simplified camera params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688775" y="6355080"/>
            <a:ext cx="365760" cy="365760"/>
          </a:xfrm>
          <a:prstGeom prst="rect">
            <a:avLst/>
          </a:prstGeom>
          <a:solidFill>
            <a:srgbClr val="7B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2B6C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GVHMR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Why Good · Where It Fails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79"/>
              </a:lnSpc>
              <a:spcAft>
                <a:spcPts val="400"/>
              </a:spcAft>
              <a:defRPr sz="2200" b="1">
                <a:solidFill>
                  <a:srgbClr val="2B6C8A"/>
                </a:solidFill>
                <a:latin typeface="Calibri"/>
              </a:defRPr>
            </a:pPr>
            <a:r>
              <a:t>Why good</a:t>
            </a:r>
          </a:p>
          <a:p>
            <a:pPr>
              <a:lnSpc>
                <a:spcPts val="839"/>
              </a:lnSpc>
              <a:spcAft>
                <a:spcPts val="4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Gravity-View anchors each frame independently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999999"/>
                </a:solidFill>
                <a:latin typeface="Calibri"/>
              </a:defRPr>
            </a:pPr>
            <a:r>
              <a:t>  → no drift on long videos (WHAM drifts)</a:t>
            </a:r>
          </a:p>
          <a:p>
            <a:pPr>
              <a:lnSpc>
                <a:spcPts val="839"/>
              </a:lnSpc>
              <a:spcAft>
                <a:spcPts val="4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Transformer generalizes to long sequences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999999"/>
                </a:solidFill>
                <a:latin typeface="Calibri"/>
              </a:defRPr>
            </a:pPr>
            <a:r>
              <a:t>  Rotary embeddings encode relative position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999999"/>
                </a:solidFill>
                <a:latin typeface="Calibri"/>
              </a:defRPr>
            </a:pPr>
            <a:r>
              <a:t>  "how far apart" not "which position"</a:t>
            </a:r>
          </a:p>
          <a:p>
            <a:pPr>
              <a:lnSpc>
                <a:spcPts val="839"/>
              </a:lnSpc>
              <a:spcAft>
                <a:spcPts val="4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Multi-task learning boosts camera-space too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999999"/>
                </a:solidFill>
                <a:latin typeface="Calibri"/>
              </a:defRPr>
            </a:pPr>
            <a:r>
              <a:t>  Global motion info improves local estimates</a:t>
            </a:r>
          </a:p>
          <a:p>
            <a:pPr>
              <a:lnSpc>
                <a:spcPts val="839"/>
              </a:lnSpc>
              <a:spcAft>
                <a:spcPts val="4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240"/>
              </a:lnSpc>
              <a:spcAft>
                <a:spcPts val="400"/>
              </a:spcAft>
              <a:defRPr sz="1600" b="1">
                <a:solidFill>
                  <a:srgbClr val="7B1E1E"/>
                </a:solidFill>
                <a:latin typeface="Calibri"/>
              </a:defRPr>
            </a:pPr>
            <a:r>
              <a:t>Best on all global metrics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999999"/>
                </a:solidFill>
                <a:latin typeface="Calibri"/>
              </a:defRPr>
            </a:pPr>
            <a:r>
              <a:t>  Much lower error than WHAM on long videos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999999"/>
                </a:solidFill>
                <a:latin typeface="Calibri"/>
              </a:defRPr>
            </a:pPr>
            <a:r>
              <a:t>  Other methods can't achieve gravity-aligned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79"/>
              </a:lnSpc>
              <a:spcAft>
                <a:spcPts val="400"/>
              </a:spcAft>
              <a:defRPr sz="2200" b="1">
                <a:solidFill>
                  <a:srgbClr val="7B1E1E"/>
                </a:solidFill>
                <a:latin typeface="Calibri"/>
              </a:defRPr>
            </a:pPr>
            <a:r>
              <a:t>Where it fails</a:t>
            </a:r>
          </a:p>
          <a:p>
            <a:pPr>
              <a:lnSpc>
                <a:spcPts val="839"/>
              </a:lnSpc>
              <a:spcAft>
                <a:spcPts val="4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Single person only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No scene awareness / no contact with ground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No physics constraints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Poorer PA-MPJPE vs WHAM on some benchmarks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999999"/>
                </a:solidFill>
                <a:latin typeface="Calibri"/>
              </a:defRPr>
            </a:pPr>
            <a:r>
              <a:t>  (may be SMPL vs SMPLX parameter mismatch)</a:t>
            </a:r>
          </a:p>
          <a:p>
            <a:pPr>
              <a:lnSpc>
                <a:spcPts val="1400"/>
              </a:lnSpc>
              <a:spcAft>
                <a:spcPts val="4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3079"/>
              </a:lnSpc>
              <a:spcAft>
                <a:spcPts val="400"/>
              </a:spcAft>
              <a:defRPr sz="2200" b="1">
                <a:solidFill>
                  <a:srgbClr val="2B6C8A"/>
                </a:solidFill>
                <a:latin typeface="Calibri"/>
              </a:defRPr>
            </a:pPr>
            <a:r>
              <a:t>Runtime breakdown</a:t>
            </a:r>
          </a:p>
          <a:p>
            <a:pPr>
              <a:lnSpc>
                <a:spcPts val="839"/>
              </a:lnSpc>
              <a:spcAft>
                <a:spcPts val="4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1A1A1A"/>
                </a:solidFill>
                <a:latin typeface="Calibri"/>
              </a:defRPr>
            </a:pPr>
            <a:r>
              <a:t>Preprocessing: 46.0 s (1430 frames)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  Detection: 4.9 s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  Pose estimation: 20.0 s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  Feature extraction: 10.1 s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  Visual odometry: 11.0 s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1">
                <a:solidFill>
                  <a:srgbClr val="7B1E1E"/>
                </a:solidFill>
                <a:latin typeface="Calibri"/>
              </a:defRPr>
            </a:pPr>
            <a:r>
              <a:t>Inference: 0.28 s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999999"/>
                </a:solidFill>
                <a:latin typeface="Calibri"/>
              </a:defRPr>
            </a:pPr>
            <a:r>
              <a:t>Bottleneck is preprocessing, not the model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0972800" cy="640080"/>
          </a:xfrm>
          <a:prstGeom prst="rect">
            <a:avLst/>
          </a:prstGeom>
          <a:solidFill>
            <a:srgbClr val="F0E6D3"/>
          </a:solidFill>
          <a:ln w="63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8521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B6C8A"/>
                </a:solidFill>
                <a:latin typeface="Calibri"/>
              </a:defRPr>
            </a:pPr>
            <a:r>
              <a:t>For us: best single-person body backbone — fast, accurate, gravity-aligned. Needs physics + scene on top.</a:t>
            </a:r>
          </a:p>
        </p:txBody>
      </p:sp>
      <p:sp>
        <p:nvSpPr>
          <p:cNvPr id="9" name="Rectangle 8"/>
          <p:cNvSpPr/>
          <p:nvPr/>
        </p:nvSpPr>
        <p:spPr>
          <a:xfrm>
            <a:off x="11688775" y="6355080"/>
            <a:ext cx="365760" cy="365760"/>
          </a:xfrm>
          <a:prstGeom prst="rect">
            <a:avLst/>
          </a:prstGeom>
          <a:solidFill>
            <a:srgbClr val="7B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5A7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ZipMap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Overview — Linear-Time 3D Reconstruction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400"/>
              </a:spcAft>
              <a:defRPr sz="2000" b="1">
                <a:solidFill>
                  <a:srgbClr val="5A7D3A"/>
                </a:solidFill>
                <a:latin typeface="Calibri"/>
              </a:defRPr>
            </a:pPr>
            <a:r>
              <a:t>Problem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  3D reconstruction from image collections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  Existing feed-forward models scale quadratically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  (every image attends to every other image)</a:t>
            </a:r>
          </a:p>
          <a:p>
            <a:pPr>
              <a:lnSpc>
                <a:spcPts val="1400"/>
              </a:lnSpc>
              <a:spcAft>
                <a:spcPts val="4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800"/>
              </a:lnSpc>
              <a:spcAft>
                <a:spcPts val="400"/>
              </a:spcAft>
              <a:defRPr sz="2000" b="1">
                <a:solidFill>
                  <a:srgbClr val="5A7D3A"/>
                </a:solidFill>
                <a:latin typeface="Calibri"/>
              </a:defRPr>
            </a:pPr>
            <a:r>
              <a:t>Key insight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  Replace global attention with test-time training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  → compress all images into learned fast weights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  → linear scaling instead of quadratic</a:t>
            </a:r>
          </a:p>
          <a:p>
            <a:pPr>
              <a:lnSpc>
                <a:spcPts val="1400"/>
              </a:lnSpc>
              <a:spcAft>
                <a:spcPts val="4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800"/>
              </a:lnSpc>
              <a:spcAft>
                <a:spcPts val="400"/>
              </a:spcAft>
              <a:defRPr sz="2000" b="1">
                <a:solidFill>
                  <a:srgbClr val="5A7D3A"/>
                </a:solidFill>
                <a:latin typeface="Calibri"/>
              </a:defRPr>
            </a:pPr>
            <a:r>
              <a:t>Result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  700 frames in &lt;10 seconds (1 GPU)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  Quadratic methods: 200+ seconds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  3× faster than previous linear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400"/>
              </a:spcAft>
              <a:defRPr sz="2000" b="1">
                <a:solidFill>
                  <a:srgbClr val="5A7D3A"/>
                </a:solidFill>
                <a:latin typeface="Calibri"/>
              </a:defRPr>
            </a:pPr>
            <a:r>
              <a:t>Outputs</a:t>
            </a:r>
          </a:p>
          <a:p>
            <a:pPr>
              <a:lnSpc>
                <a:spcPts val="839"/>
              </a:lnSpc>
              <a:spcAft>
                <a:spcPts val="4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Camera poses (4D quaternion + 3D translation)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Point maps (x, y, z per pixel in camera space)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Depth maps + confidence scores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Queryable implicit scene representation</a:t>
            </a:r>
          </a:p>
          <a:p>
            <a:pPr>
              <a:lnSpc>
                <a:spcPts val="1400"/>
              </a:lnSpc>
              <a:spcAft>
                <a:spcPts val="4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800"/>
              </a:lnSpc>
              <a:spcAft>
                <a:spcPts val="400"/>
              </a:spcAft>
              <a:defRPr sz="2000" b="1">
                <a:solidFill>
                  <a:srgbClr val="5A7D3A"/>
                </a:solidFill>
                <a:latin typeface="Calibri"/>
              </a:defRPr>
            </a:pPr>
            <a:r>
              <a:t>Core concept: Fast Weights</a:t>
            </a:r>
          </a:p>
          <a:p>
            <a:pPr>
              <a:lnSpc>
                <a:spcPts val="839"/>
              </a:lnSpc>
              <a:spcAft>
                <a:spcPts val="4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1A1A1A"/>
                </a:solidFill>
                <a:latin typeface="Calibri"/>
              </a:defRPr>
            </a:pPr>
            <a:r>
              <a:t>Standard: weights fixed after training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1A1A1A"/>
                </a:solidFill>
                <a:latin typeface="Calibri"/>
              </a:defRPr>
            </a:pPr>
            <a:r>
              <a:t>Fast weights: change at test time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  Training: learn how to update weights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  Inference: weights adapt per input</a:t>
            </a:r>
          </a:p>
          <a:p>
            <a:pPr>
              <a:lnSpc>
                <a:spcPts val="839"/>
              </a:lnSpc>
              <a:spcAft>
                <a:spcPts val="4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1A1A1A"/>
                </a:solidFill>
                <a:latin typeface="Calibri"/>
              </a:defRPr>
            </a:pPr>
            <a:r>
              <a:t>Like studying flashcards and absorbing them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999999"/>
                </a:solidFill>
                <a:latin typeface="Calibri"/>
              </a:defRPr>
            </a:pPr>
            <a:r>
              <a:t>vs carrying all cards around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0972800" cy="640080"/>
          </a:xfrm>
          <a:prstGeom prst="rect">
            <a:avLst/>
          </a:prstGeom>
          <a:solidFill>
            <a:srgbClr val="F0E6D3"/>
          </a:solidFill>
          <a:ln w="63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8521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A7D3A"/>
                </a:solidFill>
                <a:latin typeface="Calibri"/>
              </a:defRPr>
            </a:pPr>
            <a:r>
              <a:t>Linear-time 3D reconstruction that matches/beats quadratic methods — enables scaling to long videos</a:t>
            </a:r>
          </a:p>
        </p:txBody>
      </p:sp>
      <p:sp>
        <p:nvSpPr>
          <p:cNvPr id="9" name="Rectangle 8"/>
          <p:cNvSpPr/>
          <p:nvPr/>
        </p:nvSpPr>
        <p:spPr>
          <a:xfrm>
            <a:off x="11688775" y="6355080"/>
            <a:ext cx="365760" cy="365760"/>
          </a:xfrm>
          <a:prstGeom prst="rect">
            <a:avLst/>
          </a:prstGeom>
          <a:solidFill>
            <a:srgbClr val="7B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5A7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ZipMap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How It Works —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474720" cy="822960"/>
          </a:xfrm>
          <a:prstGeom prst="roundRect">
            <a:avLst/>
          </a:prstGeom>
          <a:solidFill>
            <a:srgbClr val="F0E6D3"/>
          </a:solidFill>
          <a:ln w="190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618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Calibri"/>
              </a:defRPr>
            </a:pPr>
            <a:r>
              <a:t>Input Tokenization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3619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DINOv2 encoder → 2D feature maps</a:t>
            </a:r>
            <a:br/>
            <a:r>
              <a:t>Ray maps from camera params (9-dim per pixel)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2057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99999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468880"/>
            <a:ext cx="3474720" cy="1280160"/>
          </a:xfrm>
          <a:prstGeom prst="roundRect">
            <a:avLst/>
          </a:prstGeom>
          <a:solidFill>
            <a:srgbClr val="F0E6D3"/>
          </a:solidFill>
          <a:ln w="190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54203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Calibri"/>
              </a:defRPr>
            </a:pPr>
            <a:r>
              <a:t>Feature Backbone (24 blocks)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1635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Local Window Attention</a:t>
            </a:r>
            <a:br/>
            <a:r>
              <a:t>  + rotary pos. encoding</a:t>
            </a:r>
            <a:br/>
            <a:r>
              <a:t>  + spatial relationships within each view</a:t>
            </a:r>
            <a:br/>
            <a:r>
              <a:t>Global TTT Layers</a:t>
            </a:r>
            <a:br/>
            <a:r>
              <a:t>  + compress all tokens into fast weights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0" y="3794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99999"/>
                </a:solidFill>
                <a:latin typeface="Calibri"/>
              </a:defRPr>
            </a:pPr>
            <a: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206240"/>
            <a:ext cx="3474720" cy="1463040"/>
          </a:xfrm>
          <a:prstGeom prst="roundRect">
            <a:avLst/>
          </a:prstGeom>
          <a:solidFill>
            <a:srgbClr val="F0E6D3"/>
          </a:solidFill>
          <a:ln w="190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427939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Calibri"/>
              </a:defRPr>
            </a:pPr>
            <a:r>
              <a:t>Prediction Heads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55371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Camera: quaternion + translation + intrinsics</a:t>
            </a:r>
            <a:br/>
            <a:r>
              <a:t>Point: (x,y,z) per pixel</a:t>
            </a:r>
            <a:br/>
            <a:r>
              <a:t>Depth: distance + confidence</a:t>
            </a:r>
            <a:br/>
            <a:r>
              <a:t>Query: novel viewpoint synthesis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188720"/>
            <a:ext cx="6858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400"/>
              </a:spcAft>
              <a:defRPr sz="2000" b="1">
                <a:solidFill>
                  <a:srgbClr val="5A7D3A"/>
                </a:solidFill>
                <a:latin typeface="Calibri"/>
              </a:defRPr>
            </a:pPr>
            <a:r>
              <a:t>Test-Time Training (TTT) Block</a:t>
            </a:r>
          </a:p>
          <a:p>
            <a:pPr>
              <a:lnSpc>
                <a:spcPts val="839"/>
              </a:lnSpc>
              <a:spcAft>
                <a:spcPts val="4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The core innovation that makes it linear:</a:t>
            </a:r>
          </a:p>
          <a:p>
            <a:pPr>
              <a:lnSpc>
                <a:spcPts val="839"/>
              </a:lnSpc>
              <a:spcAft>
                <a:spcPts val="4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240"/>
              </a:lnSpc>
              <a:spcAft>
                <a:spcPts val="40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  <a:r>
              <a:t>Attention approach (quadratic):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1A1A1A"/>
                </a:solidFill>
                <a:latin typeface="Calibri"/>
              </a:defRPr>
            </a:pPr>
            <a:r>
              <a:t>  Store all tokens, attend to all of them every time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  Cost grows with number of images squared</a:t>
            </a:r>
          </a:p>
          <a:p>
            <a:pPr>
              <a:lnSpc>
                <a:spcPts val="839"/>
              </a:lnSpc>
              <a:spcAft>
                <a:spcPts val="4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240"/>
              </a:lnSpc>
              <a:spcAft>
                <a:spcPts val="400"/>
              </a:spcAft>
              <a:defRPr sz="1600" b="1">
                <a:solidFill>
                  <a:srgbClr val="5A7D3A"/>
                </a:solidFill>
                <a:latin typeface="Calibri"/>
              </a:defRPr>
            </a:pPr>
            <a:r>
              <a:t>TTT approach (linear):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1A1A1A"/>
                </a:solidFill>
                <a:latin typeface="Calibri"/>
              </a:defRPr>
            </a:pPr>
            <a:r>
              <a:t>  Each token has key-value pairs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1A1A1A"/>
                </a:solidFill>
                <a:latin typeface="Calibri"/>
              </a:defRPr>
            </a:pPr>
            <a:r>
              <a:t>  Compute gradient of reconstruction loss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1A1A1A"/>
                </a:solidFill>
                <a:latin typeface="Calibri"/>
              </a:defRPr>
            </a:pPr>
            <a:r>
              <a:t>  Update fast-weight MLP: fw(x) = W₂(SiLU(W₁x) ⊙ W₃x)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1A1A1A"/>
                </a:solidFill>
                <a:latin typeface="Calibri"/>
              </a:defRPr>
            </a:pPr>
            <a:r>
              <a:t>  MLP absorbs all context → throw away raw tokens</a:t>
            </a:r>
          </a:p>
          <a:p>
            <a:pPr>
              <a:lnSpc>
                <a:spcPts val="1120"/>
              </a:lnSpc>
              <a:spcAft>
                <a:spcPts val="400"/>
              </a:spcAft>
              <a:defRPr sz="8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240"/>
              </a:lnSpc>
              <a:spcAft>
                <a:spcPts val="40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  <a:r>
              <a:t>Two modes: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1A1A1A"/>
                </a:solidFill>
                <a:latin typeface="Calibri"/>
              </a:defRPr>
            </a:pPr>
            <a:r>
              <a:t>  Bidirectional: see everything at once (more accurate)</a:t>
            </a:r>
          </a:p>
          <a:p>
            <a:pPr>
              <a:lnSpc>
                <a:spcPts val="1820"/>
              </a:lnSpc>
              <a:spcAft>
                <a:spcPts val="400"/>
              </a:spcAft>
              <a:defRPr sz="1300" b="0">
                <a:solidFill>
                  <a:srgbClr val="999999"/>
                </a:solidFill>
                <a:latin typeface="Calibri"/>
              </a:defRPr>
            </a:pPr>
            <a:r>
              <a:t>     image 50 can inform image 1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1A1A1A"/>
                </a:solidFill>
                <a:latin typeface="Calibri"/>
              </a:defRPr>
            </a:pPr>
            <a:r>
              <a:t>  Streaming: process sequentially (causal)</a:t>
            </a:r>
          </a:p>
          <a:p>
            <a:pPr>
              <a:lnSpc>
                <a:spcPts val="1820"/>
              </a:lnSpc>
              <a:spcAft>
                <a:spcPts val="400"/>
              </a:spcAft>
              <a:defRPr sz="1300" b="0">
                <a:solidFill>
                  <a:srgbClr val="999999"/>
                </a:solidFill>
                <a:latin typeface="Calibri"/>
              </a:defRPr>
            </a:pPr>
            <a:r>
              <a:t>     each image does one gradient step</a:t>
            </a:r>
          </a:p>
          <a:p>
            <a:pPr>
              <a:lnSpc>
                <a:spcPts val="1820"/>
              </a:lnSpc>
              <a:spcAft>
                <a:spcPts val="400"/>
              </a:spcAft>
              <a:defRPr sz="1300" b="0">
                <a:solidFill>
                  <a:srgbClr val="999999"/>
                </a:solidFill>
                <a:latin typeface="Calibri"/>
              </a:defRPr>
            </a:pPr>
            <a:r>
              <a:t>     image 1 can't benefit from image 50</a:t>
            </a:r>
          </a:p>
          <a:p>
            <a:pPr>
              <a:lnSpc>
                <a:spcPts val="1120"/>
              </a:lnSpc>
              <a:spcAft>
                <a:spcPts val="400"/>
              </a:spcAft>
              <a:defRPr sz="8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7B1E1E"/>
                </a:solidFill>
                <a:latin typeface="Calibri"/>
              </a:defRPr>
            </a:pPr>
            <a:r>
              <a:t>Dynamic per-token learning rate &gt; fixed global rate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688775" y="6355080"/>
            <a:ext cx="365760" cy="365760"/>
          </a:xfrm>
          <a:prstGeom prst="rect">
            <a:avLst/>
          </a:prstGeom>
          <a:solidFill>
            <a:srgbClr val="7B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5A7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ZipMap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Why Good · Where It Fails · How We Use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79"/>
              </a:lnSpc>
              <a:spcAft>
                <a:spcPts val="400"/>
              </a:spcAft>
              <a:defRPr sz="2200" b="1">
                <a:solidFill>
                  <a:srgbClr val="5A7D3A"/>
                </a:solidFill>
                <a:latin typeface="Calibri"/>
              </a:defRPr>
            </a:pPr>
            <a:r>
              <a:t>Why good</a:t>
            </a:r>
          </a:p>
          <a:p>
            <a:pPr>
              <a:lnSpc>
                <a:spcPts val="839"/>
              </a:lnSpc>
              <a:spcAft>
                <a:spcPts val="4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State-of-the-art camera pose accuracy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Dense point maps match/exceed quadratic models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Implicit scene rep queryable at ~100 FPS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Bidirectional AND streaming support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24 layers local attention + TTT, trained on 64 H100s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661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79"/>
              </a:lnSpc>
              <a:spcAft>
                <a:spcPts val="400"/>
              </a:spcAft>
              <a:defRPr sz="2200" b="1">
                <a:solidFill>
                  <a:srgbClr val="7B1E1E"/>
                </a:solidFill>
                <a:latin typeface="Calibri"/>
              </a:defRPr>
            </a:pPr>
            <a:r>
              <a:t>Where it fails / Limitations</a:t>
            </a:r>
          </a:p>
          <a:p>
            <a:pPr>
              <a:lnSpc>
                <a:spcPts val="839"/>
              </a:lnSpc>
              <a:spcAft>
                <a:spcPts val="4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Streaming mode less accurate than bidirectional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Requires DINOv2 features (heavyweight encoder)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No explicit human modeling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Trained on 64 H100s (not easy to retrain)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79"/>
              </a:lnSpc>
              <a:spcAft>
                <a:spcPts val="400"/>
              </a:spcAft>
              <a:defRPr sz="2200" b="1">
                <a:solidFill>
                  <a:srgbClr val="5A7D3A"/>
                </a:solidFill>
                <a:latin typeface="Calibri"/>
              </a:defRPr>
            </a:pPr>
            <a:r>
              <a:t>How we can use this</a:t>
            </a:r>
          </a:p>
          <a:p>
            <a:pPr>
              <a:lnSpc>
                <a:spcPts val="839"/>
              </a:lnSpc>
              <a:spcAft>
                <a:spcPts val="4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Scene backbone for physics-aware pipeline: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1A1A1A"/>
                </a:solidFill>
                <a:latin typeface="Calibri"/>
              </a:defRPr>
            </a:pPr>
            <a:r>
              <a:t>  → Dense geometry for contact surfaces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1A1A1A"/>
                </a:solidFill>
                <a:latin typeface="Calibri"/>
              </a:defRPr>
            </a:pPr>
            <a:r>
              <a:t>  → Camera poses for world-grounding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1A1A1A"/>
                </a:solidFill>
                <a:latin typeface="Calibri"/>
              </a:defRPr>
            </a:pPr>
            <a:r>
              <a:t>  → Real-time querying for novel views</a:t>
            </a:r>
          </a:p>
          <a:p>
            <a:pPr>
              <a:lnSpc>
                <a:spcPts val="1120"/>
              </a:lnSpc>
              <a:spcAft>
                <a:spcPts val="400"/>
              </a:spcAft>
              <a:defRPr sz="8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240"/>
              </a:lnSpc>
              <a:spcAft>
                <a:spcPts val="40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  <a:r>
              <a:t>Alternative to Depth Anything 3: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1A1A1A"/>
                </a:solidFill>
                <a:latin typeface="Calibri"/>
              </a:defRPr>
            </a:pPr>
            <a:r>
              <a:t>  ZipMap: full 3D reconstruction, heavier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1A1A1A"/>
                </a:solidFill>
                <a:latin typeface="Calibri"/>
              </a:defRPr>
            </a:pPr>
            <a:r>
              <a:t>  DA3: depth + poses, lighter, streaming</a:t>
            </a:r>
          </a:p>
          <a:p>
            <a:pPr>
              <a:lnSpc>
                <a:spcPts val="1120"/>
              </a:lnSpc>
              <a:spcAft>
                <a:spcPts val="400"/>
              </a:spcAft>
              <a:defRPr sz="8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240"/>
              </a:lnSpc>
              <a:spcAft>
                <a:spcPts val="40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  <a:r>
              <a:t>Implicit rep lets us: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1A1A1A"/>
                </a:solidFill>
                <a:latin typeface="Calibri"/>
              </a:defRPr>
            </a:pPr>
            <a:r>
              <a:t>  Query ground plane geometry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1A1A1A"/>
                </a:solidFill>
                <a:latin typeface="Calibri"/>
              </a:defRPr>
            </a:pPr>
            <a:r>
              <a:t>  Build SDF for penetration constraints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1A1A1A"/>
                </a:solidFill>
                <a:latin typeface="Calibri"/>
              </a:defRPr>
            </a:pPr>
            <a:r>
              <a:t>  Back-project into colored point cloud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0972800" cy="640080"/>
          </a:xfrm>
          <a:prstGeom prst="rect">
            <a:avLst/>
          </a:prstGeom>
          <a:solidFill>
            <a:srgbClr val="F0E6D3"/>
          </a:solidFill>
          <a:ln w="63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8521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A7D3A"/>
                </a:solidFill>
                <a:latin typeface="Calibri"/>
              </a:defRPr>
            </a:pPr>
            <a:r>
              <a:t>Linear-time scene reconstruction — potential scene backbone, especially for dense contact geometry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688775" y="6355080"/>
            <a:ext cx="365760" cy="365760"/>
          </a:xfrm>
          <a:prstGeom prst="rect">
            <a:avLst/>
          </a:prstGeom>
          <a:solidFill>
            <a:srgbClr val="7B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SAM-Body4D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Overview — Temporally Consistent Mesh Recovery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400"/>
              </a:spcAft>
              <a:defRPr sz="2000" b="1">
                <a:solidFill>
                  <a:srgbClr val="8B5C2A"/>
                </a:solidFill>
                <a:latin typeface="Calibri"/>
              </a:defRPr>
            </a:pPr>
            <a:r>
              <a:t>Problem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  Per-frame 3D body estimation is temporally inconsistent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  Occlusions cause degraded/hallucinated predictions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  Optimization-based video methods need large annotated data</a:t>
            </a:r>
          </a:p>
          <a:p>
            <a:pPr>
              <a:lnSpc>
                <a:spcPts val="1400"/>
              </a:lnSpc>
              <a:spcAft>
                <a:spcPts val="4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800"/>
              </a:lnSpc>
              <a:spcAft>
                <a:spcPts val="400"/>
              </a:spcAft>
              <a:defRPr sz="2000" b="1">
                <a:solidFill>
                  <a:srgbClr val="8B5C2A"/>
                </a:solidFill>
                <a:latin typeface="Calibri"/>
              </a:defRPr>
            </a:pPr>
            <a:r>
              <a:t>Key insight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  Videos have inherent human continuity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  Track identity-consistent masks across frames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  Transfer temporal coherence to 3D mesh output</a:t>
            </a:r>
          </a:p>
          <a:p>
            <a:pPr>
              <a:lnSpc>
                <a:spcPts val="1400"/>
              </a:lnSpc>
              <a:spcAft>
                <a:spcPts val="4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240"/>
              </a:lnSpc>
              <a:spcAft>
                <a:spcPts val="40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  <a:r>
              <a:t>Uses decoupled body representation: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1A1A1A"/>
                </a:solidFill>
                <a:latin typeface="Calibri"/>
              </a:defRPr>
            </a:pPr>
            <a:r>
              <a:t>  Skeleton (joint positions) predicted separately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1A1A1A"/>
                </a:solidFill>
                <a:latin typeface="Calibri"/>
              </a:defRPr>
            </a:pPr>
            <a:r>
              <a:t>  Shape (body surface) predicted separately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1A1A1A"/>
                </a:solidFill>
                <a:latin typeface="Calibri"/>
              </a:defRPr>
            </a:pPr>
            <a:r>
              <a:t>  Then combined → each branch can specialize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20"/>
              </a:lnSpc>
              <a:spcAft>
                <a:spcPts val="400"/>
              </a:spcAft>
              <a:defRPr sz="1800" b="1">
                <a:solidFill>
                  <a:srgbClr val="8B5C2A"/>
                </a:solidFill>
                <a:latin typeface="Calibri"/>
              </a:defRPr>
            </a:pPr>
            <a:r>
              <a:t>Why better than standard parametric models?</a:t>
            </a:r>
          </a:p>
          <a:p>
            <a:pPr>
              <a:lnSpc>
                <a:spcPts val="839"/>
              </a:lnSpc>
              <a:spcAft>
                <a:spcPts val="4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240"/>
              </a:lnSpc>
              <a:spcAft>
                <a:spcPts val="40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  <a:r>
              <a:t>Scalable data engine: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1A1A1A"/>
                </a:solidFill>
                <a:latin typeface="Calibri"/>
              </a:defRPr>
            </a:pPr>
            <a:r>
              <a:t>  Augmented + generated + multi-view data</a:t>
            </a:r>
          </a:p>
          <a:p>
            <a:pPr>
              <a:lnSpc>
                <a:spcPts val="839"/>
              </a:lnSpc>
              <a:spcAft>
                <a:spcPts val="4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240"/>
              </a:lnSpc>
              <a:spcAft>
                <a:spcPts val="40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  <a:r>
              <a:t>Separate body/hand optimization: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1A1A1A"/>
                </a:solidFill>
                <a:latin typeface="Calibri"/>
              </a:defRPr>
            </a:pPr>
            <a:r>
              <a:t>  Different strategies per body part</a:t>
            </a:r>
          </a:p>
          <a:p>
            <a:pPr>
              <a:lnSpc>
                <a:spcPts val="839"/>
              </a:lnSpc>
              <a:spcAft>
                <a:spcPts val="4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240"/>
              </a:lnSpc>
              <a:spcAft>
                <a:spcPts val="40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  <a:r>
              <a:t>Decoupled skeleton/shape: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1A1A1A"/>
                </a:solidFill>
                <a:latin typeface="Calibri"/>
              </a:defRPr>
            </a:pPr>
            <a:r>
              <a:t>  Standard: shape affects joint positions (coupled)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1A1A1A"/>
                </a:solidFill>
                <a:latin typeface="Calibri"/>
              </a:defRPr>
            </a:pPr>
            <a:r>
              <a:t>  This: predict separately, then combine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1A1A1A"/>
                </a:solidFill>
                <a:latin typeface="Calibri"/>
              </a:defRPr>
            </a:pPr>
            <a:r>
              <a:t>  Skeleton = easier, shape = varies across people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1A1A1A"/>
                </a:solidFill>
                <a:latin typeface="Calibri"/>
              </a:defRPr>
            </a:pPr>
            <a:r>
              <a:t>  but shape doesn't change within a video</a:t>
            </a:r>
          </a:p>
          <a:p>
            <a:pPr>
              <a:lnSpc>
                <a:spcPts val="1400"/>
              </a:lnSpc>
              <a:spcAft>
                <a:spcPts val="4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Single GPU inference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0972800" cy="640080"/>
          </a:xfrm>
          <a:prstGeom prst="rect">
            <a:avLst/>
          </a:prstGeom>
          <a:solidFill>
            <a:srgbClr val="F0E6D3"/>
          </a:solidFill>
          <a:ln w="63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8521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2A"/>
                </a:solidFill>
                <a:latin typeface="Calibri"/>
              </a:defRPr>
            </a:pPr>
            <a:r>
              <a:t>Brings temporal consistency to body mesh recovery via video segmentation — handles occlusions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11688775" y="6355080"/>
            <a:ext cx="365760" cy="365760"/>
          </a:xfrm>
          <a:prstGeom prst="rect">
            <a:avLst/>
          </a:prstGeom>
          <a:solidFill>
            <a:srgbClr val="7B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SAM-Body4D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How It Works —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3200400" cy="1463040"/>
          </a:xfrm>
          <a:prstGeom prst="roundRect">
            <a:avLst/>
          </a:prstGeom>
          <a:solidFill>
            <a:srgbClr val="F0E6D3"/>
          </a:solidFill>
          <a:ln w="190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6187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Calibri"/>
              </a:defRPr>
            </a:pPr>
            <a:r>
              <a:t>1. Masklet Generator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3619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Promptable video segmentation</a:t>
            </a:r>
            <a:br/>
            <a:r>
              <a:t>Propagate: spatial-temporal</a:t>
            </a:r>
            <a:br/>
            <a:r>
              <a:t>  correspondences across frames</a:t>
            </a:r>
            <a:br/>
            <a:r>
              <a:t>Detect: semantic associations</a:t>
            </a:r>
            <a:br/>
            <a:r>
              <a:t>  between prompt and objects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188720"/>
            <a:ext cx="3840480" cy="1463040"/>
          </a:xfrm>
          <a:prstGeom prst="roundRect">
            <a:avLst/>
          </a:prstGeom>
          <a:solidFill>
            <a:srgbClr val="F0E6D3"/>
          </a:solidFill>
          <a:ln w="190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1960" y="126187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Calibri"/>
              </a:defRPr>
            </a:pPr>
            <a:r>
              <a:t>2. Occlusion-Aware Refiner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1536192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Diffusion-based inpainting predicts</a:t>
            </a:r>
            <a:br/>
            <a:r>
              <a:t>  full body mask (even occluded parts)</a:t>
            </a:r>
            <a:br/>
            <a:r>
              <a:t>Compare with original → detect occlusion</a:t>
            </a:r>
            <a:br/>
            <a:r>
              <a:t>Group flagged frames into chunks</a:t>
            </a:r>
            <a:br/>
            <a:r>
              <a:t>Inpaint actual RGB pixels behind occluder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12480" y="1188720"/>
            <a:ext cx="3200400" cy="1463040"/>
          </a:xfrm>
          <a:prstGeom prst="roundRect">
            <a:avLst/>
          </a:prstGeom>
          <a:solidFill>
            <a:srgbClr val="F0E6D3"/>
          </a:solidFill>
          <a:ln w="190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126187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Calibri"/>
              </a:defRPr>
            </a:pPr>
            <a:r>
              <a:t>3. Mask-Guided HMR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49640" y="153619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Per-frame mesh estimation</a:t>
            </a:r>
            <a:br/>
            <a:r>
              <a:t>Guided by consistent masklets</a:t>
            </a:r>
            <a:br/>
            <a:r>
              <a:t>Temporal coherence naturally</a:t>
            </a:r>
            <a:br/>
            <a:r>
              <a:t>  propagated to output meshes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0175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40"/>
              </a:lnSpc>
              <a:spcAft>
                <a:spcPts val="40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  <a:r>
              <a:t>Masklet = per-object mask tracked across frames</a:t>
            </a:r>
          </a:p>
          <a:p>
            <a:pPr>
              <a:lnSpc>
                <a:spcPts val="839"/>
              </a:lnSpc>
              <a:spcAft>
                <a:spcPts val="4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1A1A1A"/>
                </a:solidFill>
                <a:latin typeface="Calibri"/>
              </a:defRPr>
            </a:pPr>
            <a:r>
              <a:t>Propagation carries mask labels through time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  preserving identity and continuity</a:t>
            </a:r>
          </a:p>
          <a:p>
            <a:pPr>
              <a:lnSpc>
                <a:spcPts val="1120"/>
              </a:lnSpc>
              <a:spcAft>
                <a:spcPts val="400"/>
              </a:spcAft>
              <a:defRPr sz="8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240"/>
              </a:lnSpc>
              <a:spcAft>
                <a:spcPts val="400"/>
              </a:spcAft>
              <a:defRPr sz="1600" b="1">
                <a:solidFill>
                  <a:srgbClr val="8B5C2A"/>
                </a:solidFill>
                <a:latin typeface="Calibri"/>
              </a:defRPr>
            </a:pPr>
            <a:r>
              <a:t>Occlusion handling is the key differentiator:</a:t>
            </a:r>
          </a:p>
          <a:p>
            <a:pPr>
              <a:lnSpc>
                <a:spcPts val="839"/>
              </a:lnSpc>
              <a:spcAft>
                <a:spcPts val="4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1A1A1A"/>
                </a:solidFill>
                <a:latin typeface="Calibri"/>
              </a:defRPr>
            </a:pPr>
            <a:r>
              <a:t>1. Predict full body mask (diffusion model)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1A1A1A"/>
                </a:solidFill>
                <a:latin typeface="Calibri"/>
              </a:defRPr>
            </a:pPr>
            <a:r>
              <a:t>2. Compare with actual visible mask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1A1A1A"/>
                </a:solidFill>
                <a:latin typeface="Calibri"/>
              </a:defRPr>
            </a:pPr>
            <a:r>
              <a:t>3. If mismatch → occlusion detected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1A1A1A"/>
                </a:solidFill>
                <a:latin typeface="Calibri"/>
              </a:defRPr>
            </a:pPr>
            <a:r>
              <a:t>4. Inpaint missing RGB pixels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1A1A1A"/>
                </a:solidFill>
                <a:latin typeface="Calibri"/>
              </a:defRPr>
            </a:pPr>
            <a:r>
              <a:t>5. Feed clean image to mesh estimator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0175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240"/>
              </a:lnSpc>
              <a:spcAft>
                <a:spcPts val="400"/>
              </a:spcAft>
              <a:defRPr sz="1600" b="1">
                <a:solidFill>
                  <a:srgbClr val="8B5C2A"/>
                </a:solidFill>
                <a:latin typeface="Calibri"/>
              </a:defRPr>
            </a:pPr>
            <a:r>
              <a:t>Prior HMR approaches</a:t>
            </a:r>
          </a:p>
          <a:p>
            <a:pPr>
              <a:lnSpc>
                <a:spcPts val="839"/>
              </a:lnSpc>
              <a:spcAft>
                <a:spcPts val="4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100"/>
              </a:lnSpc>
              <a:spcAft>
                <a:spcPts val="400"/>
              </a:spcAft>
              <a:defRPr sz="1500" b="1">
                <a:solidFill>
                  <a:srgbClr val="1A1A1A"/>
                </a:solidFill>
                <a:latin typeface="Calibri"/>
              </a:defRPr>
            </a:pPr>
            <a:r>
              <a:t>Regression-based: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1A1A1A"/>
                </a:solidFill>
                <a:latin typeface="Calibri"/>
              </a:defRPr>
            </a:pPr>
            <a:r>
              <a:t>  Regress parametric model params from features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  No occlusion handling</a:t>
            </a:r>
          </a:p>
          <a:p>
            <a:pPr>
              <a:lnSpc>
                <a:spcPts val="839"/>
              </a:lnSpc>
              <a:spcAft>
                <a:spcPts val="4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100"/>
              </a:lnSpc>
              <a:spcAft>
                <a:spcPts val="400"/>
              </a:spcAft>
              <a:defRPr sz="1500" b="1">
                <a:solidFill>
                  <a:srgbClr val="1A1A1A"/>
                </a:solidFill>
                <a:latin typeface="Calibri"/>
              </a:defRPr>
            </a:pPr>
            <a:r>
              <a:t>Token-based: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1A1A1A"/>
                </a:solidFill>
                <a:latin typeface="Calibri"/>
              </a:defRPr>
            </a:pPr>
            <a:r>
              <a:t>  Joints/vertices as learnable tokens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1A1A1A"/>
                </a:solidFill>
                <a:latin typeface="Calibri"/>
              </a:defRPr>
            </a:pPr>
            <a:r>
              <a:t>  Transformer reasons over relationships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  Still no occlusion handling</a:t>
            </a:r>
          </a:p>
          <a:p>
            <a:pPr>
              <a:lnSpc>
                <a:spcPts val="839"/>
              </a:lnSpc>
              <a:spcAft>
                <a:spcPts val="4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100"/>
              </a:lnSpc>
              <a:spcAft>
                <a:spcPts val="400"/>
              </a:spcAft>
              <a:defRPr sz="1500" b="1">
                <a:solidFill>
                  <a:srgbClr val="1A1A1A"/>
                </a:solidFill>
                <a:latin typeface="Calibri"/>
              </a:defRPr>
            </a:pPr>
            <a:r>
              <a:t>Temporal smoothness methods: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1A1A1A"/>
                </a:solidFill>
                <a:latin typeface="Calibri"/>
              </a:defRPr>
            </a:pPr>
            <a:r>
              <a:t>  GRU / transformer over frame features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  Feature-level only, don't recover occluded pixels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688775" y="6355080"/>
            <a:ext cx="365760" cy="365760"/>
          </a:xfrm>
          <a:prstGeom prst="rect">
            <a:avLst/>
          </a:prstGeom>
          <a:solidFill>
            <a:srgbClr val="7B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B5C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SAM-Body4D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Why Good · Where It Fails · How We Use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400"/>
              </a:spcAft>
              <a:defRPr sz="2000" b="1">
                <a:solidFill>
                  <a:srgbClr val="8B5C2A"/>
                </a:solidFill>
                <a:latin typeface="Calibri"/>
              </a:defRPr>
            </a:pPr>
            <a:r>
              <a:t>Why good</a:t>
            </a:r>
          </a:p>
          <a:p>
            <a:pPr>
              <a:lnSpc>
                <a:spcPts val="839"/>
              </a:lnSpc>
              <a:spcAft>
                <a:spcPts val="4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1A1A1A"/>
                </a:solidFill>
                <a:latin typeface="Calibri"/>
              </a:defRPr>
            </a:pPr>
            <a:r>
              <a:t>Occlusion-robust: recovers hidden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  body parts via inpainting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1A1A1A"/>
                </a:solidFill>
                <a:latin typeface="Calibri"/>
              </a:defRPr>
            </a:pPr>
            <a:r>
              <a:t>Temporally consistent across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  entire video (not per-frame)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1A1A1A"/>
                </a:solidFill>
                <a:latin typeface="Calibri"/>
              </a:defRPr>
            </a:pPr>
            <a:r>
              <a:t>No optimization / no large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  annotated video datasets needed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1A1A1A"/>
                </a:solidFill>
                <a:latin typeface="Calibri"/>
              </a:defRPr>
            </a:pPr>
            <a:r>
              <a:t>Modular: swap in better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  components as they appear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1A1A1A"/>
                </a:solidFill>
                <a:latin typeface="Calibri"/>
              </a:defRPr>
            </a:pPr>
            <a:r>
              <a:t>Body + hands + face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  (full body, not just skeleton)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18872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400"/>
              </a:spcAft>
              <a:defRPr sz="2000" b="1">
                <a:solidFill>
                  <a:srgbClr val="7B1E1E"/>
                </a:solidFill>
                <a:latin typeface="Calibri"/>
              </a:defRPr>
            </a:pPr>
            <a:r>
              <a:t>Where it fails</a:t>
            </a:r>
          </a:p>
          <a:p>
            <a:pPr>
              <a:lnSpc>
                <a:spcPts val="839"/>
              </a:lnSpc>
              <a:spcAft>
                <a:spcPts val="4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1A1A1A"/>
                </a:solidFill>
                <a:latin typeface="Calibri"/>
              </a:defRPr>
            </a:pPr>
            <a:r>
              <a:t>Relies on diffusion inpainting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  quality → can hallucinate badly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1A1A1A"/>
                </a:solidFill>
                <a:latin typeface="Calibri"/>
              </a:defRPr>
            </a:pPr>
            <a:r>
              <a:t>Segmentation errors cascade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  to mesh predictions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1A1A1A"/>
                </a:solidFill>
                <a:latin typeface="Calibri"/>
              </a:defRPr>
            </a:pPr>
            <a:r>
              <a:t>No physics constraints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  (floating, penetration still possible)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1A1A1A"/>
                </a:solidFill>
                <a:latin typeface="Calibri"/>
              </a:defRPr>
            </a:pPr>
            <a:r>
              <a:t>Multi-person interactions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  not explicitly handled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1A1A1A"/>
                </a:solidFill>
                <a:latin typeface="Calibri"/>
              </a:defRPr>
            </a:pPr>
            <a:r>
              <a:t>Depends on quality of initial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  video segmentation 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18872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400"/>
              </a:spcAft>
              <a:defRPr sz="2000" b="1">
                <a:solidFill>
                  <a:srgbClr val="8B5C2A"/>
                </a:solidFill>
                <a:latin typeface="Calibri"/>
              </a:defRPr>
            </a:pPr>
            <a:r>
              <a:t>How we use this</a:t>
            </a:r>
          </a:p>
          <a:p>
            <a:pPr>
              <a:lnSpc>
                <a:spcPts val="839"/>
              </a:lnSpc>
              <a:spcAft>
                <a:spcPts val="4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1A1A1A"/>
                </a:solidFill>
                <a:latin typeface="Calibri"/>
              </a:defRPr>
            </a:pPr>
            <a:r>
              <a:t>Better body backbone for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  occluded scenarios</a:t>
            </a:r>
          </a:p>
          <a:p>
            <a:pPr>
              <a:lnSpc>
                <a:spcPts val="839"/>
              </a:lnSpc>
              <a:spcAft>
                <a:spcPts val="4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100"/>
              </a:lnSpc>
              <a:spcAft>
                <a:spcPts val="400"/>
              </a:spcAft>
              <a:defRPr sz="1500" b="1">
                <a:solidFill>
                  <a:srgbClr val="1A1A1A"/>
                </a:solidFill>
                <a:latin typeface="Calibri"/>
              </a:defRPr>
            </a:pPr>
            <a:r>
              <a:t>Sports applications: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1A1A1A"/>
                </a:solidFill>
                <a:latin typeface="Calibri"/>
              </a:defRPr>
            </a:pPr>
            <a:r>
              <a:t>  Players often occlude each other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  (soccer, basketball)</a:t>
            </a:r>
          </a:p>
          <a:p>
            <a:pPr>
              <a:lnSpc>
                <a:spcPts val="839"/>
              </a:lnSpc>
              <a:spcAft>
                <a:spcPts val="4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100"/>
              </a:lnSpc>
              <a:spcAft>
                <a:spcPts val="400"/>
              </a:spcAft>
              <a:defRPr sz="1500" b="1">
                <a:solidFill>
                  <a:srgbClr val="8B5C2A"/>
                </a:solidFill>
                <a:latin typeface="Calibri"/>
              </a:defRPr>
            </a:pPr>
            <a:r>
              <a:t>ASICS partnership: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1A1A1A"/>
                </a:solidFill>
                <a:latin typeface="Calibri"/>
              </a:defRPr>
            </a:pPr>
            <a:r>
              <a:t>  Analyze running / soccer from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1A1A1A"/>
                </a:solidFill>
                <a:latin typeface="Calibri"/>
              </a:defRPr>
            </a:pPr>
            <a:r>
              <a:t>  internet game footage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  where occlusion is frequent</a:t>
            </a:r>
          </a:p>
          <a:p>
            <a:pPr>
              <a:lnSpc>
                <a:spcPts val="839"/>
              </a:lnSpc>
              <a:spcAft>
                <a:spcPts val="4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1A1A1A"/>
                </a:solidFill>
                <a:latin typeface="Calibri"/>
              </a:defRPr>
            </a:pPr>
            <a:r>
              <a:t>Combine with physics layer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  for contact-aware output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0972800" cy="640080"/>
          </a:xfrm>
          <a:prstGeom prst="rect">
            <a:avLst/>
          </a:prstGeom>
          <a:solidFill>
            <a:srgbClr val="F0E6D3"/>
          </a:solidFill>
          <a:ln w="63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8521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2A"/>
                </a:solidFill>
                <a:latin typeface="Calibri"/>
              </a:defRPr>
            </a:pPr>
            <a:r>
              <a:t>Temporal consistency + occlusion handling — critical for sports / multi-person scenarios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688775" y="6355080"/>
            <a:ext cx="365760" cy="365760"/>
          </a:xfrm>
          <a:prstGeom prst="rect">
            <a:avLst/>
          </a:prstGeom>
          <a:solidFill>
            <a:srgbClr val="7B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7B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PhysHMR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Overview — Unified Visual-to-Physics Motion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400"/>
              </a:spcAft>
              <a:defRPr sz="2000" b="1">
                <a:solidFill>
                  <a:srgbClr val="7B1E1E"/>
                </a:solidFill>
                <a:latin typeface="Calibri"/>
              </a:defRPr>
            </a:pPr>
            <a:r>
              <a:t>Problem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  Post-physics optimization is fundamentally limited: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  Motion reconstructed from vision alone, then refined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  by a separate physics module</a:t>
            </a:r>
          </a:p>
          <a:p>
            <a:pPr>
              <a:lnSpc>
                <a:spcPts val="1120"/>
              </a:lnSpc>
              <a:spcAft>
                <a:spcPts val="400"/>
              </a:spcAft>
              <a:defRPr sz="8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999999"/>
                </a:solidFill>
                <a:latin typeface="Calibri"/>
              </a:defRPr>
            </a:pPr>
            <a:r>
              <a:t>  Once the vision model picks one interpretation,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999999"/>
                </a:solidFill>
                <a:latin typeface="Calibri"/>
              </a:defRPr>
            </a:pPr>
            <a:r>
              <a:t>  the physics module can't access the full visual context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999999"/>
                </a:solidFill>
                <a:latin typeface="Calibri"/>
              </a:defRPr>
            </a:pPr>
            <a:r>
              <a:t>  → suboptimal corrections</a:t>
            </a:r>
          </a:p>
          <a:p>
            <a:pPr>
              <a:lnSpc>
                <a:spcPts val="1400"/>
              </a:lnSpc>
              <a:spcAft>
                <a:spcPts val="4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800"/>
              </a:lnSpc>
              <a:spcAft>
                <a:spcPts val="400"/>
              </a:spcAft>
              <a:defRPr sz="2000" b="1">
                <a:solidFill>
                  <a:srgbClr val="7B1E1E"/>
                </a:solidFill>
                <a:latin typeface="Calibri"/>
              </a:defRPr>
            </a:pPr>
            <a:r>
              <a:t>Evidence (foot sliding):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  GVHMR alone: 5.65 mm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600" b="1">
                <a:solidFill>
                  <a:srgbClr val="7B1E1E"/>
                </a:solidFill>
                <a:latin typeface="Calibri"/>
              </a:defRPr>
            </a:pPr>
            <a:r>
              <a:t>  GVHMR + RL post-correction: 12.71 mm (worse!)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600" b="1">
                <a:solidFill>
                  <a:srgbClr val="7B1E1E"/>
                </a:solidFill>
                <a:latin typeface="Calibri"/>
              </a:defRPr>
            </a:pPr>
            <a:r>
              <a:t>  PhysHMR end-to-end: 4.60 mm (best)</a:t>
            </a:r>
          </a:p>
          <a:p>
            <a:pPr>
              <a:lnSpc>
                <a:spcPts val="1120"/>
              </a:lnSpc>
              <a:spcAft>
                <a:spcPts val="400"/>
              </a:spcAft>
              <a:defRPr sz="8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7B1E1E"/>
                </a:solidFill>
                <a:latin typeface="Calibri"/>
              </a:defRPr>
            </a:pPr>
            <a:r>
              <a:t>RL post-correction makes foot sliding 2.2× worse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400"/>
              </a:spcAft>
              <a:defRPr sz="2000" b="1">
                <a:solidFill>
                  <a:srgbClr val="7B1E1E"/>
                </a:solidFill>
                <a:latin typeface="Calibri"/>
              </a:defRPr>
            </a:pPr>
            <a:r>
              <a:t>Key insight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  Unify motion estimation + physical reasoning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  in a single framework</a:t>
            </a:r>
          </a:p>
          <a:p>
            <a:pPr>
              <a:lnSpc>
                <a:spcPts val="1400"/>
              </a:lnSpc>
              <a:spcAft>
                <a:spcPts val="4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800"/>
              </a:lnSpc>
              <a:spcAft>
                <a:spcPts val="400"/>
              </a:spcAft>
              <a:defRPr sz="2000" b="1">
                <a:solidFill>
                  <a:srgbClr val="7B1E1E"/>
                </a:solidFill>
                <a:latin typeface="Calibri"/>
              </a:defRPr>
            </a:pPr>
            <a:r>
              <a:t>Main contributions</a:t>
            </a:r>
          </a:p>
          <a:p>
            <a:pPr>
              <a:lnSpc>
                <a:spcPts val="839"/>
              </a:lnSpc>
              <a:spcAft>
                <a:spcPts val="4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First unified perception + control framework</a:t>
            </a:r>
          </a:p>
          <a:p>
            <a:pPr>
              <a:lnSpc>
                <a:spcPts val="839"/>
              </a:lnSpc>
              <a:spcAft>
                <a:spcPts val="4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Knowledge distillation from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999999"/>
                </a:solidFill>
                <a:latin typeface="Calibri"/>
              </a:defRPr>
            </a:pPr>
            <a:r>
              <a:t>  mocap-trained imitation expert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999999"/>
                </a:solidFill>
                <a:latin typeface="Calibri"/>
              </a:defRPr>
            </a:pPr>
            <a:r>
              <a:t>  (stabilizes learning, faster convergence)</a:t>
            </a:r>
          </a:p>
          <a:p>
            <a:pPr>
              <a:lnSpc>
                <a:spcPts val="839"/>
              </a:lnSpc>
              <a:spcAft>
                <a:spcPts val="4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2D keypoints → 3D rays as soft global reference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999999"/>
                </a:solidFill>
                <a:latin typeface="Calibri"/>
              </a:defRPr>
            </a:pPr>
            <a:r>
              <a:t>  (not hard positional targets)</a:t>
            </a:r>
          </a:p>
          <a:p>
            <a:pPr>
              <a:lnSpc>
                <a:spcPts val="839"/>
              </a:lnSpc>
              <a:spcAft>
                <a:spcPts val="4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Prior RL methods have low sample efficiency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999999"/>
                </a:solidFill>
                <a:latin typeface="Calibri"/>
              </a:defRPr>
            </a:pPr>
            <a:r>
              <a:t>  Distillation solves this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0972800" cy="640080"/>
          </a:xfrm>
          <a:prstGeom prst="rect">
            <a:avLst/>
          </a:prstGeom>
          <a:solidFill>
            <a:srgbClr val="F0E6D3"/>
          </a:solidFill>
          <a:ln w="63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8521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1E1E"/>
                </a:solidFill>
                <a:latin typeface="Calibri"/>
              </a:defRPr>
            </a:pPr>
            <a:r>
              <a:t>Physics must be integrated, not bolted on — post-correction makes things worse</a:t>
            </a:r>
          </a:p>
        </p:txBody>
      </p:sp>
      <p:sp>
        <p:nvSpPr>
          <p:cNvPr id="9" name="Rectangle 8"/>
          <p:cNvSpPr/>
          <p:nvPr/>
        </p:nvSpPr>
        <p:spPr>
          <a:xfrm>
            <a:off x="11688775" y="6355080"/>
            <a:ext cx="365760" cy="365760"/>
          </a:xfrm>
          <a:prstGeom prst="rect">
            <a:avLst/>
          </a:prstGeom>
          <a:solidFill>
            <a:srgbClr val="7B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7B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PhysHMR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How It Works —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743200" cy="1097280"/>
          </a:xfrm>
          <a:prstGeom prst="roundRect">
            <a:avLst/>
          </a:prstGeom>
          <a:solidFill>
            <a:srgbClr val="F0E6D3"/>
          </a:solidFill>
          <a:ln w="190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6187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Calibri"/>
              </a:defRPr>
            </a:pPr>
            <a:r>
              <a:t>Video Encoder (from GVHMR)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3619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Extract image features,</a:t>
            </a:r>
            <a:br/>
            <a:r>
              <a:t>bboxes, 2D keypoints,</a:t>
            </a:r>
            <a:br/>
            <a:r>
              <a:t>relative camera rotations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1188720"/>
            <a:ext cx="4114800" cy="1097280"/>
          </a:xfrm>
          <a:prstGeom prst="roundRect">
            <a:avLst/>
          </a:prstGeom>
          <a:solidFill>
            <a:srgbClr val="F0E6D3"/>
          </a:solidFill>
          <a:ln w="190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4760" y="1261872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Calibri"/>
              </a:defRPr>
            </a:pPr>
            <a:r>
              <a:t>Pixel-As-Ray Strategy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4760" y="1536192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Back-project 2D keypoints into 3D rays</a:t>
            </a:r>
            <a:br/>
            <a:r>
              <a:t>using camera intrinsics K</a:t>
            </a:r>
            <a:br/>
            <a:r>
              <a:t>→ soft global pose reference, no hard targets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1188720"/>
            <a:ext cx="3474720" cy="1097280"/>
          </a:xfrm>
          <a:prstGeom prst="roundRect">
            <a:avLst/>
          </a:prstGeom>
          <a:solidFill>
            <a:srgbClr val="F0E6D3"/>
          </a:solidFill>
          <a:ln w="190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66760" y="12618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Calibri"/>
              </a:defRPr>
            </a:pPr>
            <a:r>
              <a:t>Multi-task MLP Head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66760" y="153619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Regress future root orientation</a:t>
            </a:r>
            <a:br/>
            <a:r>
              <a:t>from visual features</a:t>
            </a:r>
            <a:br/>
            <a:r>
              <a:t>→ forward-looking estimate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743200"/>
            <a:ext cx="5029200" cy="1645920"/>
          </a:xfrm>
          <a:prstGeom prst="roundRect">
            <a:avLst/>
          </a:prstGeom>
          <a:solidFill>
            <a:srgbClr val="F0E6D3"/>
          </a:solidFill>
          <a:ln w="190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2816352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Calibri"/>
              </a:defRPr>
            </a:pPr>
            <a:r>
              <a:t>Markov Decision Process (RL)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309067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M = &lt;S, A, T, R, γ&gt;</a:t>
            </a:r>
            <a:br/>
            <a:r>
              <a:t>State: simulation pose + velocity</a:t>
            </a:r>
            <a:br/>
            <a:r>
              <a:t>Action: joint torques</a:t>
            </a:r>
            <a:br/>
            <a:r>
              <a:t>Reference: trajectory from video encoder</a:t>
            </a:r>
            <a:br/>
            <a:r>
              <a:t>  (local pose + global translation/rotation)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0" y="2743200"/>
            <a:ext cx="5486400" cy="1645920"/>
          </a:xfrm>
          <a:prstGeom prst="roundRect">
            <a:avLst/>
          </a:prstGeom>
          <a:solidFill>
            <a:srgbClr val="F0E6D3"/>
          </a:solidFill>
          <a:ln w="190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0760" y="281635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Calibri"/>
              </a:defRPr>
            </a:pPr>
            <a:r>
              <a:t>Distillation from MoCap Expert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3090672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Problem: RL from scratch has low sample efficiency</a:t>
            </a:r>
            <a:br/>
            <a:r>
              <a:t>Solution: pre-train imitation policy on mocap data</a:t>
            </a:r>
            <a:br/>
            <a:r>
              <a:t>  then distill knowledge into visual-to-action policy</a:t>
            </a:r>
            <a:br/>
            <a:r>
              <a:t>→ accelerates convergence, stabilizes learning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7548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  <a:spcAft>
                <a:spcPts val="400"/>
              </a:spcAft>
              <a:defRPr sz="1500" b="1">
                <a:solidFill>
                  <a:srgbClr val="7B1E1E"/>
                </a:solidFill>
                <a:latin typeface="Calibri"/>
              </a:defRPr>
            </a:pPr>
            <a:r>
              <a:t>Pixel-as-Ray: encodes global guidance without enforcing explicit positional targets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1A1A1A"/>
                </a:solidFill>
                <a:latin typeface="Calibri"/>
              </a:defRPr>
            </a:pPr>
            <a:r>
              <a:t>  Given keypoint (u, v) + intrinsics K → back-project to 3D ray in camera coords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1A1A1A"/>
                </a:solidFill>
                <a:latin typeface="Calibri"/>
              </a:defRPr>
            </a:pPr>
            <a:r>
              <a:t>  Local pose: SMPL joint rotations relative to parents (captures articulation)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  3D root prediction from monocular video is noisy → rays give soft spatial grounding instead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688775" y="6355080"/>
            <a:ext cx="365760" cy="365760"/>
          </a:xfrm>
          <a:prstGeom prst="rect">
            <a:avLst/>
          </a:prstGeom>
          <a:solidFill>
            <a:srgbClr val="7B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7B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PhysHMR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Why Good · Where It Fails · How We Use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79"/>
              </a:lnSpc>
              <a:spcAft>
                <a:spcPts val="400"/>
              </a:spcAft>
              <a:defRPr sz="2200" b="1">
                <a:solidFill>
                  <a:srgbClr val="7B1E1E"/>
                </a:solidFill>
                <a:latin typeface="Calibri"/>
              </a:defRPr>
            </a:pPr>
            <a:r>
              <a:t>Why good</a:t>
            </a:r>
          </a:p>
          <a:p>
            <a:pPr>
              <a:lnSpc>
                <a:spcPts val="839"/>
              </a:lnSpc>
              <a:spcAft>
                <a:spcPts val="4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Proves physics and vision must be unified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999999"/>
                </a:solidFill>
                <a:latin typeface="Calibri"/>
              </a:defRPr>
            </a:pPr>
            <a:r>
              <a:t>  not cascaded in two stages</a:t>
            </a:r>
          </a:p>
          <a:p>
            <a:pPr>
              <a:lnSpc>
                <a:spcPts val="839"/>
              </a:lnSpc>
              <a:spcAft>
                <a:spcPts val="4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Best foot sliding (4.60 mm)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999999"/>
                </a:solidFill>
                <a:latin typeface="Calibri"/>
              </a:defRPr>
            </a:pPr>
            <a:r>
              <a:t>  beating both GVHMR alone and GVHMR+RL</a:t>
            </a:r>
          </a:p>
          <a:p>
            <a:pPr>
              <a:lnSpc>
                <a:spcPts val="839"/>
              </a:lnSpc>
              <a:spcAft>
                <a:spcPts val="4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Distillation makes RL practical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999999"/>
                </a:solidFill>
                <a:latin typeface="Calibri"/>
              </a:defRPr>
            </a:pPr>
            <a:r>
              <a:t>  (no massive exploration needed)</a:t>
            </a:r>
          </a:p>
          <a:p>
            <a:pPr>
              <a:lnSpc>
                <a:spcPts val="839"/>
              </a:lnSpc>
              <a:spcAft>
                <a:spcPts val="4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Pixel-as-ray is elegant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999999"/>
                </a:solidFill>
                <a:latin typeface="Calibri"/>
              </a:defRPr>
            </a:pPr>
            <a:r>
              <a:t>  soft constraint, not hard target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3079"/>
              </a:lnSpc>
              <a:spcAft>
                <a:spcPts val="400"/>
              </a:spcAft>
              <a:defRPr sz="2200" b="1">
                <a:solidFill>
                  <a:srgbClr val="7B1E1E"/>
                </a:solidFill>
                <a:latin typeface="Calibri"/>
              </a:defRPr>
            </a:pPr>
            <a:r>
              <a:t>Where it fails</a:t>
            </a:r>
          </a:p>
          <a:p>
            <a:pPr>
              <a:lnSpc>
                <a:spcPts val="839"/>
              </a:lnSpc>
              <a:spcAft>
                <a:spcPts val="4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Single person only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Requires physics simulator in the loop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999999"/>
                </a:solidFill>
                <a:latin typeface="Calibri"/>
              </a:defRPr>
            </a:pPr>
            <a:r>
              <a:t>  (slower than pure feed-forward)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Still relies on GVHMR encoder quality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No scene-aware contact</a:t>
            </a:r>
          </a:p>
          <a:p>
            <a:pPr>
              <a:lnSpc>
                <a:spcPts val="1400"/>
              </a:lnSpc>
              <a:spcAft>
                <a:spcPts val="4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3079"/>
              </a:lnSpc>
              <a:spcAft>
                <a:spcPts val="400"/>
              </a:spcAft>
              <a:defRPr sz="2200" b="1">
                <a:solidFill>
                  <a:srgbClr val="7B1E1E"/>
                </a:solidFill>
                <a:latin typeface="Calibri"/>
              </a:defRPr>
            </a:pPr>
            <a:r>
              <a:t>How we use it</a:t>
            </a:r>
          </a:p>
          <a:p>
            <a:pPr>
              <a:lnSpc>
                <a:spcPts val="839"/>
              </a:lnSpc>
              <a:spcAft>
                <a:spcPts val="4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Architecture reference for end-to-end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999999"/>
                </a:solidFill>
                <a:latin typeface="Calibri"/>
              </a:defRPr>
            </a:pPr>
            <a:r>
              <a:t>  physics integration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Pixel-as-ray strategy reusable</a:t>
            </a:r>
          </a:p>
          <a:p>
            <a:pPr>
              <a:lnSpc>
                <a:spcPts val="839"/>
              </a:lnSpc>
              <a:spcAft>
                <a:spcPts val="4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240"/>
              </a:lnSpc>
              <a:spcAft>
                <a:spcPts val="400"/>
              </a:spcAft>
              <a:defRPr sz="1600" b="1">
                <a:solidFill>
                  <a:srgbClr val="7B1E1E"/>
                </a:solidFill>
                <a:latin typeface="Calibri"/>
              </a:defRPr>
            </a:pPr>
            <a:r>
              <a:t>Warning: don't bolt physics on as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7B1E1E"/>
                </a:solidFill>
                <a:latin typeface="Calibri"/>
              </a:defRPr>
            </a:pPr>
            <a:r>
              <a:t>  post-processing — it backfires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0972800" cy="640080"/>
          </a:xfrm>
          <a:prstGeom prst="rect">
            <a:avLst/>
          </a:prstGeom>
          <a:solidFill>
            <a:srgbClr val="F0E6D3"/>
          </a:solidFill>
          <a:ln w="63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8521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1E1E"/>
                </a:solidFill>
                <a:latin typeface="Calibri"/>
              </a:defRPr>
            </a:pPr>
            <a:r>
              <a:t>For us: validates end-to-end physics. Pixel-as-ray reusable. Post-correction is the wrong approach.</a:t>
            </a:r>
          </a:p>
        </p:txBody>
      </p:sp>
      <p:sp>
        <p:nvSpPr>
          <p:cNvPr id="9" name="Rectangle 8"/>
          <p:cNvSpPr/>
          <p:nvPr/>
        </p:nvSpPr>
        <p:spPr>
          <a:xfrm>
            <a:off x="11688775" y="6355080"/>
            <a:ext cx="365760" cy="365760"/>
          </a:xfrm>
          <a:prstGeom prst="rect">
            <a:avLst/>
          </a:prstGeom>
          <a:solidFill>
            <a:srgbClr val="7B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5B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MultiPhys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Overview — Multi-Person Physics Correction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303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400"/>
              </a:spcAft>
              <a:defRPr sz="2000" b="1">
                <a:solidFill>
                  <a:srgbClr val="5B3A7A"/>
                </a:solidFill>
                <a:latin typeface="Calibri"/>
              </a:defRPr>
            </a:pPr>
            <a:r>
              <a:t>Problem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  Kinematic poses look good visually but violate physics: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  people float, penetrate each other, slide on ground</a:t>
            </a:r>
          </a:p>
          <a:p>
            <a:pPr>
              <a:lnSpc>
                <a:spcPts val="1120"/>
              </a:lnSpc>
              <a:spcAft>
                <a:spcPts val="400"/>
              </a:spcAft>
              <a:defRPr sz="8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999999"/>
                </a:solidFill>
                <a:latin typeface="Calibri"/>
              </a:defRPr>
            </a:pPr>
            <a:r>
              <a:t>  Limited methods address multi-person contacts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999999"/>
                </a:solidFill>
                <a:latin typeface="Calibri"/>
              </a:defRPr>
            </a:pPr>
            <a:r>
              <a:t>  and penetration issues</a:t>
            </a:r>
          </a:p>
          <a:p>
            <a:pPr>
              <a:lnSpc>
                <a:spcPts val="1400"/>
              </a:lnSpc>
              <a:spcAft>
                <a:spcPts val="4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800"/>
              </a:lnSpc>
              <a:spcAft>
                <a:spcPts val="400"/>
              </a:spcAft>
              <a:defRPr sz="2000" b="1">
                <a:solidFill>
                  <a:srgbClr val="5B3A7A"/>
                </a:solidFill>
                <a:latin typeface="Calibri"/>
              </a:defRPr>
            </a:pPr>
            <a:r>
              <a:t>Approach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  Take kinematic poses (from any body tracker)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  Simulate them as articulated bodies in physics engine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  RL policy drives each body toward target pose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  while obeying physical laws</a:t>
            </a:r>
          </a:p>
          <a:p>
            <a:pPr>
              <a:lnSpc>
                <a:spcPts val="1400"/>
              </a:lnSpc>
              <a:spcAft>
                <a:spcPts val="4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240"/>
              </a:lnSpc>
              <a:spcAft>
                <a:spcPts val="400"/>
              </a:spcAft>
              <a:defRPr sz="1600" b="1">
                <a:solidFill>
                  <a:srgbClr val="7B1E1E"/>
                </a:solidFill>
                <a:latin typeface="Calibri"/>
              </a:defRPr>
            </a:pPr>
            <a:r>
              <a:t>First method for multi-person physics 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1887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400"/>
              </a:spcAft>
              <a:defRPr sz="2000" b="1">
                <a:solidFill>
                  <a:srgbClr val="5B3A7A"/>
                </a:solidFill>
                <a:latin typeface="Calibri"/>
              </a:defRPr>
            </a:pPr>
            <a:r>
              <a:t>Results</a:t>
            </a:r>
          </a:p>
          <a:p>
            <a:pPr>
              <a:lnSpc>
                <a:spcPts val="839"/>
              </a:lnSpc>
              <a:spcAft>
                <a:spcPts val="4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7× less body-ground penetration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Physically plausible multi-person motion</a:t>
            </a:r>
          </a:p>
          <a:p>
            <a:pPr>
              <a:lnSpc>
                <a:spcPts val="1400"/>
              </a:lnSpc>
              <a:spcAft>
                <a:spcPts val="4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520"/>
              </a:lnSpc>
              <a:spcAft>
                <a:spcPts val="400"/>
              </a:spcAft>
              <a:defRPr sz="1800" b="1">
                <a:solidFill>
                  <a:srgbClr val="5B3A7A"/>
                </a:solidFill>
                <a:latin typeface="Calibri"/>
              </a:defRPr>
            </a:pPr>
            <a:r>
              <a:t>Penetration metric: SDF</a:t>
            </a:r>
          </a:p>
          <a:p>
            <a:pPr>
              <a:lnSpc>
                <a:spcPts val="839"/>
              </a:lnSpc>
              <a:spcAft>
                <a:spcPts val="4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1A1A1A"/>
                </a:solidFill>
                <a:latin typeface="Calibri"/>
              </a:defRPr>
            </a:pPr>
            <a:r>
              <a:t>Signed Distance Field gives not just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  whether vertices penetrate, but how deep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1A1A1A"/>
                </a:solidFill>
                <a:latin typeface="Calibri"/>
              </a:defRPr>
            </a:pPr>
            <a:r>
              <a:t>Sum over penetrating vertices → single scalar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  captures count AND depth (better than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  just counting penetrating vertices)</a:t>
            </a:r>
          </a:p>
          <a:p>
            <a:pPr>
              <a:lnSpc>
                <a:spcPts val="1400"/>
              </a:lnSpc>
              <a:spcAft>
                <a:spcPts val="400"/>
              </a:spcAft>
              <a:defRPr sz="10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240"/>
              </a:lnSpc>
              <a:spcAft>
                <a:spcPts val="40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  <a:r>
              <a:t>Input: any kinematic tracker output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999999"/>
                </a:solidFill>
                <a:latin typeface="Calibri"/>
              </a:defRPr>
            </a:pPr>
            <a:r>
              <a:t>  (tested with SLAHMR)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0972800" cy="640080"/>
          </a:xfrm>
          <a:prstGeom prst="rect">
            <a:avLst/>
          </a:prstGeom>
          <a:solidFill>
            <a:srgbClr val="F0E6D3"/>
          </a:solidFill>
          <a:ln w="63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8521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B3A7A"/>
                </a:solidFill>
                <a:latin typeface="Calibri"/>
              </a:defRPr>
            </a:pPr>
            <a:r>
              <a:t>Physics simulation dramatically reduces artifacts — first multi-person approach</a:t>
            </a:r>
          </a:p>
        </p:txBody>
      </p:sp>
      <p:sp>
        <p:nvSpPr>
          <p:cNvPr id="9" name="Rectangle 8"/>
          <p:cNvSpPr/>
          <p:nvPr/>
        </p:nvSpPr>
        <p:spPr>
          <a:xfrm>
            <a:off x="11688775" y="6355080"/>
            <a:ext cx="365760" cy="365760"/>
          </a:xfrm>
          <a:prstGeom prst="rect">
            <a:avLst/>
          </a:prstGeom>
          <a:solidFill>
            <a:srgbClr val="7B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5B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MultiPhys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How It Works —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188720"/>
            <a:ext cx="2103120" cy="914400"/>
          </a:xfrm>
          <a:prstGeom prst="roundRect">
            <a:avLst/>
          </a:prstGeom>
          <a:solidFill>
            <a:srgbClr val="F0E6D3"/>
          </a:solidFill>
          <a:ln w="190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618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Calibri"/>
              </a:defRPr>
            </a:pPr>
            <a:r>
              <a:t>1. Kinematic Poses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53619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Input from body tracker</a:t>
            </a:r>
            <a:br/>
            <a:r>
              <a:t>(e.g. SLAHMR)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51760" y="1188720"/>
            <a:ext cx="2286000" cy="914400"/>
          </a:xfrm>
          <a:prstGeom prst="roundRect">
            <a:avLst/>
          </a:prstGeom>
          <a:solidFill>
            <a:srgbClr val="F0E6D3"/>
          </a:solidFill>
          <a:ln w="190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88920" y="1261872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Calibri"/>
              </a:defRPr>
            </a:pPr>
            <a:r>
              <a:t>2. Humanoid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1536192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Each person → articulated</a:t>
            </a:r>
            <a:br/>
            <a:r>
              <a:t>body in physics engine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212080" y="1188720"/>
            <a:ext cx="3200400" cy="914400"/>
          </a:xfrm>
          <a:prstGeom prst="roundRect">
            <a:avLst/>
          </a:prstGeom>
          <a:solidFill>
            <a:srgbClr val="F0E6D3"/>
          </a:solidFill>
          <a:ln w="190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49240" y="126187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Calibri"/>
              </a:defRPr>
            </a:pPr>
            <a:r>
              <a:t>3. Universal Controller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1536192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Neural network policy:</a:t>
            </a:r>
            <a:br/>
            <a:r>
              <a:t>state + target → joint torques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0" y="1188720"/>
            <a:ext cx="3017520" cy="914400"/>
          </a:xfrm>
          <a:prstGeom prst="roundRect">
            <a:avLst/>
          </a:prstGeom>
          <a:solidFill>
            <a:srgbClr val="F0E6D3"/>
          </a:solidFill>
          <a:ln w="190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23960" y="12618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Calibri"/>
              </a:defRPr>
            </a:pPr>
            <a:r>
              <a:t>4. Physics Simulation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1536192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Step engine, resolve</a:t>
            </a:r>
            <a:br/>
            <a:r>
              <a:t>collisions + contacts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2560320"/>
            <a:ext cx="11430000" cy="731520"/>
          </a:xfrm>
          <a:prstGeom prst="roundRect">
            <a:avLst/>
          </a:prstGeom>
          <a:solidFill>
            <a:srgbClr val="F0E6D3"/>
          </a:solidFill>
          <a:ln w="190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633472"/>
            <a:ext cx="11155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A1A1A"/>
                </a:solidFill>
                <a:latin typeface="Calibri"/>
              </a:defRPr>
            </a:pPr>
            <a:r>
              <a:t>5. Loop-N Fix: for extreme poses (gymnastics, dancing, fighting) → loop N times on same target pose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2907792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99999"/>
                </a:solidFill>
                <a:latin typeface="Calibri"/>
              </a:defRPr>
            </a:pPr>
            <a:r>
              <a:t>Instead of stepping once per frame, repeat simulation steps until convergence on challenging poses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6576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20"/>
              </a:lnSpc>
              <a:spcAft>
                <a:spcPts val="400"/>
              </a:spcAft>
              <a:defRPr sz="1800" b="1">
                <a:solidFill>
                  <a:srgbClr val="5B3A7A"/>
                </a:solidFill>
                <a:latin typeface="Calibri"/>
              </a:defRPr>
            </a:pPr>
            <a:r>
              <a:t>Universal Humanoid Controller (UHC)</a:t>
            </a:r>
          </a:p>
          <a:p>
            <a:pPr>
              <a:lnSpc>
                <a:spcPts val="839"/>
              </a:lnSpc>
              <a:spcAft>
                <a:spcPts val="4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100"/>
              </a:lnSpc>
              <a:spcAft>
                <a:spcPts val="400"/>
              </a:spcAft>
              <a:defRPr sz="1500" b="1">
                <a:solidFill>
                  <a:srgbClr val="1A1A1A"/>
                </a:solidFill>
                <a:latin typeface="Calibri"/>
              </a:defRPr>
            </a:pPr>
            <a:r>
              <a:t>Input: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1A1A1A"/>
                </a:solidFill>
                <a:latin typeface="Calibri"/>
              </a:defRPr>
            </a:pPr>
            <a:r>
              <a:t>  Current simulation state (pose + velocity)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1A1A1A"/>
                </a:solidFill>
                <a:latin typeface="Calibri"/>
              </a:defRPr>
            </a:pPr>
            <a:r>
              <a:t>  Target kinematic pose (where tracker says)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1A1A1A"/>
                </a:solidFill>
                <a:latin typeface="Calibri"/>
              </a:defRPr>
            </a:pPr>
            <a:r>
              <a:t>  Body shape parameters</a:t>
            </a:r>
          </a:p>
          <a:p>
            <a:pPr>
              <a:lnSpc>
                <a:spcPts val="839"/>
              </a:lnSpc>
              <a:spcAft>
                <a:spcPts val="4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100"/>
              </a:lnSpc>
              <a:spcAft>
                <a:spcPts val="400"/>
              </a:spcAft>
              <a:defRPr sz="1500" b="1">
                <a:solidFill>
                  <a:srgbClr val="1A1A1A"/>
                </a:solidFill>
                <a:latin typeface="Calibri"/>
              </a:defRPr>
            </a:pPr>
            <a:r>
              <a:t>Output: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1A1A1A"/>
                </a:solidFill>
                <a:latin typeface="Calibri"/>
              </a:defRPr>
            </a:pPr>
            <a:r>
              <a:t>  Joint torques that drive simulated body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1A1A1A"/>
                </a:solidFill>
                <a:latin typeface="Calibri"/>
              </a:defRPr>
            </a:pPr>
            <a:r>
              <a:t>  toward target while obeying physics</a:t>
            </a:r>
          </a:p>
          <a:p>
            <a:pPr>
              <a:lnSpc>
                <a:spcPts val="839"/>
              </a:lnSpc>
              <a:spcAft>
                <a:spcPts val="4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1A1A1A"/>
                </a:solidFill>
                <a:latin typeface="Calibri"/>
              </a:defRPr>
            </a:pPr>
            <a:r>
              <a:t>Each person has independent controller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  but they share the physics world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365760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520"/>
              </a:lnSpc>
              <a:spcAft>
                <a:spcPts val="400"/>
              </a:spcAft>
              <a:defRPr sz="1800" b="1">
                <a:solidFill>
                  <a:srgbClr val="5B3A7A"/>
                </a:solidFill>
                <a:latin typeface="Calibri"/>
              </a:defRPr>
            </a:pPr>
            <a:r>
              <a:t>Input tracker: SLAHMR</a:t>
            </a:r>
          </a:p>
          <a:p>
            <a:pPr>
              <a:lnSpc>
                <a:spcPts val="839"/>
              </a:lnSpc>
              <a:spcAft>
                <a:spcPts val="4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1A1A1A"/>
                </a:solidFill>
                <a:latin typeface="Calibri"/>
              </a:defRPr>
            </a:pPr>
            <a:r>
              <a:t>Simultaneous Localization + HMR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  Camera trajectory + human 3D poses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  in shared world coordinates</a:t>
            </a:r>
          </a:p>
          <a:p>
            <a:pPr>
              <a:lnSpc>
                <a:spcPts val="839"/>
              </a:lnSpc>
              <a:spcAft>
                <a:spcPts val="4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100"/>
              </a:lnSpc>
              <a:spcAft>
                <a:spcPts val="400"/>
              </a:spcAft>
              <a:defRPr sz="1500" b="1">
                <a:solidFill>
                  <a:srgbClr val="1A1A1A"/>
                </a:solidFill>
                <a:latin typeface="Calibri"/>
              </a:defRPr>
            </a:pPr>
            <a:r>
              <a:t>SLAHMR output is visually good but: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7B1E1E"/>
                </a:solidFill>
                <a:latin typeface="Calibri"/>
              </a:defRPr>
            </a:pPr>
            <a:r>
              <a:t>  Sliding feet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7B1E1E"/>
                </a:solidFill>
                <a:latin typeface="Calibri"/>
              </a:defRPr>
            </a:pPr>
            <a:r>
              <a:t>  Body-body penetration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7B1E1E"/>
                </a:solidFill>
                <a:latin typeface="Calibri"/>
              </a:defRPr>
            </a:pPr>
            <a:r>
              <a:t>  Floating / ground penetration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7B1E1E"/>
                </a:solidFill>
                <a:latin typeface="Calibri"/>
              </a:defRPr>
            </a:pPr>
            <a:r>
              <a:t>  Not usable in physics simulators</a:t>
            </a:r>
          </a:p>
          <a:p>
            <a:pPr>
              <a:lnSpc>
                <a:spcPts val="839"/>
              </a:lnSpc>
              <a:spcAft>
                <a:spcPts val="4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100"/>
              </a:lnSpc>
              <a:spcAft>
                <a:spcPts val="400"/>
              </a:spcAft>
              <a:defRPr sz="1500" b="1">
                <a:solidFill>
                  <a:srgbClr val="5B3A7A"/>
                </a:solidFill>
                <a:latin typeface="Calibri"/>
              </a:defRPr>
            </a:pPr>
            <a:r>
              <a:t>MultiPhys fixes all of these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688775" y="6355080"/>
            <a:ext cx="365760" cy="365760"/>
          </a:xfrm>
          <a:prstGeom prst="rect">
            <a:avLst/>
          </a:prstGeom>
          <a:solidFill>
            <a:srgbClr val="7B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5B3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MultiPhys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Why Good · Where It Fails · How We Use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400"/>
              </a:spcAft>
              <a:defRPr sz="2000" b="1">
                <a:solidFill>
                  <a:srgbClr val="5B3A7A"/>
                </a:solidFill>
                <a:latin typeface="Calibri"/>
              </a:defRPr>
            </a:pPr>
            <a:r>
              <a:t>Why good</a:t>
            </a:r>
          </a:p>
          <a:p>
            <a:pPr>
              <a:lnSpc>
                <a:spcPts val="839"/>
              </a:lnSpc>
              <a:spcAft>
                <a:spcPts val="4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7× less penetration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Multi-person (first of its kind)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Agnostic to input tracker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  (plug in any body tracker)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Resolves body-body collisions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  automatically via physics engine</a:t>
            </a:r>
          </a:p>
          <a:p>
            <a:pPr>
              <a:lnSpc>
                <a:spcPts val="839"/>
              </a:lnSpc>
              <a:spcAft>
                <a:spcPts val="4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100"/>
              </a:lnSpc>
              <a:spcAft>
                <a:spcPts val="400"/>
              </a:spcAft>
              <a:defRPr sz="1500" b="1">
                <a:solidFill>
                  <a:srgbClr val="999999"/>
                </a:solidFill>
                <a:latin typeface="Calibri"/>
              </a:defRPr>
            </a:pPr>
            <a:r>
              <a:t>Feed-forward HMR methods: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  Regression = all frames at once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  Autoregressive = sequential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  MultiPhys works with either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118872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400"/>
              </a:spcAft>
              <a:defRPr sz="2000" b="1">
                <a:solidFill>
                  <a:srgbClr val="7B1E1E"/>
                </a:solidFill>
                <a:latin typeface="Calibri"/>
              </a:defRPr>
            </a:pPr>
            <a:r>
              <a:t>Where it fails</a:t>
            </a:r>
          </a:p>
          <a:p>
            <a:pPr>
              <a:lnSpc>
                <a:spcPts val="839"/>
              </a:lnSpc>
              <a:spcAft>
                <a:spcPts val="4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RL policy can create artifacts: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7B1E1E"/>
                </a:solidFill>
                <a:latin typeface="Calibri"/>
              </a:defRPr>
            </a:pPr>
            <a:r>
              <a:t>  Arm flailing for balance recovery</a:t>
            </a:r>
          </a:p>
          <a:p>
            <a:pPr>
              <a:lnSpc>
                <a:spcPts val="839"/>
              </a:lnSpc>
              <a:spcAft>
                <a:spcPts val="4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Post-correction approach: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7B1E1E"/>
                </a:solidFill>
                <a:latin typeface="Calibri"/>
              </a:defRPr>
            </a:pPr>
            <a:r>
              <a:t>  PhysHMR showed this can backfire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7B1E1E"/>
                </a:solidFill>
                <a:latin typeface="Calibri"/>
              </a:defRPr>
            </a:pPr>
            <a:r>
              <a:t>  (2.2× worse foot sliding)</a:t>
            </a:r>
          </a:p>
          <a:p>
            <a:pPr>
              <a:lnSpc>
                <a:spcPts val="839"/>
              </a:lnSpc>
              <a:spcAft>
                <a:spcPts val="4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Depends on SLAHMR quality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  as kinematic input</a:t>
            </a:r>
          </a:p>
          <a:p>
            <a:pPr>
              <a:lnSpc>
                <a:spcPts val="839"/>
              </a:lnSpc>
              <a:spcAft>
                <a:spcPts val="4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No scene geometry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  (flat ground only)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118872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400"/>
              </a:spcAft>
              <a:defRPr sz="2000" b="1">
                <a:solidFill>
                  <a:srgbClr val="5B3A7A"/>
                </a:solidFill>
                <a:latin typeface="Calibri"/>
              </a:defRPr>
            </a:pPr>
            <a:r>
              <a:t>How we use it</a:t>
            </a:r>
          </a:p>
          <a:p>
            <a:pPr>
              <a:lnSpc>
                <a:spcPts val="839"/>
              </a:lnSpc>
              <a:spcAft>
                <a:spcPts val="4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Reference for physics simulation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  integration approach</a:t>
            </a:r>
          </a:p>
          <a:p>
            <a:pPr>
              <a:lnSpc>
                <a:spcPts val="839"/>
              </a:lnSpc>
              <a:spcAft>
                <a:spcPts val="4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1A1A1A"/>
                </a:solidFill>
                <a:latin typeface="Calibri"/>
              </a:defRPr>
            </a:pPr>
            <a:r>
              <a:t>UHC controller design is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  reusable for our pipeline</a:t>
            </a:r>
          </a:p>
          <a:p>
            <a:pPr>
              <a:lnSpc>
                <a:spcPts val="839"/>
              </a:lnSpc>
              <a:spcAft>
                <a:spcPts val="4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240"/>
              </a:lnSpc>
              <a:spcAft>
                <a:spcPts val="400"/>
              </a:spcAft>
              <a:defRPr sz="1600" b="1">
                <a:solidFill>
                  <a:srgbClr val="1A1A1A"/>
                </a:solidFill>
                <a:latin typeface="Calibri"/>
              </a:defRPr>
            </a:pPr>
            <a:r>
              <a:t>SDF penetration metric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  for our evaluation</a:t>
            </a:r>
          </a:p>
          <a:p>
            <a:pPr>
              <a:lnSpc>
                <a:spcPts val="839"/>
              </a:lnSpc>
              <a:spcAft>
                <a:spcPts val="400"/>
              </a:spcAft>
              <a:defRPr sz="600" b="0">
                <a:solidFill>
                  <a:srgbClr val="999999"/>
                </a:solidFill>
                <a:latin typeface="Calibri"/>
              </a:defRPr>
            </a:pPr>
          </a:p>
          <a:p>
            <a:pPr>
              <a:lnSpc>
                <a:spcPts val="2240"/>
              </a:lnSpc>
              <a:spcAft>
                <a:spcPts val="400"/>
              </a:spcAft>
              <a:defRPr sz="1600" b="1">
                <a:solidFill>
                  <a:srgbClr val="5B3A7A"/>
                </a:solidFill>
                <a:latin typeface="Calibri"/>
              </a:defRPr>
            </a:pPr>
            <a:r>
              <a:t>ASICS application: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1A1A1A"/>
                </a:solidFill>
                <a:latin typeface="Calibri"/>
              </a:defRPr>
            </a:pPr>
            <a:r>
              <a:t>  Multi-person sports footage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1A1A1A"/>
                </a:solidFill>
                <a:latin typeface="Calibri"/>
              </a:defRPr>
            </a:pPr>
            <a:r>
              <a:t>  Basketball, soccer interactions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1A1A1A"/>
                </a:solidFill>
                <a:latin typeface="Calibri"/>
              </a:defRPr>
            </a:pPr>
            <a:r>
              <a:t>  Person-to-person contact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1A1A1A"/>
                </a:solidFill>
                <a:latin typeface="Calibri"/>
              </a:defRPr>
            </a:pPr>
            <a:r>
              <a:t>  ACL injury analysis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0972800" cy="640080"/>
          </a:xfrm>
          <a:prstGeom prst="rect">
            <a:avLst/>
          </a:prstGeom>
          <a:solidFill>
            <a:srgbClr val="F0E6D3"/>
          </a:solidFill>
          <a:ln w="6350">
            <a:solidFill>
              <a:srgbClr val="D4C4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585216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B3A7A"/>
                </a:solidFill>
                <a:latin typeface="Calibri"/>
              </a:defRPr>
            </a:pPr>
            <a:r>
              <a:t>For us: multi-person physics pipeline + SDF metrics. But beware RL post-correction pitfalls.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688775" y="6355080"/>
            <a:ext cx="365760" cy="365760"/>
          </a:xfrm>
          <a:prstGeom prst="rect">
            <a:avLst/>
          </a:prstGeom>
          <a:solidFill>
            <a:srgbClr val="7B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888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731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4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GVHMR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Gravity-anchored body tracking, no drift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Best single-person accuracy</a:t>
            </a:r>
          </a:p>
          <a:p>
            <a:pPr>
              <a:lnSpc>
                <a:spcPts val="14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2800"/>
              </a:lnSpc>
              <a:spcAft>
                <a:spcPts val="4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ZipMap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Linear-time 3D reconstruction via fast weights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Dense scene geometry for contact surfaces</a:t>
            </a:r>
          </a:p>
          <a:p>
            <a:pPr>
              <a:lnSpc>
                <a:spcPts val="14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2800"/>
              </a:lnSpc>
              <a:spcAft>
                <a:spcPts val="4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SAM-Body4D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Temporal consistency + occlusion recovery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Critical for sports / multi-person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800"/>
              </a:lnSpc>
              <a:spcAft>
                <a:spcPts val="4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PhysHMR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Proves physics must be end-to-end, not bolted on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Post-correction makes things worse</a:t>
            </a:r>
          </a:p>
          <a:p>
            <a:pPr>
              <a:lnSpc>
                <a:spcPts val="1400"/>
              </a:lnSpc>
              <a:spcAft>
                <a:spcPts val="400"/>
              </a:spcAft>
              <a:defRPr sz="10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2800"/>
              </a:lnSpc>
              <a:spcAft>
                <a:spcPts val="4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MultiPhys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Multi-person physics via simulation</a:t>
            </a:r>
          </a:p>
          <a:p>
            <a:pPr>
              <a:lnSpc>
                <a:spcPts val="2100"/>
              </a:lnSpc>
              <a:spcAft>
                <a:spcPts val="400"/>
              </a:spcAft>
              <a:defRPr sz="1500" b="0">
                <a:solidFill>
                  <a:srgbClr val="FFFFFF"/>
                </a:solidFill>
                <a:latin typeface="Calibri"/>
              </a:defRPr>
            </a:pPr>
            <a:r>
              <a:t>  SDF metrics, but RL can backfire</a:t>
            </a:r>
          </a:p>
          <a:p>
            <a:pPr>
              <a:lnSpc>
                <a:spcPts val="1959"/>
              </a:lnSpc>
              <a:spcAft>
                <a:spcPts val="4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</a:p>
          <a:p>
            <a:pPr>
              <a:lnSpc>
                <a:spcPts val="2800"/>
              </a:lnSpc>
              <a:spcAft>
                <a:spcPts val="400"/>
              </a:spcAft>
              <a:defRPr sz="2000" b="1">
                <a:solidFill>
                  <a:srgbClr val="FFFFFF"/>
                </a:solidFill>
                <a:latin typeface="Calibri"/>
              </a:defRPr>
            </a:pPr>
            <a:r>
              <a:t>Common thread: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  Vision proposes, physics refines</a:t>
            </a:r>
          </a:p>
          <a:p>
            <a:pPr>
              <a:lnSpc>
                <a:spcPts val="2240"/>
              </a:lnSpc>
              <a:spcAft>
                <a:spcPts val="400"/>
              </a:spcAft>
              <a:defRPr sz="1600" b="0">
                <a:solidFill>
                  <a:srgbClr val="FFFFFF"/>
                </a:solidFill>
                <a:latin typeface="Calibri"/>
              </a:defRPr>
            </a:pPr>
            <a:r>
              <a:t>  but integration beats cascade</a:t>
            </a:r>
          </a:p>
        </p:txBody>
      </p:sp>
      <p:sp>
        <p:nvSpPr>
          <p:cNvPr id="5" name="Rectangle 4"/>
          <p:cNvSpPr/>
          <p:nvPr/>
        </p:nvSpPr>
        <p:spPr>
          <a:xfrm>
            <a:off x="11688775" y="6355080"/>
            <a:ext cx="365760" cy="365760"/>
          </a:xfrm>
          <a:prstGeom prst="rect">
            <a:avLst/>
          </a:prstGeom>
          <a:solidFill>
            <a:srgbClr val="7B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