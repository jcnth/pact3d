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9" r:id="rId10"/>
    <p:sldId id="260" r:id="rId11"/>
    <p:sldId id="262" r:id="rId13"/>
    <p:sldId id="263" r:id="rId14"/>
    <p:sldId id="264" r:id="rId15"/>
    <p:sldId id="266" r:id="rId17"/>
    <p:sldId id="267" r:id="rId18"/>
    <p:sldId id="268" r:id="rId19"/>
    <p:sldId id="270" r:id="rId21"/>
    <p:sldId id="271" r:id="rId22"/>
    <p:sldId id="272" r:id="rId23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8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Paper Deep Dives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383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How they work  ·  Why they matter  ·  Where they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38912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GVHMR — World-grounded body tracking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ZipMap — Linear-time 3D reconstruction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SAM-Body4D — Temporally consistent mesh recovery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PhysHMR — Unified visual-to-physics motion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MultiPhys — Multi-person physics correction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B6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GVHMR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Strengths &amp; Weaknesses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Why Good</a:t>
            </a:r>
          </a:p>
          <a:p/>
          <a:p>
            <a:r>
              <a:rPr lang="en-US" sz="1100"/>
              <a:t>GV coord anchors gravity independently per frame</a:t>
            </a:r>
          </a:p>
          <a:p>
            <a:r>
              <a:rPr lang="en-US" sz="1100"/>
              <a:t>  → zero drift on long videos</a:t>
            </a:r>
          </a:p>
          <a:p/>
          <a:p>
            <a:r>
              <a:rPr lang="en-US" sz="1100"/>
              <a:t>Feed-forward transformer (not autoregressive)</a:t>
            </a:r>
          </a:p>
          <a:p>
            <a:r>
              <a:rPr lang="en-US" sz="1100"/>
              <a:t>  → parallel, no error accumulation</a:t>
            </a:r>
          </a:p>
          <a:p>
            <a:r>
              <a:rPr lang="en-US" sz="1100"/>
              <a:t>  → RoPE: generalizes to any video length</a:t>
            </a:r>
          </a:p>
          <a:p/>
          <a:p>
            <a:r>
              <a:rPr lang="en-US" sz="1100"/>
              <a:t>Multi-task learning improves camera-space too</a:t>
            </a:r>
          </a:p>
          <a:p/>
          <a:p>
            <a:r>
              <a:rPr lang="en-US" sz="1100"/>
              <a:t>Best on ALL global motion recovery metrics</a:t>
            </a:r>
          </a:p>
          <a:p>
            <a:r>
              <a:rPr lang="en-US" sz="1100"/>
              <a:t>  Much lower error than WHAM on long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Where It Fails</a:t>
            </a:r>
          </a:p>
          <a:p/>
          <a:p>
            <a:r>
              <a:rPr lang="en-US" sz="1100"/>
              <a:t>Single person only — no multi-person</a:t>
            </a:r>
          </a:p>
          <a:p>
            <a:r>
              <a:rPr lang="en-US" sz="1100"/>
              <a:t>No scene awareness / ground contact</a:t>
            </a:r>
          </a:p>
          <a:p>
            <a:r>
              <a:rPr lang="en-US" sz="1100"/>
              <a:t>No physics (floating, penetration)</a:t>
            </a:r>
          </a:p>
          <a:p/>
          <a:p>
            <a:r>
              <a:rPr lang="en-US" sz="1100"/>
              <a:t>Preprocessing bottleneck: 46s</a:t>
            </a:r>
          </a:p>
          <a:p>
            <a:r>
              <a:rPr lang="en-US" sz="1100"/>
              <a:t>  (inference only 0.28s)</a:t>
            </a:r>
          </a:p>
          <a:p/>
          <a:p>
            <a:r>
              <a:rPr lang="en-US" sz="1100"/>
              <a:t>Edge Cases</a:t>
            </a:r>
          </a:p>
          <a:p>
            <a:r>
              <a:rPr lang="en-US" sz="1100"/>
              <a:t>X-Z plane ambiguity: anchored to camera view</a:t>
            </a:r>
          </a:p>
          <a:p>
            <a:r>
              <a:rPr lang="en-US" sz="1100"/>
              <a:t>  → camera estimation errors propagate</a:t>
            </a:r>
          </a:p>
          <a:p>
            <a:r>
              <a:rPr lang="en-US" sz="1100"/>
              <a:t>Visual odometry failure → GV misaligned</a:t>
            </a:r>
          </a:p>
          <a:p>
            <a:r>
              <a:rPr lang="en-US" sz="1100"/>
              <a:t>No occlusion handling at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B6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GVHMR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Architecture &amp;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743200" cy="8229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Input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BBoxes, 2D keypoints, image feats, camera rot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2743200" cy="8229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420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Early Fusion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All features → same dim → per-frame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337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39"/>
            <a:ext cx="2743200" cy="8229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2219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Relative Transformer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1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12 layers, 8 heads, RoPE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17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29200"/>
            <a:ext cx="2743200" cy="8229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102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Multi-task MLP Heads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37667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Pose, shape, camera, trajectory, contact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118872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/>
              <a:t>Transformer</a:t>
            </a:r>
          </a:p>
          <a:p>
            <a:r>
              <a:rPr lang="en-US" sz="1000"/>
              <a:t>RoPE = relative position</a:t>
            </a:r>
          </a:p>
          <a:p>
            <a:r>
              <a:rPr lang="en-US" sz="1000"/>
              <a:t>  → any video length</a:t>
            </a:r>
          </a:p>
          <a:p>
            <a:r>
              <a:rPr lang="en-US" sz="1000"/>
              <a:t>MLP: 2 layers + GELU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18872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/>
              <a:t>Post-Processing</a:t>
            </a:r>
          </a:p>
          <a:p>
            <a:r>
              <a:rPr lang="en-US" sz="1000"/>
              <a:t>Weak → full perspective (CLIFF)</a:t>
            </a:r>
          </a:p>
          <a:p>
            <a:r>
              <a:rPr lang="en-US" sz="1000"/>
              <a:t>Contact prob per joint</a:t>
            </a:r>
          </a:p>
          <a:p>
            <a:r>
              <a:rPr lang="en-US" sz="1000"/>
              <a:t>CCD-based IK solver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B6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GVHMR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Our body tracking backbone</a:t>
            </a:r>
          </a:p>
          <a:p/>
          <a:p>
            <a:r>
              <a:rPr lang="en-US" sz="1100"/>
              <a:t>  Video → GVHMR → world-grounded SMPL</a:t>
            </a:r>
          </a:p>
          <a:p>
            <a:r>
              <a:rPr lang="en-US" sz="1100"/>
              <a:t>    + scene recon (ZipMap / DA3)</a:t>
            </a:r>
          </a:p>
          <a:p>
            <a:r>
              <a:rPr lang="en-US" sz="1100"/>
              <a:t>    → physics refinement</a:t>
            </a:r>
          </a:p>
          <a:p>
            <a:r>
              <a:rPr lang="en-US" sz="1100"/>
              <a:t>    → physically realistic 3D motion</a:t>
            </a:r>
          </a:p>
          <a:p/>
          <a:p>
            <a:r>
              <a:rPr lang="en-US" sz="1100"/>
              <a:t>Also the encoder backbone for PhysHMR</a:t>
            </a:r>
          </a:p>
          <a:p>
            <a:r>
              <a:rPr lang="en-US" sz="1100"/>
              <a:t>  → proven visual frontend for physics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What it gives us</a:t>
            </a:r>
          </a:p>
          <a:p>
            <a:r>
              <a:rPr lang="en-US" sz="1100"/>
              <a:t>  Per-frame SMPL body meshes</a:t>
            </a:r>
          </a:p>
          <a:p>
            <a:r>
              <a:rPr lang="en-US" sz="1100"/>
              <a:t>  World-grounded trajectory</a:t>
            </a:r>
          </a:p>
          <a:p>
            <a:r>
              <a:rPr lang="en-US" sz="1100"/>
              <a:t>  Stationary contact labels per joint</a:t>
            </a:r>
          </a:p>
          <a:p>
            <a:r>
              <a:rPr lang="en-US" sz="1100"/>
              <a:t>  Camera parameters</a:t>
            </a:r>
          </a:p>
          <a:p/>
          <a:p>
            <a:r>
              <a:rPr lang="en-US" sz="1100"/>
              <a:t>What we still need</a:t>
            </a:r>
          </a:p>
          <a:p>
            <a:r>
              <a:rPr lang="en-US" sz="1100"/>
              <a:t>  Scene geometry (ground, obstacles)</a:t>
            </a:r>
          </a:p>
          <a:p>
            <a:r>
              <a:rPr lang="en-US" sz="1100"/>
              <a:t>  Physics constraints</a:t>
            </a:r>
          </a:p>
          <a:p>
            <a:r>
              <a:rPr lang="en-US" sz="1100"/>
              <a:t>  Multi-person support</a:t>
            </a:r>
          </a:p>
          <a:p>
            <a:r>
              <a:rPr lang="en-US" sz="1100"/>
              <a:t>  Occlusion handling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Body backbone: fast (280ms), gravity-aligned. Layer scene + physics on top.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7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ZipMap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Strengths &amp; Weaknesses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Why Good</a:t>
            </a:r>
          </a:p>
          <a:p/>
          <a:p>
            <a:r>
              <a:rPr lang="en-US" sz="1100"/>
              <a:t>700 frames in &lt;10s (1 H100)</a:t>
            </a:r>
          </a:p>
          <a:p>
            <a:r>
              <a:rPr lang="en-US" sz="1100"/>
              <a:t>  Quadratic methods: 200+ seconds</a:t>
            </a:r>
          </a:p>
          <a:p>
            <a:r>
              <a:rPr lang="en-US" sz="1100"/>
              <a:t>  3x faster than prior linear methods</a:t>
            </a:r>
          </a:p>
          <a:p/>
          <a:p>
            <a:r>
              <a:rPr lang="en-US" sz="1100"/>
              <a:t>SOTA camera pose accuracy (linear time)</a:t>
            </a:r>
          </a:p>
          <a:p>
            <a:r>
              <a:rPr lang="en-US" sz="1100"/>
              <a:t>Dense point maps match quadratic models</a:t>
            </a:r>
          </a:p>
          <a:p/>
          <a:p>
            <a:r>
              <a:rPr lang="en-US" sz="1100"/>
              <a:t>Implicit scene rep queryable at ~100 FPS</a:t>
            </a:r>
          </a:p>
          <a:p>
            <a:r>
              <a:rPr lang="en-US" sz="1100"/>
              <a:t>  Compress scene → hidden state → query</a:t>
            </a:r>
          </a:p>
          <a:p/>
          <a:p>
            <a:r>
              <a:rPr lang="en-US" sz="1100"/>
              <a:t>Bidirectional AND streaming modes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Where It Fails</a:t>
            </a:r>
          </a:p>
          <a:p/>
          <a:p>
            <a:r>
              <a:rPr lang="en-US" sz="1100"/>
              <a:t>Streaming &lt; bidirectional accuracy</a:t>
            </a:r>
          </a:p>
          <a:p>
            <a:r>
              <a:rPr lang="en-US" sz="1100"/>
              <a:t>  (causal: can't look ahead)</a:t>
            </a:r>
          </a:p>
          <a:p/>
          <a:p>
            <a:r>
              <a:rPr lang="en-US" sz="1100"/>
              <a:t>No human modeling — scene geometry only</a:t>
            </a:r>
          </a:p>
          <a:p>
            <a:r>
              <a:rPr lang="en-US" sz="1100"/>
              <a:t>  Needs separate body tracker</a:t>
            </a:r>
          </a:p>
          <a:p/>
          <a:p>
            <a:r>
              <a:rPr lang="en-US" sz="1100"/>
              <a:t>Requires DINOv2 (heavy encoder)</a:t>
            </a:r>
          </a:p>
          <a:p>
            <a:r>
              <a:rPr lang="en-US" sz="1100"/>
              <a:t>Trained on 64 H100s — hard to retrain</a:t>
            </a:r>
          </a:p>
          <a:p/>
          <a:p>
            <a:r>
              <a:rPr lang="en-US" sz="1100"/>
              <a:t>Edge Cases</a:t>
            </a:r>
          </a:p>
          <a:p>
            <a:r>
              <a:rPr lang="en-US" sz="1100"/>
              <a:t>Fixed TTT learning rate hurts quality</a:t>
            </a:r>
          </a:p>
          <a:p>
            <a:r>
              <a:rPr lang="en-US" sz="1100"/>
              <a:t>  (dynamic per-token rate much better)</a:t>
            </a:r>
          </a:p>
          <a:p>
            <a:r>
              <a:rPr lang="en-US" sz="1100"/>
              <a:t>Reference view removal degrades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7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ZipMap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Architecture &amp;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9144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Input Tokenization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DINOv2 → feature maps; camera → ray maps (9-dim)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77440"/>
            <a:ext cx="3474720" cy="18288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450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Feature Backbone (24 blocks)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249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24 blocks, each:</a:t>
            </a:r>
          </a:p>
          <a:p>
            <a:r>
              <a:rPr lang="en-US" sz="900"/>
              <a:t>  Local window attention (spatial, per-view)</a:t>
            </a:r>
          </a:p>
          <a:p>
            <a:r>
              <a:rPr lang="en-US" sz="900"/>
              <a:t>  Global TTT layer (compress to fast weights)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80560"/>
            <a:ext cx="3474720" cy="128016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553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Prediction Heads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8280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Camera: quat + trans + intrinsics</a:t>
            </a:r>
          </a:p>
          <a:p>
            <a:r>
              <a:rPr lang="en-US" sz="900"/>
              <a:t>Point: (x,y,z) per pixel</a:t>
            </a:r>
          </a:p>
          <a:p>
            <a:r>
              <a:rPr lang="en-US" sz="900"/>
              <a:t>Depth: distance + confidence</a:t>
            </a:r>
          </a:p>
          <a:p>
            <a:r>
              <a:rPr lang="en-US" sz="900"/>
              <a:t>Query: novel viewpoint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18872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/>
              <a:t>Core: TTT Block</a:t>
            </a:r>
          </a:p>
          <a:p/>
          <a:p>
            <a:r>
              <a:rPr lang="en-US" sz="1000"/>
              <a:t>Attention: flip through ALL flashcards</a:t>
            </a:r>
          </a:p>
          <a:p>
            <a:r>
              <a:rPr lang="en-US" sz="1000"/>
              <a:t>TTT: study once, absorb into weights</a:t>
            </a:r>
          </a:p>
          <a:p/>
          <a:p>
            <a:r>
              <a:rPr lang="en-US" sz="1000"/>
              <a:t>fw(x) = W2(SiLU(W1x) . W3x)</a:t>
            </a:r>
          </a:p>
          <a:p>
            <a:r>
              <a:rPr lang="en-US" sz="1000"/>
              <a:t>Token → key + value → gradient → update</a:t>
            </a:r>
          </a:p>
          <a:p/>
          <a:p>
            <a:r>
              <a:rPr lang="en-US" sz="1000"/>
              <a:t>Bidirectional: all at once (accurate)</a:t>
            </a:r>
          </a:p>
          <a:p>
            <a:r>
              <a:rPr lang="en-US" sz="1000"/>
              <a:t>Streaming: one step per image (causal)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7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ZipMap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Scene backbone for our pipeline</a:t>
            </a:r>
          </a:p>
          <a:p/>
          <a:p>
            <a:r>
              <a:rPr lang="en-US" sz="1100"/>
              <a:t>  Dense geometry for contact surfaces</a:t>
            </a:r>
          </a:p>
          <a:p>
            <a:r>
              <a:rPr lang="en-US" sz="1100"/>
              <a:t>  Ground plane, obstacles, terrain</a:t>
            </a:r>
          </a:p>
          <a:p>
            <a:r>
              <a:rPr lang="en-US" sz="1100"/>
              <a:t>  Camera poses for world-grounding</a:t>
            </a:r>
          </a:p>
          <a:p/>
          <a:p>
            <a:r>
              <a:rPr lang="en-US" sz="1100"/>
              <a:t>Implicit rep enables:</a:t>
            </a:r>
          </a:p>
          <a:p>
            <a:r>
              <a:rPr lang="en-US" sz="1100"/>
              <a:t>  Query ground geometry under feet</a:t>
            </a:r>
          </a:p>
          <a:p>
            <a:r>
              <a:rPr lang="en-US" sz="1100"/>
              <a:t>  Build SDF for penetration checks</a:t>
            </a:r>
          </a:p>
          <a:p>
            <a:r>
              <a:rPr lang="en-US" sz="1100"/>
              <a:t>  Back-project to colored point clouds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ZipMap vs Depth Anything 3</a:t>
            </a:r>
          </a:p>
          <a:p/>
          <a:p>
            <a:r>
              <a:rPr lang="en-US" sz="1100"/>
              <a:t>ZipMap:</a:t>
            </a:r>
          </a:p>
          <a:p>
            <a:r>
              <a:rPr lang="en-US" sz="1100"/>
              <a:t>  Full 3D recon + implicit scene</a:t>
            </a:r>
          </a:p>
          <a:p>
            <a:r>
              <a:rPr lang="en-US" sz="1100"/>
              <a:t>  Queryable, better for dense contact</a:t>
            </a:r>
          </a:p>
          <a:p>
            <a:r>
              <a:rPr lang="en-US" sz="1100"/>
              <a:t>  Heavier compute (still linear)</a:t>
            </a:r>
          </a:p>
          <a:p/>
          <a:p>
            <a:r>
              <a:rPr lang="en-US" sz="1100"/>
              <a:t>DA3:</a:t>
            </a:r>
          </a:p>
          <a:p>
            <a:r>
              <a:rPr lang="en-US" sz="1100"/>
              <a:t>  Depth + camera, lighter weight</a:t>
            </a:r>
          </a:p>
          <a:p>
            <a:r>
              <a:rPr lang="en-US" sz="1100"/>
              <a:t>  78 FPS streaming native</a:t>
            </a:r>
          </a:p>
          <a:p/>
          <a:p>
            <a:r>
              <a:rPr lang="en-US" sz="1100"/>
              <a:t>Use ZipMap for contact geometry</a:t>
            </a:r>
          </a:p>
          <a:p>
            <a:r>
              <a:rPr lang="en-US" sz="1100"/>
              <a:t>Use DA3 for speed / lightweight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Scene backbone — dense contact geometry via queryable implicit representation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SAM-Body4D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Strengths &amp; Weaknesses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Why Good</a:t>
            </a:r>
          </a:p>
          <a:p/>
          <a:p>
            <a:r>
              <a:rPr lang="en-US" sz="1100"/>
              <a:t>Temporal consistency via video segmentation</a:t>
            </a:r>
          </a:p>
          <a:p>
            <a:r>
              <a:rPr lang="en-US" sz="1100"/>
              <a:t>  → occlusion-robust without optimization</a:t>
            </a:r>
          </a:p>
          <a:p/>
          <a:p>
            <a:r>
              <a:rPr lang="en-US" sz="1100"/>
              <a:t>Decoupled skeleton/shape (MHR):</a:t>
            </a:r>
          </a:p>
          <a:p>
            <a:r>
              <a:rPr lang="en-US" sz="1100"/>
              <a:t>  Skeleton + shape predicted separately</a:t>
            </a:r>
          </a:p>
          <a:p>
            <a:r>
              <a:rPr lang="en-US" sz="1100"/>
              <a:t>  Each network specializes independently</a:t>
            </a:r>
          </a:p>
          <a:p/>
          <a:p>
            <a:r>
              <a:rPr lang="en-US" sz="1100"/>
              <a:t>Scalable data engine</a:t>
            </a:r>
          </a:p>
          <a:p>
            <a:r>
              <a:rPr lang="en-US" sz="1100"/>
              <a:t>  Augmented + generated + multi-view data</a:t>
            </a:r>
          </a:p>
          <a:p/>
          <a:p>
            <a:r>
              <a:rPr lang="en-US" sz="1100"/>
              <a:t>Full body: hands + face + body</a:t>
            </a:r>
          </a:p>
          <a:p>
            <a:r>
              <a:rPr lang="en-US" sz="1100"/>
              <a:t>Single GPU inference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Where It Fails</a:t>
            </a:r>
          </a:p>
          <a:p/>
          <a:p>
            <a:r>
              <a:rPr lang="en-US" sz="1100"/>
              <a:t>Diffusion inpainting can hallucinate</a:t>
            </a:r>
          </a:p>
          <a:p>
            <a:r>
              <a:rPr lang="en-US" sz="1100"/>
              <a:t>  Heavy occlusion → guessed limb poses</a:t>
            </a:r>
          </a:p>
          <a:p/>
          <a:p>
            <a:r>
              <a:rPr lang="en-US" sz="1100"/>
              <a:t>Segmentation errors cascade through pipeline</a:t>
            </a:r>
          </a:p>
          <a:p>
            <a:r>
              <a:rPr lang="en-US" sz="1100"/>
              <a:t>  Bad masklet → bad inpaint → bad mesh</a:t>
            </a:r>
          </a:p>
          <a:p/>
          <a:p>
            <a:r>
              <a:rPr lang="en-US" sz="1100"/>
              <a:t>No physics (floating, penetration)</a:t>
            </a:r>
          </a:p>
          <a:p/>
          <a:p>
            <a:r>
              <a:rPr lang="en-US" sz="1100"/>
              <a:t>Edge Cases</a:t>
            </a:r>
          </a:p>
          <a:p>
            <a:r>
              <a:rPr lang="en-US" sz="1100"/>
              <a:t>Full-body occlusion: loses track entirely</a:t>
            </a:r>
          </a:p>
          <a:p>
            <a:r>
              <a:rPr lang="en-US" sz="1100"/>
              <a:t>Multi-person close contact: masklets merge</a:t>
            </a:r>
          </a:p>
          <a:p>
            <a:r>
              <a:rPr lang="en-US" sz="1100"/>
              <a:t>Fast motion + blur: segmentation degrades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SAM-Body4D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Architecture &amp;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16459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1. Masklet Generator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SAM 3: propagate masks across frames + detect per-frame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657600" cy="16459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618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2. Occlusion-Aware Refiner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3619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a. Predict full body mask (even occluded)</a:t>
            </a:r>
          </a:p>
          <a:p>
            <a:r>
              <a:rPr lang="en-US" sz="900"/>
              <a:t>b. Compare with visible mask → detect occlusion</a:t>
            </a:r>
          </a:p>
          <a:p>
            <a:r>
              <a:rPr lang="en-US" sz="900"/>
              <a:t>c. Inpaint RGB pixels behind occluder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188720"/>
            <a:ext cx="3383280" cy="16459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2618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3. Mask-Guided HMR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53619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Per-frame mesh from refined masklets</a:t>
            </a:r>
          </a:p>
          <a:p>
            <a:r>
              <a:rPr lang="en-US" sz="900"/>
              <a:t>Body + hand optimized separately, fused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04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/>
              <a:t>Key Concepts</a:t>
            </a:r>
          </a:p>
          <a:p/>
          <a:p>
            <a:r>
              <a:rPr lang="en-US" sz="1000"/>
              <a:t>Masklet: per-object mask tracked across frames</a:t>
            </a:r>
          </a:p>
          <a:p>
            <a:r>
              <a:rPr lang="en-US" sz="1000"/>
              <a:t>MHR: decoupled skeleton + shape</a:t>
            </a:r>
          </a:p>
          <a:p>
            <a:r>
              <a:rPr lang="en-US" sz="1000"/>
              <a:t>Diffusion-VAS: occlusion inpainting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/>
              <a:t>Replaces</a:t>
            </a:r>
          </a:p>
          <a:p/>
          <a:p>
            <a:r>
              <a:rPr lang="en-US" sz="1000"/>
              <a:t>Regression: no occlusion, no temporal</a:t>
            </a:r>
          </a:p>
          <a:p>
            <a:r>
              <a:rPr lang="en-US" sz="1000"/>
              <a:t>Token-based: better but no occlusion recovery</a:t>
            </a:r>
          </a:p>
          <a:p>
            <a:r>
              <a:rPr lang="en-US" sz="1000"/>
              <a:t>Temporal smooth: feature-level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SAM-Body4D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Body backbone for occluded scenarios</a:t>
            </a:r>
          </a:p>
          <a:p/>
          <a:p>
            <a:r>
              <a:rPr lang="en-US" sz="1100"/>
              <a:t>When GVHMR fails (occlusion, multi-person)</a:t>
            </a:r>
          </a:p>
          <a:p>
            <a:r>
              <a:rPr lang="en-US" sz="1100"/>
              <a:t>SAM-Body4D handles via tracked masklets</a:t>
            </a:r>
          </a:p>
          <a:p/>
          <a:p>
            <a:r>
              <a:rPr lang="en-US" sz="1100"/>
              <a:t>Sports: players constantly occlude</a:t>
            </a:r>
          </a:p>
          <a:p>
            <a:r>
              <a:rPr lang="en-US" sz="1100"/>
              <a:t>  Soccer: tackles, penalty box</a:t>
            </a:r>
          </a:p>
          <a:p>
            <a:r>
              <a:rPr lang="en-US" sz="1100"/>
              <a:t>  Basketball: screens, drives</a:t>
            </a:r>
          </a:p>
          <a:p/>
          <a:p>
            <a:r>
              <a:rPr lang="en-US" sz="1100"/>
              <a:t>In our pipeline:</a:t>
            </a:r>
          </a:p>
          <a:p>
            <a:r>
              <a:rPr lang="en-US" sz="1100"/>
              <a:t>  SAM-Body4D → consistent meshes</a:t>
            </a:r>
          </a:p>
          <a:p>
            <a:r>
              <a:rPr lang="en-US" sz="1100"/>
              <a:t>  + ZipMap/DA3 → scene geometry</a:t>
            </a:r>
          </a:p>
          <a:p>
            <a:r>
              <a:rPr lang="en-US" sz="1100"/>
              <a:t>  + physics → contact-aware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ASICS Partnership</a:t>
            </a:r>
          </a:p>
          <a:p/>
          <a:p>
            <a:r>
              <a:rPr lang="en-US" sz="1100"/>
              <a:t>Running + soccer shoes</a:t>
            </a:r>
          </a:p>
          <a:p>
            <a:r>
              <a:rPr lang="en-US" sz="1100"/>
              <a:t>Analyze athlete interactions from game video</a:t>
            </a:r>
          </a:p>
          <a:p/>
          <a:p>
            <a:r>
              <a:rPr lang="en-US" sz="1100"/>
              <a:t>Key questions:</a:t>
            </a:r>
          </a:p>
          <a:p>
            <a:r>
              <a:rPr lang="en-US" sz="1100"/>
              <a:t>  How can shoe design reduce injuries?</a:t>
            </a:r>
          </a:p>
          <a:p>
            <a:r>
              <a:rPr lang="en-US" sz="1100"/>
              <a:t>  Person-to-person contact → ACL risk</a:t>
            </a:r>
          </a:p>
          <a:p/>
          <a:p>
            <a:r>
              <a:rPr lang="en-US" sz="1100"/>
              <a:t>Internet footage (uncontrolled capture)</a:t>
            </a:r>
          </a:p>
          <a:p>
            <a:r>
              <a:rPr lang="en-US" sz="1100"/>
              <a:t>  Single camera, variable quality</a:t>
            </a:r>
          </a:p>
          <a:p>
            <a:r>
              <a:rPr lang="en-US" sz="1100"/>
              <a:t>  Occlusion is the 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Occlusion-robust body tracking for sports — critical for ASICS injury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PhysHMR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Strengths &amp; Weaknesses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Why Good</a:t>
            </a:r>
          </a:p>
          <a:p/>
          <a:p>
            <a:r>
              <a:rPr lang="en-US" sz="1100"/>
              <a:t>End-to-end physics + vision in ONE model</a:t>
            </a:r>
          </a:p>
          <a:p/>
          <a:p>
            <a:r>
              <a:rPr lang="en-US" sz="1100"/>
              <a:t>Post-correction BACKFIRES:</a:t>
            </a:r>
          </a:p>
          <a:p>
            <a:r>
              <a:rPr lang="en-US" sz="1100"/>
              <a:t>  GVHMR alone:  5.65 mm foot slide</a:t>
            </a:r>
          </a:p>
          <a:p>
            <a:r>
              <a:rPr lang="en-US" sz="1100"/>
              <a:t>  + RL post-fix: 12.71 mm (2.2x WORSE)</a:t>
            </a:r>
          </a:p>
          <a:p>
            <a:r>
              <a:rPr lang="en-US" sz="1100"/>
              <a:t>  PhysHMR e2e:   4.60 mm (BEST)</a:t>
            </a:r>
          </a:p>
          <a:p/>
          <a:p>
            <a:r>
              <a:rPr lang="en-US" sz="1100"/>
              <a:t>Why? Post-fix can't see visual context</a:t>
            </a:r>
          </a:p>
          <a:p>
            <a:r>
              <a:rPr lang="en-US" sz="1100"/>
              <a:t>  → picks wrong interpretation, can't recover</a:t>
            </a:r>
          </a:p>
          <a:p/>
          <a:p>
            <a:r>
              <a:rPr lang="en-US" sz="1100"/>
              <a:t>Distillation makes RL practical</a:t>
            </a:r>
          </a:p>
          <a:p>
            <a:r>
              <a:rPr lang="en-US" sz="1100"/>
              <a:t>  Mocap expert → video policy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Where It Fails</a:t>
            </a:r>
          </a:p>
          <a:p/>
          <a:p>
            <a:r>
              <a:rPr lang="en-US" sz="1100"/>
              <a:t>Single person only</a:t>
            </a:r>
          </a:p>
          <a:p>
            <a:r>
              <a:rPr lang="en-US" sz="1100"/>
              <a:t>Requires physics sim in loop (slower)</a:t>
            </a:r>
          </a:p>
          <a:p>
            <a:r>
              <a:rPr lang="en-US" sz="1100"/>
              <a:t>Depends on GVHMR encoder quality</a:t>
            </a:r>
          </a:p>
          <a:p>
            <a:r>
              <a:rPr lang="en-US" sz="1100"/>
              <a:t>Flat ground only — no terrain/objects</a:t>
            </a:r>
          </a:p>
          <a:p/>
          <a:p>
            <a:r>
              <a:rPr lang="en-US" sz="1100"/>
              <a:t>Edge Cases</a:t>
            </a:r>
          </a:p>
          <a:p>
            <a:r>
              <a:rPr lang="en-US" sz="1100"/>
              <a:t>Monocular depth ambiguity:</a:t>
            </a:r>
          </a:p>
          <a:p>
            <a:r>
              <a:rPr lang="en-US" sz="1100"/>
              <a:t>  Multiple plausible motions for same 2D</a:t>
            </a:r>
          </a:p>
          <a:p>
            <a:r>
              <a:rPr lang="en-US" sz="1100"/>
              <a:t>  → e2e jointly reasons (advantage)</a:t>
            </a:r>
          </a:p>
          <a:p/>
          <a:p>
            <a:r>
              <a:rPr lang="en-US" sz="1100"/>
              <a:t>Root jitter: pixel-as-ray mitigates</a:t>
            </a:r>
          </a:p>
          <a:p>
            <a:r>
              <a:rPr lang="en-US" sz="1100"/>
              <a:t>  (soft reference, not hard target)</a:t>
            </a:r>
          </a:p>
          <a:p>
            <a:r>
              <a:rPr lang="en-US" sz="1100"/>
              <a:t>Extreme/acrobatic: unseen in RL training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PhysHMR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Architecture &amp;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926080" cy="13716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Video Encoder (from GVHMR)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Image feats, bboxes, 2D keypoints, camera rotations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188720"/>
            <a:ext cx="2926080" cy="13716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261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Pixel-As-Ray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5361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(u,v) + intrinsics K → 3D rays (soft global ref)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188720"/>
            <a:ext cx="2286000" cy="13716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Multi-task MLP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5361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Future root orientation from visual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188720"/>
            <a:ext cx="2286000" cy="13716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Local Motion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5361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SMPL joint rotations relative to parent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017520"/>
            <a:ext cx="5486400" cy="18288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906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Markov Decision Process (RL)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36499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State: pose + velocity</a:t>
            </a:r>
          </a:p>
          <a:p>
            <a:r>
              <a:rPr lang="en-US" sz="900"/>
              <a:t>Action: joint torques</a:t>
            </a:r>
          </a:p>
          <a:p>
            <a:r>
              <a:rPr lang="en-US" sz="900"/>
              <a:t>Reward: match visual 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017520"/>
            <a:ext cx="5486400" cy="182880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30906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Distillation from MoCap Expert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36499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1. Train imitation on mocap</a:t>
            </a:r>
          </a:p>
          <a:p>
            <a:r>
              <a:rPr lang="en-US" sz="900"/>
              <a:t>2. Distill into visual-to-action policy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Built on GVHMR encoder as visual frontend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PhysHMR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Architecture reference for our pipeline</a:t>
            </a:r>
          </a:p>
          <a:p/>
          <a:p>
            <a:r>
              <a:rPr lang="en-US" sz="1100"/>
              <a:t>Key design lesson:</a:t>
            </a:r>
          </a:p>
          <a:p>
            <a:r>
              <a:rPr lang="en-US" sz="1100"/>
              <a:t>  DO NOT bolt physics on as post-processing</a:t>
            </a:r>
          </a:p>
          <a:p>
            <a:r>
              <a:rPr lang="en-US" sz="1100"/>
              <a:t>  Physics must see visual evidence</a:t>
            </a:r>
          </a:p>
          <a:p/>
          <a:p>
            <a:r>
              <a:rPr lang="en-US" sz="1100"/>
              <a:t>Reusable patterns:</a:t>
            </a:r>
          </a:p>
          <a:p>
            <a:r>
              <a:rPr lang="en-US" sz="1100"/>
              <a:t>  Pixel-as-ray: noisy root → soft 3D rays</a:t>
            </a:r>
          </a:p>
          <a:p>
            <a:r>
              <a:rPr lang="en-US" sz="1100"/>
              <a:t>  Distillation: mocap expert → video policy</a:t>
            </a:r>
          </a:p>
          <a:p>
            <a:r>
              <a:rPr lang="en-US" sz="1100"/>
              <a:t>  End-to-end integration &gt; two-stage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What PhysHMR doesn't give us</a:t>
            </a:r>
          </a:p>
          <a:p/>
          <a:p>
            <a:r>
              <a:rPr lang="en-US" sz="1100"/>
              <a:t>  Multi-person support</a:t>
            </a:r>
          </a:p>
          <a:p>
            <a:r>
              <a:rPr lang="en-US" sz="1100"/>
              <a:t>  Scene-aware contact (terrain, objects)</a:t>
            </a:r>
          </a:p>
          <a:p>
            <a:r>
              <a:rPr lang="en-US" sz="1100"/>
              <a:t>  → these are our contributions</a:t>
            </a:r>
          </a:p>
          <a:p/>
          <a:p>
            <a:r>
              <a:rPr lang="en-US" sz="1100"/>
              <a:t>What we take from it</a:t>
            </a:r>
          </a:p>
          <a:p>
            <a:r>
              <a:rPr lang="en-US" sz="1100"/>
              <a:t>  End-to-end design principle</a:t>
            </a:r>
          </a:p>
          <a:p>
            <a:r>
              <a:rPr lang="en-US" sz="1100"/>
              <a:t>  Pixel-as-ray strategy</a:t>
            </a:r>
          </a:p>
          <a:p>
            <a:r>
              <a:rPr lang="en-US" sz="1100"/>
              <a:t>  Distillation training approach</a:t>
            </a:r>
          </a:p>
          <a:p>
            <a:r>
              <a:rPr lang="en-US" sz="1100"/>
              <a:t>  GVHMR as proven visual frontend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Validates end-to-end physics. Never post-process. Pixel-as-ray + distillation are reusable.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B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MultiPhys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Strengths &amp; Weaknesses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Why Good</a:t>
            </a:r>
          </a:p>
          <a:p/>
          <a:p>
            <a:r>
              <a:rPr lang="en-US" sz="1100"/>
              <a:t>First multi-person physics correction</a:t>
            </a:r>
          </a:p>
          <a:p>
            <a:r>
              <a:rPr lang="en-US" sz="1100"/>
              <a:t>7x less body-ground penetration</a:t>
            </a:r>
          </a:p>
          <a:p/>
          <a:p>
            <a:r>
              <a:rPr lang="en-US" sz="1100"/>
              <a:t>Each person: independent controller</a:t>
            </a:r>
          </a:p>
          <a:p>
            <a:r>
              <a:rPr lang="en-US" sz="1100"/>
              <a:t>  Shared physics world → auto collision</a:t>
            </a:r>
          </a:p>
          <a:p/>
          <a:p>
            <a:r>
              <a:rPr lang="en-US" sz="1100"/>
              <a:t>Agnostic to input tracker</a:t>
            </a:r>
          </a:p>
          <a:p>
            <a:r>
              <a:rPr lang="en-US" sz="1100"/>
              <a:t>  Plug in SLAHMR, GVHMR, anything</a:t>
            </a:r>
          </a:p>
          <a:p/>
          <a:p>
            <a:r>
              <a:rPr lang="en-US" sz="1100"/>
              <a:t>SDF penetration metric:</a:t>
            </a:r>
          </a:p>
          <a:p>
            <a:r>
              <a:rPr lang="en-US" sz="1100"/>
              <a:t>  Captures count AND depth of penetration</a:t>
            </a:r>
          </a:p>
          <a:p>
            <a:r>
              <a:rPr lang="en-US" sz="1100"/>
              <a:t>  (better than vertex counting alone)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Where It Fails</a:t>
            </a:r>
          </a:p>
          <a:p/>
          <a:p>
            <a:r>
              <a:rPr lang="en-US" sz="1100"/>
              <a:t>RL creates artifacts:</a:t>
            </a:r>
          </a:p>
          <a:p>
            <a:r>
              <a:rPr lang="en-US" sz="1100"/>
              <a:t>  Arm flailing for balance recovery</a:t>
            </a:r>
          </a:p>
          <a:p>
            <a:r>
              <a:rPr lang="en-US" sz="1100"/>
              <a:t>  Unnatural compensatory movements</a:t>
            </a:r>
          </a:p>
          <a:p/>
          <a:p>
            <a:r>
              <a:rPr lang="en-US" sz="1100"/>
              <a:t>Post-correction approach has limits</a:t>
            </a:r>
          </a:p>
          <a:p>
            <a:r>
              <a:rPr lang="en-US" sz="1100"/>
              <a:t>  (PhysHMR: 2.2x worse foot sliding)</a:t>
            </a:r>
          </a:p>
          <a:p/>
          <a:p>
            <a:r>
              <a:rPr lang="en-US" sz="1100"/>
              <a:t>Depends on input tracker quality</a:t>
            </a:r>
          </a:p>
          <a:p>
            <a:r>
              <a:rPr lang="en-US" sz="1100"/>
              <a:t>Flat ground only — no terrain</a:t>
            </a:r>
          </a:p>
          <a:p/>
          <a:p>
            <a:r>
              <a:rPr lang="en-US" sz="1100"/>
              <a:t>Edge Cases</a:t>
            </a:r>
          </a:p>
          <a:p>
            <a:r>
              <a:rPr lang="en-US" sz="1100"/>
              <a:t>Extreme poses: need Loop-N (repeat steps)</a:t>
            </a:r>
          </a:p>
          <a:p>
            <a:r>
              <a:rPr lang="en-US" sz="1100"/>
              <a:t>Input floating → ground slam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B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MultiPhys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Architecture &amp;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560320" cy="11887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1. Kinematic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Any body tracker (SLAHMR, GVHMR, etc.)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188720"/>
            <a:ext cx="2560320" cy="11887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261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2. Humanoid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536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Each person → articulated rigid body in sim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188720"/>
            <a:ext cx="2926080" cy="11887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261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3. Universal Humanoid</a:t>
            </a:r>
            <a:br/>
            <a:r>
              <a:t>   Controller (UHC)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5361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Input: state + target + shape → Output: joint torques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188720"/>
            <a:ext cx="2560320" cy="118872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261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4. Physics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5361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MuJoCo: collisions, ground, body-body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743200"/>
            <a:ext cx="11430000" cy="64008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5. Loop-N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0906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Repeat N times per frame for extreme poses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/>
              <a:t>UHC Details</a:t>
            </a:r>
          </a:p>
          <a:p/>
          <a:p>
            <a:r>
              <a:rPr lang="en-US" sz="1000"/>
              <a:t>Independent controller per person</a:t>
            </a:r>
          </a:p>
          <a:p>
            <a:r>
              <a:rPr lang="en-US" sz="1000"/>
              <a:t>Shared physics world → auto collision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/>
              <a:t>Input: SLAHMR</a:t>
            </a:r>
          </a:p>
          <a:p/>
          <a:p>
            <a:r>
              <a:rPr lang="en-US" sz="1000"/>
              <a:t>Camera + human 3D in world coords</a:t>
            </a:r>
          </a:p>
          <a:p>
            <a:r>
              <a:rPr lang="en-US" sz="1000"/>
              <a:t>Visually good but no physics</a:t>
            </a:r>
          </a:p>
          <a:p>
            <a:r>
              <a:rPr lang="en-US" sz="1000"/>
              <a:t>→ MultiPhys fixes sliding, floating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B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MultiPhys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We Use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Physics simulation reference</a:t>
            </a:r>
          </a:p>
          <a:p/>
          <a:p>
            <a:r>
              <a:rPr lang="en-US" sz="1100"/>
              <a:t>Reusable patterns:</a:t>
            </a:r>
          </a:p>
          <a:p>
            <a:r>
              <a:rPr lang="en-US" sz="1100"/>
              <a:t>  UHC: state + target → torques</a:t>
            </a:r>
          </a:p>
          <a:p>
            <a:r>
              <a:rPr lang="en-US" sz="1100"/>
              <a:t>  MuJoCo humanoid agent setup</a:t>
            </a:r>
          </a:p>
          <a:p>
            <a:r>
              <a:rPr lang="en-US" sz="1100"/>
              <a:t>  Multi-person collision handling</a:t>
            </a:r>
          </a:p>
          <a:p>
            <a:r>
              <a:rPr lang="en-US" sz="1100"/>
              <a:t>  SDF metric for evaluation</a:t>
            </a:r>
          </a:p>
          <a:p>
            <a:r>
              <a:rPr lang="en-US" sz="1100"/>
              <a:t>  Loop-N for extreme poses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ASICS application</a:t>
            </a:r>
          </a:p>
          <a:p/>
          <a:p>
            <a:r>
              <a:rPr lang="en-US" sz="1100"/>
              <a:t>Multi-person sports:</a:t>
            </a:r>
          </a:p>
          <a:p>
            <a:r>
              <a:rPr lang="en-US" sz="1100"/>
              <a:t>  Basketball: screens, post play</a:t>
            </a:r>
          </a:p>
          <a:p>
            <a:r>
              <a:rPr lang="en-US" sz="1100"/>
              <a:t>  Soccer: tackles, penalty box</a:t>
            </a:r>
          </a:p>
          <a:p>
            <a:r>
              <a:rPr lang="en-US" sz="1100"/>
              <a:t>  ACL injury: contact force analysis</a:t>
            </a:r>
          </a:p>
          <a:p/>
          <a:p>
            <a:r>
              <a:rPr lang="en-US" sz="1100"/>
              <a:t>Caveat:</a:t>
            </a:r>
          </a:p>
          <a:p>
            <a:r>
              <a:rPr lang="en-US" sz="1100"/>
              <a:t>  Post-correction has limits (PhysHMR)</a:t>
            </a:r>
          </a:p>
          <a:p>
            <a:r>
              <a:rPr lang="en-US" sz="1100"/>
              <a:t>  Consider end-to-end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Multi-person physics + SDF metrics. But prefer end-to-end over post-correction.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8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/>
              <a:t>GVHMR — Gravity-anchored, no drift, 280ms. Single-person only.</a:t>
            </a:r>
          </a:p>
          <a:p/>
          <a:p>
            <a:r>
              <a:rPr lang="en-US" sz="1200"/>
              <a:t>ZipMap — Linear-time 3D recon, 700 frames in 10s. No human modeling.</a:t>
            </a:r>
          </a:p>
          <a:p/>
          <a:p>
            <a:r>
              <a:rPr lang="en-US" sz="1200"/>
              <a:t>SAM-Body4D — Occlusion-robust via masklets. Diffusion can hallucinate.</a:t>
            </a:r>
          </a:p>
          <a:p/>
          <a:p>
            <a:r>
              <a:rPr lang="en-US" sz="1200"/>
              <a:t>PhysHMR — End-to-end physics beats post-correction 2.2x. Single-person.</a:t>
            </a:r>
          </a:p>
          <a:p/>
          <a:p>
            <a:r>
              <a:rPr lang="en-US" sz="1200"/>
              <a:t>MultiPhys — Multi-person physics, 7x less penetration. RL artifacts.</a:t>
            </a:r>
          </a:p>
          <a:p/>
          <a:p/>
          <a:p>
            <a:r>
              <a:rPr lang="en-US" sz="1200"/>
              <a:t>Common thread: vision proposes, physics refines.</a:t>
            </a:r>
          </a:p>
          <a:p>
            <a:r>
              <a:rPr lang="en-US" sz="1200"/>
              <a:t>Integration beats cascade. Scene geometry is the missing piece.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