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Optimization-Based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GVHMR + DA3 + L-BFGS energy minimization  •  Inspired by LEMO/PROX  •  6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Input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7"/>
                </a:solidFill>
                <a:latin typeface="Calibri"/>
              </a:defRPr>
            </a:pPr>
            <a:r>
              <a:t>GVHMR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Calibri"/>
              </a:defRPr>
            </a:pPr>
            <a:r>
              <a:t>SMPL poses + contacts</a:t>
            </a:r>
            <a:br/>
            <a:r>
              <a:t>in gravity-view coords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7"/>
                </a:solidFill>
                <a:latin typeface="Calibri"/>
              </a:defRPr>
            </a:pPr>
            <a:r>
              <a:t>DA3-Metric-Large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Calibri"/>
              </a:defRPr>
            </a:pPr>
            <a:r>
              <a:t>Metric point cloud</a:t>
            </a:r>
            <a:br/>
            <a:r>
              <a:t>+ camera poses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94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052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788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Scene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16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Calibri"/>
              </a:defRPr>
            </a:pPr>
            <a:r>
              <a:t>Ground plane (RANSAC)</a:t>
            </a:r>
            <a:br/>
            <a:r>
              <a:t>Collision mesh + SDF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B579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1188720"/>
            <a:ext cx="4297680" cy="4846320"/>
          </a:xfrm>
          <a:prstGeom prst="roundRect">
            <a:avLst>
              <a:gd name="adj" fmla="val 5000"/>
            </a:avLst>
          </a:prstGeom>
          <a:solidFill>
            <a:srgbClr val="F0F4FE"/>
          </a:solidFill>
          <a:ln w="25400"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1325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7"/>
                </a:solidFill>
                <a:latin typeface="Calibri"/>
              </a:defRPr>
            </a:pPr>
            <a:r>
              <a:t>Energy Minimization (L-BFGS)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Optimize Δθ (pose) + Δt (translation) per frame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2103120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7"/>
                </a:solidFill>
                <a:latin typeface="Calibri"/>
              </a:defRPr>
            </a:pPr>
            <a:r>
              <a:t>E_contact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Pin feet to surface during contact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0" y="2679192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2724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7"/>
                </a:solidFill>
                <a:latin typeface="Calibri"/>
              </a:defRPr>
            </a:pPr>
            <a:r>
              <a:t>E_penetration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24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SDF non-intersection with scene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3255264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33009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7"/>
                </a:solidFill>
                <a:latin typeface="Calibri"/>
              </a:defRPr>
            </a:pPr>
            <a:r>
              <a:t>E_friction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3009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No horizontal sliding during contact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0" y="3831336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38770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7"/>
                </a:solidFill>
                <a:latin typeface="Calibri"/>
              </a:defRPr>
            </a:pPr>
            <a:r>
              <a:t>E_smooth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8770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Temporal jerk penalty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4407408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4453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7"/>
                </a:solidFill>
                <a:latin typeface="Calibri"/>
              </a:defRPr>
            </a:pPr>
            <a:r>
              <a:t>E_stability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4531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CoM inside support polygon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0" y="4983480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7"/>
                </a:solidFill>
                <a:latin typeface="Calibri"/>
              </a:defRPr>
            </a:pPr>
            <a:r>
              <a:t>E_prior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029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VPoser body prior (stay near GVHMR)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08960" y="5650992"/>
            <a:ext cx="3931920" cy="4114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 w="12700">
            <a:solidFill>
              <a:srgbClr val="7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5696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1E1E"/>
                </a:solidFill>
                <a:latin typeface="Calibri"/>
              </a:defRPr>
            </a:pPr>
            <a:r>
              <a:t>MuJoCo Validation (forward sim → verify stability)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15544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16459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Foot sliding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B5797"/>
                </a:solidFill>
                <a:latin typeface="Calibri"/>
              </a:defRPr>
            </a:pPr>
            <a:r>
              <a:t>  3.0mm (GVHMR) → &lt; 1mm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Ground penetration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B5797"/>
                </a:solidFill>
                <a:latin typeface="Calibri"/>
              </a:defRPr>
            </a:pPr>
            <a:r>
              <a:t>  ~2-5mm → &lt; 1mm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PA-MPJPE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B5797"/>
                </a:solidFill>
                <a:latin typeface="Calibri"/>
              </a:defRPr>
            </a:pPr>
            <a:r>
              <a:t>  36.2mm → no degradation (&lt; 38mm)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6-Week Plan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3931920"/>
            <a:ext cx="40233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402336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1   Environment + GVHMR/DA3 baselines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2   Scene proxy + contact detection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2B5797"/>
                </a:solidFill>
                <a:latin typeface="Calibri"/>
              </a:defRPr>
            </a:pPr>
            <a:r>
              <a:t>Wk 3   Energy function + L-BFGS optimizer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4   MuJoCo validation + ablations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5   Eval: RICH, EMDB-2, 3DPW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6   Polish + report + CLI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Risk: loss weight tuning, coord alignment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1">
                <a:solidFill>
                  <a:srgbClr val="7B1E1E"/>
                </a:solidFill>
                <a:latin typeface="Calibri"/>
              </a:defRPr>
            </a:pPr>
            <a:r>
              <a:t>Strength: principled, tunable, full scene aware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Feed-Forward Geometric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GVHMR + DA3 + closed-form geometric ops  •  No iterative solver  •  4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Input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75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7D46"/>
                </a:solidFill>
                <a:latin typeface="Calibri"/>
              </a:defRPr>
            </a:pPr>
            <a:r>
              <a:t>GVHMR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13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Calibri"/>
              </a:defRPr>
            </a:pPr>
            <a:r>
              <a:t>SMPL poses + contacts</a:t>
            </a:r>
            <a:br/>
            <a:r>
              <a:t>in gravity-view coords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7D46"/>
                </a:solidFill>
                <a:latin typeface="Calibri"/>
              </a:defRPr>
            </a:pPr>
            <a:r>
              <a:t>DA3-Metric-Large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Calibri"/>
              </a:defRPr>
            </a:pPr>
            <a:r>
              <a:t>Ground plane</a:t>
            </a:r>
            <a:br/>
            <a:r>
              <a:t>(RANSAC on point cloud)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7D4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1188720"/>
            <a:ext cx="4297680" cy="4846320"/>
          </a:xfrm>
          <a:prstGeom prst="roundRect">
            <a:avLst>
              <a:gd name="adj" fmla="val 5000"/>
            </a:avLst>
          </a:prstGeom>
          <a:solidFill>
            <a:srgbClr val="EEF7EF"/>
          </a:solidFill>
          <a:ln w="254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1325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7D46"/>
                </a:solidFill>
                <a:latin typeface="Calibri"/>
              </a:defRPr>
            </a:pPr>
            <a:r>
              <a:t>Sequential Geometric Corrections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Each step: closed-form, O(1) per frame, no iteration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3154680" y="2194560"/>
            <a:ext cx="320040" cy="320040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1214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7D46"/>
                </a:solidFill>
                <a:latin typeface="Calibri"/>
              </a:defRPr>
            </a:pPr>
            <a:r>
              <a:t>Ground Snap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3591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Translate root so contact feet</a:t>
            </a:r>
            <a:br/>
            <a:r>
              <a:t>lie on ground 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Δt_y = plane − min(foot_y)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7D4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4" name="Oval 23"/>
          <p:cNvSpPr/>
          <p:nvPr/>
        </p:nvSpPr>
        <p:spPr>
          <a:xfrm>
            <a:off x="3154680" y="3063240"/>
            <a:ext cx="320040" cy="320040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990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7D46"/>
                </a:solidFill>
                <a:latin typeface="Calibri"/>
              </a:defRPr>
            </a:pPr>
            <a:r>
              <a:t>Penetration Resolve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Project sub-surface vertices</a:t>
            </a:r>
            <a:br/>
            <a:r>
              <a:t>along plane normal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108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O(V) per frame, V=6890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2968" y="3611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7D4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9" name="Oval 28"/>
          <p:cNvSpPr/>
          <p:nvPr/>
        </p:nvSpPr>
        <p:spPr>
          <a:xfrm>
            <a:off x="3154680" y="3931920"/>
            <a:ext cx="320040" cy="320040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8587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7D46"/>
                </a:solidFill>
                <a:latin typeface="Calibri"/>
              </a:defRPr>
            </a:pPr>
            <a:r>
              <a:t>Contact Freeze (IK)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0965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Analytical 2-joint IK keeps</a:t>
            </a:r>
            <a:br/>
            <a:r>
              <a:t>feet stationary during 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977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Closed-form leg chain solve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2968" y="4480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7D4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4" name="Oval 33"/>
          <p:cNvSpPr/>
          <p:nvPr/>
        </p:nvSpPr>
        <p:spPr>
          <a:xfrm>
            <a:off x="3154680" y="4800600"/>
            <a:ext cx="320040" cy="320040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727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7D46"/>
                </a:solidFill>
                <a:latin typeface="Calibri"/>
              </a:defRPr>
            </a:pPr>
            <a:r>
              <a:t>Temporal Smooth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651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Savitzky-Golay filter on</a:t>
            </a:r>
            <a:br/>
            <a:r>
              <a:t>joint angle trajectories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846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scipy, window=11, order=3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0" y="5760720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5806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7D46"/>
                </a:solidFill>
                <a:latin typeface="Calibri"/>
              </a:defRPr>
            </a:pPr>
            <a:r>
              <a:t>~1-2s / 1K frames  •  Deterministic  •  No hyperparameters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15544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16459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Foot sliding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D7D46"/>
                </a:solidFill>
                <a:latin typeface="Calibri"/>
              </a:defRPr>
            </a:pPr>
            <a:r>
              <a:t>  3.0mm (GVHMR) → &lt; 2mm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Ground penetration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D7D46"/>
                </a:solidFill>
                <a:latin typeface="Calibri"/>
              </a:defRPr>
            </a:pPr>
            <a:r>
              <a:t>  ~2-5mm → &lt; 1mm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PA-MPJPE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D7D46"/>
                </a:solidFill>
                <a:latin typeface="Calibri"/>
              </a:defRPr>
            </a:pPr>
            <a:r>
              <a:t>  36.2mm → no degradation (&lt; 37mm)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4-Week Plan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3931920"/>
            <a:ext cx="40233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02336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1   Environment + GVHMR/DA3 baselines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2D7D46"/>
                </a:solidFill>
                <a:latin typeface="Calibri"/>
              </a:defRPr>
            </a:pPr>
            <a:r>
              <a:t>Wk 2   Geometric corrections pipeline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3   Eval: RICH, EMDB-2, 3DPW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4   Multi-surface + edge cases + CLI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1000" b="1">
                <a:solidFill>
                  <a:srgbClr val="2D7D46"/>
                </a:solidFill>
                <a:latin typeface="Calibri"/>
              </a:defRPr>
            </a:pPr>
            <a:r>
              <a:t>Fastest to first results (2 weeks)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Establishes baseline for Option A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Risk: limited correction (ground only)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1">
                <a:solidFill>
                  <a:srgbClr val="7B1E1E"/>
                </a:solidFill>
                <a:latin typeface="Calibri"/>
              </a:defRPr>
            </a:pPr>
            <a:r>
              <a:t>Strength: simple, fast, debuggable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C4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Simulation-in-the-Loop (MuJoCo)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GVHMR + DA3 + MultiPhys-style MuJoCo forward simulation  •  5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Input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EF3E5"/>
          </a:solidFill>
          <a:ln w="19050">
            <a:solidFill>
              <a:srgbClr val="C4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75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6A10"/>
                </a:solidFill>
                <a:latin typeface="Calibri"/>
              </a:defRPr>
            </a:pPr>
            <a:r>
              <a:t>GVHMR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13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Calibri"/>
              </a:defRPr>
            </a:pPr>
            <a:r>
              <a:t>Reference motion</a:t>
            </a:r>
            <a:br/>
            <a:r>
              <a:t>(SMPL in world coords)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EF3E5"/>
          </a:solidFill>
          <a:ln w="19050">
            <a:solidFill>
              <a:srgbClr val="C4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6A10"/>
                </a:solidFill>
                <a:latin typeface="Calibri"/>
              </a:defRPr>
            </a:pPr>
            <a:r>
              <a:t>DA3-Metric-Large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Calibri"/>
              </a:defRPr>
            </a:pPr>
            <a:r>
              <a:t>Scene geometry</a:t>
            </a:r>
            <a:br/>
            <a:r>
              <a:t>→ MuJoCo collision bodies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6A1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1188720"/>
            <a:ext cx="4297680" cy="4846320"/>
          </a:xfrm>
          <a:prstGeom prst="roundRect">
            <a:avLst>
              <a:gd name="adj" fmla="val 5000"/>
            </a:avLst>
          </a:prstGeom>
          <a:solidFill>
            <a:srgbClr val="FEF7EE"/>
          </a:solidFill>
          <a:ln w="25400">
            <a:solidFill>
              <a:srgbClr val="C4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1325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6A10"/>
                </a:solidFill>
                <a:latin typeface="Calibri"/>
              </a:defRPr>
            </a:pPr>
            <a:r>
              <a:t>MuJoCo Forward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Based on MultiPhys (CVPR'24) — 7x less penetration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2103120"/>
            <a:ext cx="39319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148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6A10"/>
                </a:solidFill>
                <a:latin typeface="Calibri"/>
              </a:defRPr>
            </a:pPr>
            <a:r>
              <a:t>Scene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Ground plane → MuJoCo geom</a:t>
            </a:r>
            <a:br/>
            <a:r>
              <a:t>DA3 mesh → V-HACD → collision bodies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971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6A1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246120"/>
            <a:ext cx="39319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291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6A10"/>
                </a:solidFill>
                <a:latin typeface="Calibri"/>
              </a:defRPr>
            </a:pPr>
            <a:r>
              <a:t>Humanoid (SMPLSim)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520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SMPL params → MuJoCo XML (capsule body)</a:t>
            </a:r>
            <a:br/>
            <a:r>
              <a:t>PD controllers on each joint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114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6A1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0" y="438912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4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434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6A10"/>
                </a:solidFill>
                <a:latin typeface="Calibri"/>
              </a:defRPr>
            </a:pPr>
            <a:r>
              <a:t>Tracking Loop (per frame)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6634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Target: GVHMR pose at frame t</a:t>
            </a:r>
            <a:br/>
            <a:r>
              <a:t>PD controller + learned residual → torques</a:t>
            </a:r>
            <a:br/>
            <a:r>
              <a:t>MuJoCo steps physics (contacts, friction, gravity)</a:t>
            </a:r>
            <a:br/>
            <a:r>
              <a:t>Record: actual pose + contact forces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532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6A1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5806440"/>
            <a:ext cx="3931920" cy="4114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 w="12700">
            <a:solidFill>
              <a:srgbClr val="7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1E1E"/>
                </a:solidFill>
                <a:latin typeface="Calibri"/>
              </a:defRPr>
            </a:pPr>
            <a:r>
              <a:t>Physics-valid SMPL + contact forces + stability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15544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16459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Foot sliding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C46A10"/>
                </a:solidFill>
                <a:latin typeface="Calibri"/>
              </a:defRPr>
            </a:pPr>
            <a:r>
              <a:t>  3.0mm (GVHMR) → &lt; 2mm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Ground penetration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C46A10"/>
                </a:solidFill>
                <a:latin typeface="Calibri"/>
              </a:defRPr>
            </a:pPr>
            <a:r>
              <a:t>  ~2-5mm → &lt; 0.5mm (hard constraint)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Interpenetration (multi-person)</a:t>
            </a:r>
          </a:p>
          <a:p>
            <a:pPr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C46A10"/>
                </a:solidFill>
                <a:latin typeface="Calibri"/>
              </a:defRPr>
            </a:pPr>
            <a:r>
              <a:t>  7x reduction (MultiPhys published)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5-Week Plan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3931920"/>
            <a:ext cx="40233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402336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1   Env + MultiPhys demo running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C46A10"/>
                </a:solidFill>
                <a:latin typeface="Calibri"/>
              </a:defRPr>
            </a:pPr>
            <a:r>
              <a:t>Wk 2   DA3 scene → MuJoCo + first sim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3   Controller adaptation / fine-tune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4   Eval: RICH, EMDB-2, 3DPW, Hi4D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Wk 5   Long video + report + CLI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1000" b="1">
                <a:solidFill>
                  <a:srgbClr val="C46A10"/>
                </a:solidFill>
                <a:latin typeface="Calibri"/>
              </a:defRPr>
            </a:pPr>
            <a:r>
              <a:t>Native multi-person support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Full rigid-body dynamics (not heuristics)</a:t>
            </a:r>
          </a:p>
          <a:p>
            <a:pPr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Risk: controller domain gap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1">
                <a:solidFill>
                  <a:srgbClr val="7B1E1E"/>
                </a:solidFill>
                <a:latin typeface="Calibri"/>
              </a:defRPr>
            </a:pPr>
            <a:r>
              <a:t>Strength: real physics, contact forces free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